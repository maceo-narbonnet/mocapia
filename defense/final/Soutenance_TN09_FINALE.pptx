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ph0o0vNKCpERMEt1mIzS6qge/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2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mier page">
  <p:cSld name="premier pag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0" name="Google Shape;10;p19"/>
          <p:cNvSpPr/>
          <p:nvPr/>
        </p:nvSpPr>
        <p:spPr>
          <a:xfrm>
            <a:off x="88084" y="9349627"/>
            <a:ext cx="864416" cy="864416"/>
          </a:xfrm>
          <a:custGeom>
            <a:avLst/>
            <a:gdLst/>
            <a:ahLst/>
            <a:cxnLst/>
            <a:rect l="l" t="t" r="r" b="b"/>
            <a:pathLst>
              <a:path w="864416" h="864416" extrusionOk="0">
                <a:moveTo>
                  <a:pt x="0" y="0"/>
                </a:moveTo>
                <a:lnTo>
                  <a:pt x="864416" y="0"/>
                </a:lnTo>
                <a:lnTo>
                  <a:pt x="864416" y="864415"/>
                </a:lnTo>
                <a:lnTo>
                  <a:pt x="0" y="864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base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/>
        </p:nvSpPr>
        <p:spPr>
          <a:xfrm>
            <a:off x="7171300" y="9690862"/>
            <a:ext cx="3945399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Soutenance TN09 - MoCapIA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"/>
          <p:cNvGrpSpPr/>
          <p:nvPr/>
        </p:nvGrpSpPr>
        <p:grpSpPr>
          <a:xfrm>
            <a:off x="1028700" y="7446019"/>
            <a:ext cx="8544389" cy="1875980"/>
            <a:chOff x="0" y="-89731"/>
            <a:chExt cx="11392519" cy="2226988"/>
          </a:xfrm>
        </p:grpSpPr>
        <p:grpSp>
          <p:nvGrpSpPr>
            <p:cNvPr id="18" name="Google Shape;18;p1"/>
            <p:cNvGrpSpPr/>
            <p:nvPr/>
          </p:nvGrpSpPr>
          <p:grpSpPr>
            <a:xfrm>
              <a:off x="0" y="-89731"/>
              <a:ext cx="11392519" cy="2226988"/>
              <a:chOff x="0" y="-19050"/>
              <a:chExt cx="2418657" cy="472794"/>
            </a:xfrm>
          </p:grpSpPr>
          <p:sp>
            <p:nvSpPr>
              <p:cNvPr id="19" name="Google Shape;19;p1"/>
              <p:cNvSpPr/>
              <p:nvPr/>
            </p:nvSpPr>
            <p:spPr>
              <a:xfrm>
                <a:off x="0" y="0"/>
                <a:ext cx="2418657" cy="453744"/>
              </a:xfrm>
              <a:custGeom>
                <a:avLst/>
                <a:gdLst/>
                <a:ahLst/>
                <a:cxnLst/>
                <a:rect l="l" t="t" r="r" b="b"/>
                <a:pathLst>
                  <a:path w="2418657" h="453744" extrusionOk="0">
                    <a:moveTo>
                      <a:pt x="9006" y="0"/>
                    </a:moveTo>
                    <a:lnTo>
                      <a:pt x="2409651" y="0"/>
                    </a:lnTo>
                    <a:cubicBezTo>
                      <a:pt x="2412040" y="0"/>
                      <a:pt x="2414330" y="949"/>
                      <a:pt x="2416019" y="2638"/>
                    </a:cubicBezTo>
                    <a:cubicBezTo>
                      <a:pt x="2417708" y="4327"/>
                      <a:pt x="2418657" y="6617"/>
                      <a:pt x="2418657" y="9006"/>
                    </a:cubicBezTo>
                    <a:lnTo>
                      <a:pt x="2418657" y="444738"/>
                    </a:lnTo>
                    <a:cubicBezTo>
                      <a:pt x="2418657" y="449712"/>
                      <a:pt x="2414625" y="453744"/>
                      <a:pt x="2409651" y="453744"/>
                    </a:cubicBezTo>
                    <a:lnTo>
                      <a:pt x="9006" y="453744"/>
                    </a:lnTo>
                    <a:cubicBezTo>
                      <a:pt x="6617" y="453744"/>
                      <a:pt x="4327" y="452795"/>
                      <a:pt x="2638" y="451107"/>
                    </a:cubicBezTo>
                    <a:cubicBezTo>
                      <a:pt x="949" y="449418"/>
                      <a:pt x="0" y="447127"/>
                      <a:pt x="0" y="444738"/>
                    </a:cubicBezTo>
                    <a:lnTo>
                      <a:pt x="0" y="9006"/>
                    </a:lnTo>
                    <a:cubicBezTo>
                      <a:pt x="0" y="6617"/>
                      <a:pt x="949" y="4327"/>
                      <a:pt x="2638" y="2638"/>
                    </a:cubicBezTo>
                    <a:cubicBezTo>
                      <a:pt x="4327" y="949"/>
                      <a:pt x="6617" y="0"/>
                      <a:pt x="900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4B3F"/>
                  </a:gs>
                  <a:gs pos="100000">
                    <a:srgbClr val="F0945B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1"/>
              <p:cNvSpPr txBox="1"/>
              <p:nvPr/>
            </p:nvSpPr>
            <p:spPr>
              <a:xfrm>
                <a:off x="0" y="-19050"/>
                <a:ext cx="2418657" cy="472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550" tIns="34550" rIns="34550" bIns="345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64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" name="Google Shape;21;p1"/>
            <p:cNvSpPr txBox="1"/>
            <p:nvPr/>
          </p:nvSpPr>
          <p:spPr>
            <a:xfrm>
              <a:off x="132595" y="93903"/>
              <a:ext cx="10911353" cy="193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 b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ÉQUIPE BIOMOV-E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85" b="1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 b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Laboratoire de recherche BMBI</a:t>
              </a:r>
              <a:endParaRPr/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 b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Compiègne 60200, Centre d’Innovation</a:t>
              </a:r>
              <a:endParaRPr/>
            </a:p>
          </p:txBody>
        </p:sp>
      </p:grpSp>
      <p:grpSp>
        <p:nvGrpSpPr>
          <p:cNvPr id="22" name="Google Shape;22;p1"/>
          <p:cNvGrpSpPr/>
          <p:nvPr/>
        </p:nvGrpSpPr>
        <p:grpSpPr>
          <a:xfrm>
            <a:off x="9144000" y="7446019"/>
            <a:ext cx="8115300" cy="1875980"/>
            <a:chOff x="0" y="-89731"/>
            <a:chExt cx="10820400" cy="2226988"/>
          </a:xfrm>
        </p:grpSpPr>
        <p:grpSp>
          <p:nvGrpSpPr>
            <p:cNvPr id="23" name="Google Shape;23;p1"/>
            <p:cNvGrpSpPr/>
            <p:nvPr/>
          </p:nvGrpSpPr>
          <p:grpSpPr>
            <a:xfrm>
              <a:off x="0" y="-89731"/>
              <a:ext cx="10820400" cy="2226988"/>
              <a:chOff x="0" y="-19050"/>
              <a:chExt cx="2297195" cy="472794"/>
            </a:xfrm>
          </p:grpSpPr>
          <p:sp>
            <p:nvSpPr>
              <p:cNvPr id="24" name="Google Shape;24;p1"/>
              <p:cNvSpPr/>
              <p:nvPr/>
            </p:nvSpPr>
            <p:spPr>
              <a:xfrm>
                <a:off x="0" y="0"/>
                <a:ext cx="2297195" cy="453744"/>
              </a:xfrm>
              <a:custGeom>
                <a:avLst/>
                <a:gdLst/>
                <a:ahLst/>
                <a:cxnLst/>
                <a:rect l="l" t="t" r="r" b="b"/>
                <a:pathLst>
                  <a:path w="2297195" h="453744" extrusionOk="0">
                    <a:moveTo>
                      <a:pt x="9482" y="0"/>
                    </a:moveTo>
                    <a:lnTo>
                      <a:pt x="2287713" y="0"/>
                    </a:lnTo>
                    <a:cubicBezTo>
                      <a:pt x="2292950" y="0"/>
                      <a:pt x="2297195" y="4245"/>
                      <a:pt x="2297195" y="9482"/>
                    </a:cubicBezTo>
                    <a:lnTo>
                      <a:pt x="2297195" y="444262"/>
                    </a:lnTo>
                    <a:cubicBezTo>
                      <a:pt x="2297195" y="446777"/>
                      <a:pt x="2296196" y="449189"/>
                      <a:pt x="2294418" y="450967"/>
                    </a:cubicBezTo>
                    <a:cubicBezTo>
                      <a:pt x="2292640" y="452745"/>
                      <a:pt x="2290228" y="453744"/>
                      <a:pt x="2287713" y="453744"/>
                    </a:cubicBezTo>
                    <a:lnTo>
                      <a:pt x="9482" y="453744"/>
                    </a:lnTo>
                    <a:cubicBezTo>
                      <a:pt x="6967" y="453744"/>
                      <a:pt x="4555" y="452745"/>
                      <a:pt x="2777" y="450967"/>
                    </a:cubicBezTo>
                    <a:cubicBezTo>
                      <a:pt x="999" y="449189"/>
                      <a:pt x="0" y="446777"/>
                      <a:pt x="0" y="444262"/>
                    </a:cubicBezTo>
                    <a:lnTo>
                      <a:pt x="0" y="9482"/>
                    </a:lnTo>
                    <a:cubicBezTo>
                      <a:pt x="0" y="6967"/>
                      <a:pt x="999" y="4555"/>
                      <a:pt x="2777" y="2777"/>
                    </a:cubicBezTo>
                    <a:cubicBezTo>
                      <a:pt x="4555" y="999"/>
                      <a:pt x="6967" y="0"/>
                      <a:pt x="948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905A"/>
                  </a:gs>
                  <a:gs pos="100000">
                    <a:srgbClr val="EB4C3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1"/>
              <p:cNvSpPr txBox="1"/>
              <p:nvPr/>
            </p:nvSpPr>
            <p:spPr>
              <a:xfrm>
                <a:off x="0" y="-19050"/>
                <a:ext cx="2297195" cy="4727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4550" tIns="34550" rIns="34550" bIns="34550" anchor="ctr" anchorCtr="0">
                <a:noAutofit/>
              </a:bodyPr>
              <a:lstStyle/>
              <a:p>
                <a:pPr marL="0" marR="0" lvl="0" indent="0" algn="r" rtl="0">
                  <a:lnSpc>
                    <a:spcPct val="64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" name="Google Shape;26;p1"/>
            <p:cNvSpPr txBox="1"/>
            <p:nvPr/>
          </p:nvSpPr>
          <p:spPr>
            <a:xfrm>
              <a:off x="125936" y="93903"/>
              <a:ext cx="10363398" cy="193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 b="1" dirty="0" err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Suiveur</a:t>
              </a:r>
              <a:r>
                <a:rPr lang="en-US" sz="2385" b="1" dirty="0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 de stage : M. </a:t>
              </a:r>
              <a:r>
                <a:rPr lang="en-US" sz="2385" b="1" dirty="0" err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Trigano</a:t>
              </a:r>
              <a:endParaRPr dirty="0"/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85" b="1" dirty="0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385" b="1" dirty="0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5" b="1" dirty="0" err="1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Tuteur</a:t>
              </a:r>
              <a:r>
                <a:rPr lang="en-US" sz="2385" b="1" dirty="0">
                  <a:solidFill>
                    <a:srgbClr val="FBFBF9"/>
                  </a:solidFill>
                  <a:latin typeface="Arial"/>
                  <a:ea typeface="Arial"/>
                  <a:cs typeface="Arial"/>
                  <a:sym typeface="Arial"/>
                </a:rPr>
                <a:t> de stage : M. Ben Mansour</a:t>
              </a:r>
              <a:endParaRPr dirty="0"/>
            </a:p>
          </p:txBody>
        </p:sp>
      </p:grpSp>
      <p:sp>
        <p:nvSpPr>
          <p:cNvPr id="27" name="Google Shape;27;p1"/>
          <p:cNvSpPr/>
          <p:nvPr/>
        </p:nvSpPr>
        <p:spPr>
          <a:xfrm>
            <a:off x="88084" y="9349627"/>
            <a:ext cx="864416" cy="864416"/>
          </a:xfrm>
          <a:custGeom>
            <a:avLst/>
            <a:gdLst/>
            <a:ahLst/>
            <a:cxnLst/>
            <a:rect l="l" t="t" r="r" b="b"/>
            <a:pathLst>
              <a:path w="864416" h="864416" extrusionOk="0">
                <a:moveTo>
                  <a:pt x="0" y="0"/>
                </a:moveTo>
                <a:lnTo>
                  <a:pt x="864416" y="0"/>
                </a:lnTo>
                <a:lnTo>
                  <a:pt x="864416" y="864415"/>
                </a:lnTo>
                <a:lnTo>
                  <a:pt x="0" y="864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" name="Google Shape;28;p1"/>
          <p:cNvSpPr txBox="1"/>
          <p:nvPr/>
        </p:nvSpPr>
        <p:spPr>
          <a:xfrm>
            <a:off x="1118386" y="1066950"/>
            <a:ext cx="478917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Macéo Narbonnet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8386" y="3108716"/>
            <a:ext cx="16140914" cy="88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99" b="1">
                <a:solidFill>
                  <a:srgbClr val="231076"/>
                </a:solidFill>
                <a:latin typeface="Ultra"/>
                <a:ea typeface="Ultra"/>
                <a:cs typeface="Ultra"/>
                <a:sym typeface="Ultra"/>
              </a:rPr>
              <a:t>SOUTENANCE DE STAGE TN09 - MoCapIA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14506933" y="1066950"/>
            <a:ext cx="2752367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26/02/2026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1028700" y="5037785"/>
            <a:ext cx="16230600" cy="211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Amélioration d’une solution de capture du mouvement par IA sans marqueurs</a:t>
            </a:r>
            <a:endParaRPr/>
          </a:p>
          <a:p>
            <a:pPr marL="0" marR="0" lvl="0" indent="0" algn="ctr" rtl="0">
              <a:lnSpc>
                <a:spcPct val="15553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"/>
          <p:cNvGrpSpPr/>
          <p:nvPr/>
        </p:nvGrpSpPr>
        <p:grpSpPr>
          <a:xfrm>
            <a:off x="617164" y="1665741"/>
            <a:ext cx="6126299" cy="1068469"/>
            <a:chOff x="0" y="-57150"/>
            <a:chExt cx="1613511" cy="281407"/>
          </a:xfrm>
        </p:grpSpPr>
        <p:sp>
          <p:nvSpPr>
            <p:cNvPr id="38" name="Google Shape;38;p2"/>
            <p:cNvSpPr/>
            <p:nvPr/>
          </p:nvSpPr>
          <p:spPr>
            <a:xfrm>
              <a:off x="0" y="0"/>
              <a:ext cx="1613511" cy="224257"/>
            </a:xfrm>
            <a:custGeom>
              <a:avLst/>
              <a:gdLst/>
              <a:ahLst/>
              <a:cxnLst/>
              <a:rect l="l" t="t" r="r" b="b"/>
              <a:pathLst>
                <a:path w="1613511" h="224257" extrusionOk="0">
                  <a:moveTo>
                    <a:pt x="12637" y="0"/>
                  </a:moveTo>
                  <a:lnTo>
                    <a:pt x="1600874" y="0"/>
                  </a:lnTo>
                  <a:cubicBezTo>
                    <a:pt x="1607853" y="0"/>
                    <a:pt x="1613511" y="5658"/>
                    <a:pt x="1613511" y="12637"/>
                  </a:cubicBezTo>
                  <a:lnTo>
                    <a:pt x="1613511" y="211620"/>
                  </a:lnTo>
                  <a:cubicBezTo>
                    <a:pt x="1613511" y="218599"/>
                    <a:pt x="1607853" y="224257"/>
                    <a:pt x="1600874" y="224257"/>
                  </a:cubicBezTo>
                  <a:lnTo>
                    <a:pt x="12637" y="224257"/>
                  </a:lnTo>
                  <a:cubicBezTo>
                    <a:pt x="5658" y="224257"/>
                    <a:pt x="0" y="218599"/>
                    <a:pt x="0" y="211620"/>
                  </a:cubicBezTo>
                  <a:lnTo>
                    <a:pt x="0" y="12637"/>
                  </a:lnTo>
                  <a:cubicBezTo>
                    <a:pt x="0" y="5658"/>
                    <a:pt x="5658" y="0"/>
                    <a:pt x="12637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 txBox="1"/>
            <p:nvPr/>
          </p:nvSpPr>
          <p:spPr>
            <a:xfrm>
              <a:off x="0" y="-57150"/>
              <a:ext cx="1613511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THÉMATIQUE DE L’EQUIPE BIOMOV-E</a:t>
              </a:r>
              <a:endParaRPr/>
            </a:p>
          </p:txBody>
        </p:sp>
      </p:grpSp>
      <p:cxnSp>
        <p:nvCxnSpPr>
          <p:cNvPr id="40" name="Google Shape;40;p2"/>
          <p:cNvCxnSpPr/>
          <p:nvPr/>
        </p:nvCxnSpPr>
        <p:spPr>
          <a:xfrm>
            <a:off x="7501046" y="1321004"/>
            <a:ext cx="0" cy="8092326"/>
          </a:xfrm>
          <a:prstGeom prst="straightConnector1">
            <a:avLst/>
          </a:prstGeom>
          <a:noFill/>
          <a:ln w="38100" cap="flat" cmpd="sng">
            <a:solidFill>
              <a:srgbClr val="2310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2"/>
          <p:cNvCxnSpPr/>
          <p:nvPr/>
        </p:nvCxnSpPr>
        <p:spPr>
          <a:xfrm>
            <a:off x="8644837" y="2497751"/>
            <a:ext cx="8092326" cy="0"/>
          </a:xfrm>
          <a:prstGeom prst="straightConnector1">
            <a:avLst/>
          </a:prstGeom>
          <a:noFill/>
          <a:ln w="38100" cap="flat" cmpd="sng">
            <a:solidFill>
              <a:srgbClr val="23107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" name="Google Shape;42;p2"/>
          <p:cNvGrpSpPr/>
          <p:nvPr/>
        </p:nvGrpSpPr>
        <p:grpSpPr>
          <a:xfrm>
            <a:off x="8263046" y="788352"/>
            <a:ext cx="8996254" cy="4033737"/>
            <a:chOff x="0" y="0"/>
            <a:chExt cx="2369384" cy="1062383"/>
          </a:xfrm>
        </p:grpSpPr>
        <p:sp>
          <p:nvSpPr>
            <p:cNvPr id="43" name="Google Shape;43;p2"/>
            <p:cNvSpPr/>
            <p:nvPr/>
          </p:nvSpPr>
          <p:spPr>
            <a:xfrm>
              <a:off x="0" y="0"/>
              <a:ext cx="2369384" cy="1062383"/>
            </a:xfrm>
            <a:custGeom>
              <a:avLst/>
              <a:gdLst/>
              <a:ahLst/>
              <a:cxnLst/>
              <a:rect l="l" t="t" r="r" b="b"/>
              <a:pathLst>
                <a:path w="2369384" h="1062383" extrusionOk="0">
                  <a:moveTo>
                    <a:pt x="43889" y="0"/>
                  </a:moveTo>
                  <a:lnTo>
                    <a:pt x="2325494" y="0"/>
                  </a:lnTo>
                  <a:cubicBezTo>
                    <a:pt x="2349734" y="0"/>
                    <a:pt x="2369384" y="19650"/>
                    <a:pt x="2369384" y="43889"/>
                  </a:cubicBezTo>
                  <a:lnTo>
                    <a:pt x="2369384" y="1018494"/>
                  </a:lnTo>
                  <a:cubicBezTo>
                    <a:pt x="2369384" y="1042734"/>
                    <a:pt x="2349734" y="1062383"/>
                    <a:pt x="2325494" y="1062383"/>
                  </a:cubicBezTo>
                  <a:lnTo>
                    <a:pt x="43889" y="1062383"/>
                  </a:lnTo>
                  <a:cubicBezTo>
                    <a:pt x="19650" y="1062383"/>
                    <a:pt x="0" y="1042734"/>
                    <a:pt x="0" y="1018494"/>
                  </a:cubicBezTo>
                  <a:lnTo>
                    <a:pt x="0" y="43889"/>
                  </a:lnTo>
                  <a:cubicBezTo>
                    <a:pt x="0" y="19650"/>
                    <a:pt x="19650" y="0"/>
                    <a:pt x="43889" y="0"/>
                  </a:cubicBezTo>
                  <a:close/>
                </a:path>
              </a:pathLst>
            </a:custGeom>
            <a:noFill/>
            <a:ln w="95250" cap="rnd" cmpd="sng">
              <a:solidFill>
                <a:srgbClr val="23107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 txBox="1"/>
            <p:nvPr/>
          </p:nvSpPr>
          <p:spPr>
            <a:xfrm>
              <a:off x="0" y="0"/>
              <a:ext cx="2369384" cy="1062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2"/>
          <p:cNvSpPr/>
          <p:nvPr/>
        </p:nvSpPr>
        <p:spPr>
          <a:xfrm>
            <a:off x="13699217" y="85090"/>
            <a:ext cx="4500699" cy="3141822"/>
          </a:xfrm>
          <a:custGeom>
            <a:avLst/>
            <a:gdLst/>
            <a:ahLst/>
            <a:cxnLst/>
            <a:rect l="l" t="t" r="r" b="b"/>
            <a:pathLst>
              <a:path w="4171789" h="2914335" extrusionOk="0">
                <a:moveTo>
                  <a:pt x="0" y="0"/>
                </a:moveTo>
                <a:lnTo>
                  <a:pt x="4171789" y="0"/>
                </a:lnTo>
                <a:lnTo>
                  <a:pt x="4171789" y="2914334"/>
                </a:lnTo>
                <a:lnTo>
                  <a:pt x="0" y="2914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6" name="Google Shape;46;p2"/>
          <p:cNvGrpSpPr/>
          <p:nvPr/>
        </p:nvGrpSpPr>
        <p:grpSpPr>
          <a:xfrm>
            <a:off x="8263046" y="5143500"/>
            <a:ext cx="8996254" cy="4033737"/>
            <a:chOff x="0" y="0"/>
            <a:chExt cx="2369384" cy="1062383"/>
          </a:xfrm>
        </p:grpSpPr>
        <p:sp>
          <p:nvSpPr>
            <p:cNvPr id="47" name="Google Shape;47;p2"/>
            <p:cNvSpPr/>
            <p:nvPr/>
          </p:nvSpPr>
          <p:spPr>
            <a:xfrm>
              <a:off x="0" y="0"/>
              <a:ext cx="2369384" cy="1062383"/>
            </a:xfrm>
            <a:custGeom>
              <a:avLst/>
              <a:gdLst/>
              <a:ahLst/>
              <a:cxnLst/>
              <a:rect l="l" t="t" r="r" b="b"/>
              <a:pathLst>
                <a:path w="2369384" h="1062383" extrusionOk="0">
                  <a:moveTo>
                    <a:pt x="43889" y="0"/>
                  </a:moveTo>
                  <a:lnTo>
                    <a:pt x="2325494" y="0"/>
                  </a:lnTo>
                  <a:cubicBezTo>
                    <a:pt x="2349734" y="0"/>
                    <a:pt x="2369384" y="19650"/>
                    <a:pt x="2369384" y="43889"/>
                  </a:cubicBezTo>
                  <a:lnTo>
                    <a:pt x="2369384" y="1018494"/>
                  </a:lnTo>
                  <a:cubicBezTo>
                    <a:pt x="2369384" y="1042734"/>
                    <a:pt x="2349734" y="1062383"/>
                    <a:pt x="2325494" y="1062383"/>
                  </a:cubicBezTo>
                  <a:lnTo>
                    <a:pt x="43889" y="1062383"/>
                  </a:lnTo>
                  <a:cubicBezTo>
                    <a:pt x="19650" y="1062383"/>
                    <a:pt x="0" y="1042734"/>
                    <a:pt x="0" y="1018494"/>
                  </a:cubicBezTo>
                  <a:lnTo>
                    <a:pt x="0" y="43889"/>
                  </a:lnTo>
                  <a:cubicBezTo>
                    <a:pt x="0" y="19650"/>
                    <a:pt x="19650" y="0"/>
                    <a:pt x="43889" y="0"/>
                  </a:cubicBezTo>
                  <a:close/>
                </a:path>
              </a:pathLst>
            </a:custGeom>
            <a:noFill/>
            <a:ln w="95250" cap="rnd" cmpd="sng">
              <a:solidFill>
                <a:srgbClr val="EB4B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 txBox="1"/>
            <p:nvPr/>
          </p:nvSpPr>
          <p:spPr>
            <a:xfrm>
              <a:off x="0" y="0"/>
              <a:ext cx="2369384" cy="1062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" name="Google Shape;49;p2"/>
          <p:cNvCxnSpPr/>
          <p:nvPr/>
        </p:nvCxnSpPr>
        <p:spPr>
          <a:xfrm>
            <a:off x="8644837" y="6866154"/>
            <a:ext cx="8092326" cy="0"/>
          </a:xfrm>
          <a:prstGeom prst="straightConnector1">
            <a:avLst/>
          </a:prstGeom>
          <a:noFill/>
          <a:ln w="38100" cap="flat" cmpd="sng">
            <a:solidFill>
              <a:srgbClr val="EB4B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2"/>
          <p:cNvSpPr/>
          <p:nvPr/>
        </p:nvSpPr>
        <p:spPr>
          <a:xfrm>
            <a:off x="8720246" y="3362859"/>
            <a:ext cx="1017460" cy="1017460"/>
          </a:xfrm>
          <a:custGeom>
            <a:avLst/>
            <a:gdLst/>
            <a:ahLst/>
            <a:cxnLst/>
            <a:rect l="l" t="t" r="r" b="b"/>
            <a:pathLst>
              <a:path w="1017460" h="1017460" extrusionOk="0">
                <a:moveTo>
                  <a:pt x="0" y="0"/>
                </a:moveTo>
                <a:lnTo>
                  <a:pt x="1017460" y="0"/>
                </a:lnTo>
                <a:lnTo>
                  <a:pt x="1017460" y="1017460"/>
                </a:lnTo>
                <a:lnTo>
                  <a:pt x="0" y="1017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" name="Google Shape;51;p2"/>
          <p:cNvSpPr/>
          <p:nvPr/>
        </p:nvSpPr>
        <p:spPr>
          <a:xfrm>
            <a:off x="13344988" y="7562938"/>
            <a:ext cx="1030576" cy="1017460"/>
          </a:xfrm>
          <a:custGeom>
            <a:avLst/>
            <a:gdLst/>
            <a:ahLst/>
            <a:cxnLst/>
            <a:rect l="l" t="t" r="r" b="b"/>
            <a:pathLst>
              <a:path w="1030576" h="1017460" extrusionOk="0">
                <a:moveTo>
                  <a:pt x="0" y="0"/>
                </a:moveTo>
                <a:lnTo>
                  <a:pt x="1030576" y="0"/>
                </a:lnTo>
                <a:lnTo>
                  <a:pt x="1030576" y="1017459"/>
                </a:lnTo>
                <a:lnTo>
                  <a:pt x="0" y="1017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2"/>
          <p:cNvSpPr/>
          <p:nvPr/>
        </p:nvSpPr>
        <p:spPr>
          <a:xfrm>
            <a:off x="8720246" y="7786690"/>
            <a:ext cx="1017460" cy="1017460"/>
          </a:xfrm>
          <a:custGeom>
            <a:avLst/>
            <a:gdLst/>
            <a:ahLst/>
            <a:cxnLst/>
            <a:rect l="l" t="t" r="r" b="b"/>
            <a:pathLst>
              <a:path w="1017460" h="1017460" extrusionOk="0">
                <a:moveTo>
                  <a:pt x="0" y="0"/>
                </a:moveTo>
                <a:lnTo>
                  <a:pt x="1017460" y="0"/>
                </a:lnTo>
                <a:lnTo>
                  <a:pt x="1017460" y="1017459"/>
                </a:lnTo>
                <a:lnTo>
                  <a:pt x="0" y="1017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2"/>
          <p:cNvSpPr/>
          <p:nvPr/>
        </p:nvSpPr>
        <p:spPr>
          <a:xfrm rot="5400000">
            <a:off x="7154421" y="4623192"/>
            <a:ext cx="1668246" cy="549004"/>
          </a:xfrm>
          <a:custGeom>
            <a:avLst/>
            <a:gdLst/>
            <a:ahLst/>
            <a:cxnLst/>
            <a:rect l="l" t="t" r="r" b="b"/>
            <a:pathLst>
              <a:path w="1668246" h="549004" extrusionOk="0">
                <a:moveTo>
                  <a:pt x="0" y="0"/>
                </a:moveTo>
                <a:lnTo>
                  <a:pt x="1668246" y="0"/>
                </a:lnTo>
                <a:lnTo>
                  <a:pt x="1668246" y="549004"/>
                </a:lnTo>
                <a:lnTo>
                  <a:pt x="0" y="549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" name="Google Shape;54;p2"/>
          <p:cNvSpPr/>
          <p:nvPr/>
        </p:nvSpPr>
        <p:spPr>
          <a:xfrm>
            <a:off x="617164" y="7604751"/>
            <a:ext cx="821112" cy="1035474"/>
          </a:xfrm>
          <a:custGeom>
            <a:avLst/>
            <a:gdLst/>
            <a:ahLst/>
            <a:cxnLst/>
            <a:rect l="l" t="t" r="r" b="b"/>
            <a:pathLst>
              <a:path w="821112" h="1035474" extrusionOk="0">
                <a:moveTo>
                  <a:pt x="0" y="0"/>
                </a:moveTo>
                <a:lnTo>
                  <a:pt x="821112" y="0"/>
                </a:lnTo>
                <a:lnTo>
                  <a:pt x="821112" y="1035474"/>
                </a:lnTo>
                <a:lnTo>
                  <a:pt x="0" y="1035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21292"/>
            </a:stretch>
          </a:blipFill>
          <a:ln>
            <a:noFill/>
          </a:ln>
        </p:spPr>
      </p:sp>
      <p:sp>
        <p:nvSpPr>
          <p:cNvPr id="55" name="Google Shape;55;p2"/>
          <p:cNvSpPr/>
          <p:nvPr/>
        </p:nvSpPr>
        <p:spPr>
          <a:xfrm>
            <a:off x="3121278" y="7553931"/>
            <a:ext cx="1143595" cy="1035474"/>
          </a:xfrm>
          <a:custGeom>
            <a:avLst/>
            <a:gdLst/>
            <a:ahLst/>
            <a:cxnLst/>
            <a:rect l="l" t="t" r="r" b="b"/>
            <a:pathLst>
              <a:path w="1143595" h="1035474" extrusionOk="0">
                <a:moveTo>
                  <a:pt x="0" y="0"/>
                </a:moveTo>
                <a:lnTo>
                  <a:pt x="1143595" y="0"/>
                </a:lnTo>
                <a:lnTo>
                  <a:pt x="1143595" y="1035474"/>
                </a:lnTo>
                <a:lnTo>
                  <a:pt x="0" y="1035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2"/>
          <p:cNvSpPr/>
          <p:nvPr/>
        </p:nvSpPr>
        <p:spPr>
          <a:xfrm>
            <a:off x="5960269" y="7553931"/>
            <a:ext cx="783195" cy="1035474"/>
          </a:xfrm>
          <a:custGeom>
            <a:avLst/>
            <a:gdLst/>
            <a:ahLst/>
            <a:cxnLst/>
            <a:rect l="l" t="t" r="r" b="b"/>
            <a:pathLst>
              <a:path w="783195" h="1035474" extrusionOk="0">
                <a:moveTo>
                  <a:pt x="0" y="0"/>
                </a:moveTo>
                <a:lnTo>
                  <a:pt x="783194" y="0"/>
                </a:lnTo>
                <a:lnTo>
                  <a:pt x="783194" y="1035474"/>
                </a:lnTo>
                <a:lnTo>
                  <a:pt x="0" y="1035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7" name="Google Shape;57;p2"/>
          <p:cNvGrpSpPr/>
          <p:nvPr/>
        </p:nvGrpSpPr>
        <p:grpSpPr>
          <a:xfrm>
            <a:off x="612747" y="6249369"/>
            <a:ext cx="6126299" cy="1068469"/>
            <a:chOff x="0" y="-57150"/>
            <a:chExt cx="1613511" cy="281407"/>
          </a:xfrm>
        </p:grpSpPr>
        <p:sp>
          <p:nvSpPr>
            <p:cNvPr id="58" name="Google Shape;58;p2"/>
            <p:cNvSpPr/>
            <p:nvPr/>
          </p:nvSpPr>
          <p:spPr>
            <a:xfrm>
              <a:off x="0" y="0"/>
              <a:ext cx="1613511" cy="224257"/>
            </a:xfrm>
            <a:custGeom>
              <a:avLst/>
              <a:gdLst/>
              <a:ahLst/>
              <a:cxnLst/>
              <a:rect l="l" t="t" r="r" b="b"/>
              <a:pathLst>
                <a:path w="1613511" h="224257" extrusionOk="0">
                  <a:moveTo>
                    <a:pt x="12637" y="0"/>
                  </a:moveTo>
                  <a:lnTo>
                    <a:pt x="1600874" y="0"/>
                  </a:lnTo>
                  <a:cubicBezTo>
                    <a:pt x="1607853" y="0"/>
                    <a:pt x="1613511" y="5658"/>
                    <a:pt x="1613511" y="12637"/>
                  </a:cubicBezTo>
                  <a:lnTo>
                    <a:pt x="1613511" y="211620"/>
                  </a:lnTo>
                  <a:cubicBezTo>
                    <a:pt x="1613511" y="218599"/>
                    <a:pt x="1607853" y="224257"/>
                    <a:pt x="1600874" y="224257"/>
                  </a:cubicBezTo>
                  <a:lnTo>
                    <a:pt x="12637" y="224257"/>
                  </a:lnTo>
                  <a:cubicBezTo>
                    <a:pt x="5658" y="224257"/>
                    <a:pt x="0" y="218599"/>
                    <a:pt x="0" y="211620"/>
                  </a:cubicBezTo>
                  <a:lnTo>
                    <a:pt x="0" y="12637"/>
                  </a:lnTo>
                  <a:cubicBezTo>
                    <a:pt x="0" y="5658"/>
                    <a:pt x="5658" y="0"/>
                    <a:pt x="12637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 txBox="1"/>
            <p:nvPr/>
          </p:nvSpPr>
          <p:spPr>
            <a:xfrm>
              <a:off x="0" y="-57150"/>
              <a:ext cx="1613511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ANALYSE DU MOUVEMENT POUR...</a:t>
              </a:r>
              <a:endParaRPr/>
            </a:p>
          </p:txBody>
        </p:sp>
      </p:grpSp>
      <p:cxnSp>
        <p:nvCxnSpPr>
          <p:cNvPr id="60" name="Google Shape;60;p2"/>
          <p:cNvCxnSpPr/>
          <p:nvPr/>
        </p:nvCxnSpPr>
        <p:spPr>
          <a:xfrm>
            <a:off x="1581347" y="2734209"/>
            <a:ext cx="0" cy="499529"/>
          </a:xfrm>
          <a:prstGeom prst="straightConnector1">
            <a:avLst/>
          </a:prstGeom>
          <a:noFill/>
          <a:ln w="38100" cap="flat" cmpd="sng">
            <a:solidFill>
              <a:srgbClr val="2310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2"/>
          <p:cNvCxnSpPr/>
          <p:nvPr/>
        </p:nvCxnSpPr>
        <p:spPr>
          <a:xfrm>
            <a:off x="5122617" y="2688641"/>
            <a:ext cx="0" cy="476783"/>
          </a:xfrm>
          <a:prstGeom prst="straightConnector1">
            <a:avLst/>
          </a:prstGeom>
          <a:noFill/>
          <a:ln w="38100" cap="flat" cmpd="sng">
            <a:solidFill>
              <a:srgbClr val="231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2"/>
          <p:cNvSpPr txBox="1"/>
          <p:nvPr/>
        </p:nvSpPr>
        <p:spPr>
          <a:xfrm>
            <a:off x="1027720" y="94152"/>
            <a:ext cx="786573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Introduction à </a:t>
            </a:r>
            <a:r>
              <a:rPr lang="en-US" sz="3499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BioMov</a:t>
            </a:r>
            <a:r>
              <a:rPr lang="en-US" sz="3499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-E &amp; </a:t>
            </a:r>
            <a:r>
              <a:rPr lang="en-US" sz="3499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Contexte</a:t>
            </a:r>
            <a:endParaRPr dirty="0"/>
          </a:p>
        </p:txBody>
      </p:sp>
      <p:sp>
        <p:nvSpPr>
          <p:cNvPr id="63" name="Google Shape;63;p2"/>
          <p:cNvSpPr txBox="1"/>
          <p:nvPr/>
        </p:nvSpPr>
        <p:spPr>
          <a:xfrm>
            <a:off x="612747" y="3186113"/>
            <a:ext cx="2444819" cy="296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Développer des solutions permettant de suivre et d’analyser l’état de santé de l’Homme et de l’animal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4179" y="-244095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dirty="0"/>
          </a:p>
        </p:txBody>
      </p:sp>
      <p:sp>
        <p:nvSpPr>
          <p:cNvPr id="65" name="Google Shape;65;p2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4260456" y="3186113"/>
            <a:ext cx="2478590" cy="259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Evaluer sa performance et de prévenir les accidents ou le développement de pathologies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644837" y="1490303"/>
            <a:ext cx="4399726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Marqueurs physiques </a:t>
            </a:r>
            <a:endParaRPr/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30 caméras</a:t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8644837" y="1008063"/>
            <a:ext cx="4836438" cy="4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SYSTÈME DE RÉFÉRENCE VICON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8644837" y="5323511"/>
            <a:ext cx="4836438" cy="4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EB4C3F"/>
                </a:solidFill>
                <a:latin typeface="Arial"/>
                <a:ea typeface="Arial"/>
                <a:cs typeface="Arial"/>
                <a:sym typeface="Arial"/>
              </a:rPr>
              <a:t>MOCAPIA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8644837" y="5862219"/>
            <a:ext cx="5730727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Sans marqueurs (basée sur l’IA)</a:t>
            </a:r>
            <a:endParaRPr/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2-4 caméras à faibles coûts suffisent 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8644837" y="2720340"/>
            <a:ext cx="43997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Les inconvénients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8644837" y="7085229"/>
            <a:ext cx="439972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Les avantages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10475770" y="7871125"/>
            <a:ext cx="1904100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Simplicité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d’utilisation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4833062" y="3710940"/>
            <a:ext cx="19041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Expertise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10480656" y="3315234"/>
            <a:ext cx="1904100" cy="110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Contraintes des marqueurs physiques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2470666" y="8878350"/>
            <a:ext cx="244481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sport</a:t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617164" y="8878350"/>
            <a:ext cx="244481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ergonomie</a:t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4294227" y="8878350"/>
            <a:ext cx="244481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médical</a:t>
            </a:r>
            <a:endParaRPr/>
          </a:p>
        </p:txBody>
      </p:sp>
      <p:pic>
        <p:nvPicPr>
          <p:cNvPr id="79" name="Google Shape;79;p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293464" y="3361101"/>
            <a:ext cx="1017460" cy="101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353455" y="7553931"/>
            <a:ext cx="456896" cy="45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5510897" y="7687716"/>
            <a:ext cx="952509" cy="952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6446368" y="8200134"/>
            <a:ext cx="190510" cy="19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3505" y="8356285"/>
            <a:ext cx="368616" cy="36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451648" y="7460295"/>
            <a:ext cx="288911" cy="28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4847019" y="1463289"/>
            <a:ext cx="8593962" cy="8024612"/>
          </a:xfrm>
          <a:custGeom>
            <a:avLst/>
            <a:gdLst/>
            <a:ahLst/>
            <a:cxnLst/>
            <a:rect l="l" t="t" r="r" b="b"/>
            <a:pathLst>
              <a:path w="8593962" h="8024612" extrusionOk="0">
                <a:moveTo>
                  <a:pt x="0" y="0"/>
                </a:moveTo>
                <a:lnTo>
                  <a:pt x="8593962" y="0"/>
                </a:lnTo>
                <a:lnTo>
                  <a:pt x="8593962" y="8024612"/>
                </a:lnTo>
                <a:lnTo>
                  <a:pt x="0" y="80246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3"/>
          <p:cNvSpPr/>
          <p:nvPr/>
        </p:nvSpPr>
        <p:spPr>
          <a:xfrm>
            <a:off x="244709" y="1354622"/>
            <a:ext cx="4478485" cy="2849185"/>
          </a:xfrm>
          <a:custGeom>
            <a:avLst/>
            <a:gdLst/>
            <a:ahLst/>
            <a:cxnLst/>
            <a:rect l="l" t="t" r="r" b="b"/>
            <a:pathLst>
              <a:path w="4478485" h="2849185" extrusionOk="0">
                <a:moveTo>
                  <a:pt x="0" y="0"/>
                </a:moveTo>
                <a:lnTo>
                  <a:pt x="4478485" y="0"/>
                </a:lnTo>
                <a:lnTo>
                  <a:pt x="4478485" y="2849185"/>
                </a:lnTo>
                <a:lnTo>
                  <a:pt x="0" y="2849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3"/>
          <p:cNvSpPr/>
          <p:nvPr/>
        </p:nvSpPr>
        <p:spPr>
          <a:xfrm>
            <a:off x="12841266" y="548005"/>
            <a:ext cx="4418034" cy="2491259"/>
          </a:xfrm>
          <a:custGeom>
            <a:avLst/>
            <a:gdLst/>
            <a:ahLst/>
            <a:cxnLst/>
            <a:rect l="l" t="t" r="r" b="b"/>
            <a:pathLst>
              <a:path w="4418034" h="2491259" extrusionOk="0">
                <a:moveTo>
                  <a:pt x="0" y="0"/>
                </a:moveTo>
                <a:lnTo>
                  <a:pt x="4418034" y="0"/>
                </a:lnTo>
                <a:lnTo>
                  <a:pt x="4418034" y="2491259"/>
                </a:lnTo>
                <a:lnTo>
                  <a:pt x="0" y="2491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3"/>
          <p:cNvSpPr/>
          <p:nvPr/>
        </p:nvSpPr>
        <p:spPr>
          <a:xfrm>
            <a:off x="244709" y="6712549"/>
            <a:ext cx="4478485" cy="2637077"/>
          </a:xfrm>
          <a:custGeom>
            <a:avLst/>
            <a:gdLst/>
            <a:ahLst/>
            <a:cxnLst/>
            <a:rect l="l" t="t" r="r" b="b"/>
            <a:pathLst>
              <a:path w="4478485" h="2637077" extrusionOk="0">
                <a:moveTo>
                  <a:pt x="0" y="0"/>
                </a:moveTo>
                <a:lnTo>
                  <a:pt x="4478485" y="0"/>
                </a:lnTo>
                <a:lnTo>
                  <a:pt x="4478485" y="2637078"/>
                </a:lnTo>
                <a:lnTo>
                  <a:pt x="0" y="2637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3"/>
          <p:cNvSpPr/>
          <p:nvPr/>
        </p:nvSpPr>
        <p:spPr>
          <a:xfrm>
            <a:off x="11367580" y="6689239"/>
            <a:ext cx="4418034" cy="2551167"/>
          </a:xfrm>
          <a:prstGeom prst="roundRect">
            <a:avLst>
              <a:gd name="adj" fmla="val 5914"/>
            </a:avLst>
          </a:prstGeom>
          <a:blipFill rotWithShape="1">
            <a:blip r:embed="rId8">
              <a:alphaModFix/>
            </a:blip>
            <a:stretch>
              <a:fillRect l="-402" t="-8405" r="-427" b="-311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 rot="6909347">
            <a:off x="3524096" y="5474288"/>
            <a:ext cx="1391905" cy="458063"/>
          </a:xfrm>
          <a:custGeom>
            <a:avLst/>
            <a:gdLst/>
            <a:ahLst/>
            <a:cxnLst/>
            <a:rect l="l" t="t" r="r" b="b"/>
            <a:pathLst>
              <a:path w="1391905" h="458063" extrusionOk="0">
                <a:moveTo>
                  <a:pt x="0" y="0"/>
                </a:moveTo>
                <a:lnTo>
                  <a:pt x="1391905" y="0"/>
                </a:lnTo>
                <a:lnTo>
                  <a:pt x="1391905" y="458064"/>
                </a:lnTo>
                <a:lnTo>
                  <a:pt x="0" y="458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3"/>
          <p:cNvSpPr/>
          <p:nvPr/>
        </p:nvSpPr>
        <p:spPr>
          <a:xfrm rot="1119416">
            <a:off x="9335018" y="8175424"/>
            <a:ext cx="1391905" cy="458063"/>
          </a:xfrm>
          <a:custGeom>
            <a:avLst/>
            <a:gdLst/>
            <a:ahLst/>
            <a:cxnLst/>
            <a:rect l="l" t="t" r="r" b="b"/>
            <a:pathLst>
              <a:path w="1391905" h="458063" extrusionOk="0">
                <a:moveTo>
                  <a:pt x="0" y="0"/>
                </a:moveTo>
                <a:lnTo>
                  <a:pt x="1391905" y="0"/>
                </a:lnTo>
                <a:lnTo>
                  <a:pt x="1391905" y="458063"/>
                </a:lnTo>
                <a:lnTo>
                  <a:pt x="0" y="45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3"/>
          <p:cNvSpPr/>
          <p:nvPr/>
        </p:nvSpPr>
        <p:spPr>
          <a:xfrm rot="-2700000">
            <a:off x="13399091" y="3714760"/>
            <a:ext cx="1391905" cy="458063"/>
          </a:xfrm>
          <a:custGeom>
            <a:avLst/>
            <a:gdLst/>
            <a:ahLst/>
            <a:cxnLst/>
            <a:rect l="l" t="t" r="r" b="b"/>
            <a:pathLst>
              <a:path w="1391905" h="458063" extrusionOk="0">
                <a:moveTo>
                  <a:pt x="0" y="0"/>
                </a:moveTo>
                <a:lnTo>
                  <a:pt x="1391905" y="0"/>
                </a:lnTo>
                <a:lnTo>
                  <a:pt x="1391905" y="458063"/>
                </a:lnTo>
                <a:lnTo>
                  <a:pt x="0" y="45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3"/>
          <p:cNvSpPr/>
          <p:nvPr/>
        </p:nvSpPr>
        <p:spPr>
          <a:xfrm>
            <a:off x="4096348" y="4320178"/>
            <a:ext cx="750671" cy="770278"/>
          </a:xfrm>
          <a:custGeom>
            <a:avLst/>
            <a:gdLst/>
            <a:ahLst/>
            <a:cxnLst/>
            <a:rect l="l" t="t" r="r" b="b"/>
            <a:pathLst>
              <a:path w="750671" h="770278" extrusionOk="0">
                <a:moveTo>
                  <a:pt x="0" y="0"/>
                </a:moveTo>
                <a:lnTo>
                  <a:pt x="750671" y="0"/>
                </a:lnTo>
                <a:lnTo>
                  <a:pt x="750671" y="770278"/>
                </a:lnTo>
                <a:lnTo>
                  <a:pt x="0" y="7702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3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Projet MoCapIA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34179" y="75564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795965" y="7659773"/>
            <a:ext cx="750671" cy="770278"/>
          </a:xfrm>
          <a:custGeom>
            <a:avLst/>
            <a:gdLst/>
            <a:ahLst/>
            <a:cxnLst/>
            <a:rect l="l" t="t" r="r" b="b"/>
            <a:pathLst>
              <a:path w="750671" h="770278" extrusionOk="0">
                <a:moveTo>
                  <a:pt x="0" y="0"/>
                </a:moveTo>
                <a:lnTo>
                  <a:pt x="750671" y="0"/>
                </a:lnTo>
                <a:lnTo>
                  <a:pt x="750671" y="770278"/>
                </a:lnTo>
                <a:lnTo>
                  <a:pt x="0" y="7702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11355388" y="4705317"/>
            <a:ext cx="750671" cy="770278"/>
          </a:xfrm>
          <a:custGeom>
            <a:avLst/>
            <a:gdLst/>
            <a:ahLst/>
            <a:cxnLst/>
            <a:rect l="l" t="t" r="r" b="b"/>
            <a:pathLst>
              <a:path w="750671" h="770278" extrusionOk="0">
                <a:moveTo>
                  <a:pt x="0" y="0"/>
                </a:moveTo>
                <a:lnTo>
                  <a:pt x="750671" y="0"/>
                </a:lnTo>
                <a:lnTo>
                  <a:pt x="750671" y="770278"/>
                </a:lnTo>
                <a:lnTo>
                  <a:pt x="0" y="7702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368534" y="2358909"/>
            <a:ext cx="2287316" cy="2688253"/>
          </a:xfrm>
          <a:custGeom>
            <a:avLst/>
            <a:gdLst/>
            <a:ahLst/>
            <a:cxnLst/>
            <a:rect l="l" t="t" r="r" b="b"/>
            <a:pathLst>
              <a:path w="2287316" h="2688253" extrusionOk="0">
                <a:moveTo>
                  <a:pt x="0" y="0"/>
                </a:moveTo>
                <a:lnTo>
                  <a:pt x="2287316" y="0"/>
                </a:lnTo>
                <a:lnTo>
                  <a:pt x="2287316" y="2688254"/>
                </a:lnTo>
                <a:lnTo>
                  <a:pt x="0" y="2688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4"/>
          <p:cNvSpPr/>
          <p:nvPr/>
        </p:nvSpPr>
        <p:spPr>
          <a:xfrm>
            <a:off x="10364996" y="1439296"/>
            <a:ext cx="6694207" cy="3862043"/>
          </a:xfrm>
          <a:custGeom>
            <a:avLst/>
            <a:gdLst/>
            <a:ahLst/>
            <a:cxnLst/>
            <a:rect l="l" t="t" r="r" b="b"/>
            <a:pathLst>
              <a:path w="6694207" h="3862043" extrusionOk="0">
                <a:moveTo>
                  <a:pt x="0" y="0"/>
                </a:moveTo>
                <a:lnTo>
                  <a:pt x="6694207" y="0"/>
                </a:lnTo>
                <a:lnTo>
                  <a:pt x="6694207" y="3862043"/>
                </a:lnTo>
                <a:lnTo>
                  <a:pt x="0" y="3862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4"/>
          <p:cNvSpPr/>
          <p:nvPr/>
        </p:nvSpPr>
        <p:spPr>
          <a:xfrm>
            <a:off x="10303166" y="5412309"/>
            <a:ext cx="6817866" cy="3937318"/>
          </a:xfrm>
          <a:custGeom>
            <a:avLst/>
            <a:gdLst/>
            <a:ahLst/>
            <a:cxnLst/>
            <a:rect l="l" t="t" r="r" b="b"/>
            <a:pathLst>
              <a:path w="6817866" h="3937318" extrusionOk="0">
                <a:moveTo>
                  <a:pt x="0" y="0"/>
                </a:moveTo>
                <a:lnTo>
                  <a:pt x="6817866" y="0"/>
                </a:lnTo>
                <a:lnTo>
                  <a:pt x="6817866" y="3937318"/>
                </a:lnTo>
                <a:lnTo>
                  <a:pt x="0" y="3937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2" name="Google Shape;112;p4"/>
          <p:cNvSpPr/>
          <p:nvPr/>
        </p:nvSpPr>
        <p:spPr>
          <a:xfrm>
            <a:off x="119904" y="5225969"/>
            <a:ext cx="7159450" cy="4775072"/>
          </a:xfrm>
          <a:custGeom>
            <a:avLst/>
            <a:gdLst/>
            <a:ahLst/>
            <a:cxnLst/>
            <a:rect l="l" t="t" r="r" b="b"/>
            <a:pathLst>
              <a:path w="6777508" h="4269830" extrusionOk="0">
                <a:moveTo>
                  <a:pt x="0" y="0"/>
                </a:moveTo>
                <a:lnTo>
                  <a:pt x="6777508" y="0"/>
                </a:lnTo>
                <a:lnTo>
                  <a:pt x="6777508" y="4269830"/>
                </a:lnTo>
                <a:lnTo>
                  <a:pt x="0" y="4269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Phase de Test</a:t>
            </a:r>
            <a:endParaRPr/>
          </a:p>
        </p:txBody>
      </p:sp>
      <p:cxnSp>
        <p:nvCxnSpPr>
          <p:cNvPr id="114" name="Google Shape;114;p4"/>
          <p:cNvCxnSpPr/>
          <p:nvPr/>
        </p:nvCxnSpPr>
        <p:spPr>
          <a:xfrm>
            <a:off x="9144000" y="319404"/>
            <a:ext cx="0" cy="9093927"/>
          </a:xfrm>
          <a:prstGeom prst="straightConnector1">
            <a:avLst/>
          </a:prstGeom>
          <a:noFill/>
          <a:ln w="38100" cap="flat" cmpd="sng">
            <a:solidFill>
              <a:srgbClr val="EB4C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5" name="Google Shape;115;p4"/>
          <p:cNvGrpSpPr/>
          <p:nvPr/>
        </p:nvGrpSpPr>
        <p:grpSpPr>
          <a:xfrm>
            <a:off x="6999029" y="7589860"/>
            <a:ext cx="4278571" cy="1823471"/>
            <a:chOff x="0" y="-274784"/>
            <a:chExt cx="6343761" cy="2431294"/>
          </a:xfrm>
        </p:grpSpPr>
        <p:grpSp>
          <p:nvGrpSpPr>
            <p:cNvPr id="116" name="Google Shape;116;p4"/>
            <p:cNvGrpSpPr/>
            <p:nvPr/>
          </p:nvGrpSpPr>
          <p:grpSpPr>
            <a:xfrm>
              <a:off x="0" y="-274784"/>
              <a:ext cx="6343761" cy="1563726"/>
              <a:chOff x="0" y="-57150"/>
              <a:chExt cx="1319386" cy="325226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0" y="0"/>
                <a:ext cx="1319386" cy="268076"/>
              </a:xfrm>
              <a:custGeom>
                <a:avLst/>
                <a:gdLst/>
                <a:ahLst/>
                <a:cxnLst/>
                <a:rect l="l" t="t" r="r" b="b"/>
                <a:pathLst>
                  <a:path w="1319386" h="268076" extrusionOk="0">
                    <a:moveTo>
                      <a:pt x="15454" y="0"/>
                    </a:moveTo>
                    <a:lnTo>
                      <a:pt x="1303931" y="0"/>
                    </a:lnTo>
                    <a:cubicBezTo>
                      <a:pt x="1308030" y="0"/>
                      <a:pt x="1311961" y="1628"/>
                      <a:pt x="1314859" y="4526"/>
                    </a:cubicBezTo>
                    <a:cubicBezTo>
                      <a:pt x="1317757" y="7425"/>
                      <a:pt x="1319386" y="11356"/>
                      <a:pt x="1319386" y="15454"/>
                    </a:cubicBezTo>
                    <a:lnTo>
                      <a:pt x="1319386" y="252622"/>
                    </a:lnTo>
                    <a:cubicBezTo>
                      <a:pt x="1319386" y="261157"/>
                      <a:pt x="1312466" y="268076"/>
                      <a:pt x="1303931" y="268076"/>
                    </a:cubicBezTo>
                    <a:lnTo>
                      <a:pt x="15454" y="268076"/>
                    </a:lnTo>
                    <a:cubicBezTo>
                      <a:pt x="11356" y="268076"/>
                      <a:pt x="7425" y="266448"/>
                      <a:pt x="4526" y="263550"/>
                    </a:cubicBezTo>
                    <a:cubicBezTo>
                      <a:pt x="1628" y="260651"/>
                      <a:pt x="0" y="256721"/>
                      <a:pt x="0" y="252622"/>
                    </a:cubicBezTo>
                    <a:lnTo>
                      <a:pt x="0" y="15454"/>
                    </a:lnTo>
                    <a:cubicBezTo>
                      <a:pt x="0" y="11356"/>
                      <a:pt x="1628" y="7425"/>
                      <a:pt x="4526" y="4526"/>
                    </a:cubicBezTo>
                    <a:cubicBezTo>
                      <a:pt x="7425" y="1628"/>
                      <a:pt x="11356" y="0"/>
                      <a:pt x="1545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4B3F"/>
                  </a:gs>
                  <a:gs pos="100000">
                    <a:srgbClr val="F0945B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 txBox="1"/>
              <p:nvPr/>
            </p:nvSpPr>
            <p:spPr>
              <a:xfrm>
                <a:off x="0" y="-57150"/>
                <a:ext cx="1319386" cy="3252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41300" tIns="241300" rIns="241300" bIns="241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4"/>
            <p:cNvGrpSpPr/>
            <p:nvPr/>
          </p:nvGrpSpPr>
          <p:grpSpPr>
            <a:xfrm>
              <a:off x="0" y="803471"/>
              <a:ext cx="6343761" cy="1353039"/>
              <a:chOff x="0" y="-57150"/>
              <a:chExt cx="1319386" cy="281407"/>
            </a:xfrm>
          </p:grpSpPr>
          <p:sp>
            <p:nvSpPr>
              <p:cNvPr id="120" name="Google Shape;120;p4"/>
              <p:cNvSpPr/>
              <p:nvPr/>
            </p:nvSpPr>
            <p:spPr>
              <a:xfrm>
                <a:off x="0" y="0"/>
                <a:ext cx="1319386" cy="224257"/>
              </a:xfrm>
              <a:custGeom>
                <a:avLst/>
                <a:gdLst/>
                <a:ahLst/>
                <a:cxnLst/>
                <a:rect l="l" t="t" r="r" b="b"/>
                <a:pathLst>
                  <a:path w="1319386" h="224257" extrusionOk="0">
                    <a:moveTo>
                      <a:pt x="15454" y="0"/>
                    </a:moveTo>
                    <a:lnTo>
                      <a:pt x="1303931" y="0"/>
                    </a:lnTo>
                    <a:cubicBezTo>
                      <a:pt x="1308030" y="0"/>
                      <a:pt x="1311961" y="1628"/>
                      <a:pt x="1314859" y="4526"/>
                    </a:cubicBezTo>
                    <a:cubicBezTo>
                      <a:pt x="1317757" y="7425"/>
                      <a:pt x="1319386" y="11356"/>
                      <a:pt x="1319386" y="15454"/>
                    </a:cubicBezTo>
                    <a:lnTo>
                      <a:pt x="1319386" y="208803"/>
                    </a:lnTo>
                    <a:cubicBezTo>
                      <a:pt x="1319386" y="217338"/>
                      <a:pt x="1312466" y="224257"/>
                      <a:pt x="1303931" y="224257"/>
                    </a:cubicBezTo>
                    <a:lnTo>
                      <a:pt x="15454" y="224257"/>
                    </a:lnTo>
                    <a:cubicBezTo>
                      <a:pt x="6919" y="224257"/>
                      <a:pt x="0" y="217338"/>
                      <a:pt x="0" y="208803"/>
                    </a:cubicBezTo>
                    <a:lnTo>
                      <a:pt x="0" y="15454"/>
                    </a:lnTo>
                    <a:cubicBezTo>
                      <a:pt x="0" y="11356"/>
                      <a:pt x="1628" y="7425"/>
                      <a:pt x="4526" y="4526"/>
                    </a:cubicBezTo>
                    <a:cubicBezTo>
                      <a:pt x="7425" y="1628"/>
                      <a:pt x="11356" y="0"/>
                      <a:pt x="1545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4B3F"/>
                  </a:gs>
                  <a:gs pos="100000">
                    <a:srgbClr val="F0945B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 txBox="1"/>
              <p:nvPr/>
            </p:nvSpPr>
            <p:spPr>
              <a:xfrm>
                <a:off x="0" y="-57150"/>
                <a:ext cx="1319386" cy="281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41300" tIns="241300" rIns="241300" bIns="241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Erreur &lt; 15 mm</a:t>
                </a:r>
                <a:endParaRPr/>
              </a:p>
            </p:txBody>
          </p:sp>
        </p:grpSp>
      </p:grpSp>
      <p:grpSp>
        <p:nvGrpSpPr>
          <p:cNvPr id="122" name="Google Shape;122;p4"/>
          <p:cNvGrpSpPr/>
          <p:nvPr/>
        </p:nvGrpSpPr>
        <p:grpSpPr>
          <a:xfrm>
            <a:off x="3268635" y="854267"/>
            <a:ext cx="3371291" cy="1068469"/>
            <a:chOff x="0" y="-57150"/>
            <a:chExt cx="1613511" cy="281407"/>
          </a:xfrm>
        </p:grpSpPr>
        <p:sp>
          <p:nvSpPr>
            <p:cNvPr id="123" name="Google Shape;123;p4"/>
            <p:cNvSpPr/>
            <p:nvPr/>
          </p:nvSpPr>
          <p:spPr>
            <a:xfrm>
              <a:off x="0" y="0"/>
              <a:ext cx="1613511" cy="224257"/>
            </a:xfrm>
            <a:custGeom>
              <a:avLst/>
              <a:gdLst/>
              <a:ahLst/>
              <a:cxnLst/>
              <a:rect l="l" t="t" r="r" b="b"/>
              <a:pathLst>
                <a:path w="1613511" h="224257" extrusionOk="0">
                  <a:moveTo>
                    <a:pt x="12637" y="0"/>
                  </a:moveTo>
                  <a:lnTo>
                    <a:pt x="1600874" y="0"/>
                  </a:lnTo>
                  <a:cubicBezTo>
                    <a:pt x="1607853" y="0"/>
                    <a:pt x="1613511" y="5658"/>
                    <a:pt x="1613511" y="12637"/>
                  </a:cubicBezTo>
                  <a:lnTo>
                    <a:pt x="1613511" y="211620"/>
                  </a:lnTo>
                  <a:cubicBezTo>
                    <a:pt x="1613511" y="218599"/>
                    <a:pt x="1607853" y="224257"/>
                    <a:pt x="1600874" y="224257"/>
                  </a:cubicBezTo>
                  <a:lnTo>
                    <a:pt x="12637" y="224257"/>
                  </a:lnTo>
                  <a:cubicBezTo>
                    <a:pt x="5658" y="224257"/>
                    <a:pt x="0" y="218599"/>
                    <a:pt x="0" y="211620"/>
                  </a:cubicBezTo>
                  <a:lnTo>
                    <a:pt x="0" y="12637"/>
                  </a:lnTo>
                  <a:cubicBezTo>
                    <a:pt x="0" y="5658"/>
                    <a:pt x="5658" y="0"/>
                    <a:pt x="12637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0" y="-57150"/>
              <a:ext cx="1613511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IMPACT DU DAMIER</a:t>
              </a: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10634655" y="-33294"/>
            <a:ext cx="5495361" cy="1104554"/>
            <a:chOff x="0" y="-17722"/>
            <a:chExt cx="1613511" cy="241979"/>
          </a:xfrm>
        </p:grpSpPr>
        <p:sp>
          <p:nvSpPr>
            <p:cNvPr id="126" name="Google Shape;126;p4"/>
            <p:cNvSpPr/>
            <p:nvPr/>
          </p:nvSpPr>
          <p:spPr>
            <a:xfrm>
              <a:off x="0" y="0"/>
              <a:ext cx="1613511" cy="224257"/>
            </a:xfrm>
            <a:custGeom>
              <a:avLst/>
              <a:gdLst/>
              <a:ahLst/>
              <a:cxnLst/>
              <a:rect l="l" t="t" r="r" b="b"/>
              <a:pathLst>
                <a:path w="1613511" h="224257" extrusionOk="0">
                  <a:moveTo>
                    <a:pt x="12637" y="0"/>
                  </a:moveTo>
                  <a:lnTo>
                    <a:pt x="1600874" y="0"/>
                  </a:lnTo>
                  <a:cubicBezTo>
                    <a:pt x="1607853" y="0"/>
                    <a:pt x="1613511" y="5658"/>
                    <a:pt x="1613511" y="12637"/>
                  </a:cubicBezTo>
                  <a:lnTo>
                    <a:pt x="1613511" y="211620"/>
                  </a:lnTo>
                  <a:cubicBezTo>
                    <a:pt x="1613511" y="218599"/>
                    <a:pt x="1607853" y="224257"/>
                    <a:pt x="1600874" y="224257"/>
                  </a:cubicBezTo>
                  <a:lnTo>
                    <a:pt x="12637" y="224257"/>
                  </a:lnTo>
                  <a:cubicBezTo>
                    <a:pt x="5658" y="224257"/>
                    <a:pt x="0" y="218599"/>
                    <a:pt x="0" y="211620"/>
                  </a:cubicBezTo>
                  <a:lnTo>
                    <a:pt x="0" y="12637"/>
                  </a:lnTo>
                  <a:cubicBezTo>
                    <a:pt x="0" y="5658"/>
                    <a:pt x="5658" y="0"/>
                    <a:pt x="12637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0" y="-17722"/>
              <a:ext cx="1607020" cy="2314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HOMOGÉNÉISATION DE LA CALIBRATION</a:t>
              </a:r>
            </a:p>
          </p:txBody>
        </p:sp>
      </p:grpSp>
      <p:sp>
        <p:nvSpPr>
          <p:cNvPr id="128" name="Google Shape;128;p4"/>
          <p:cNvSpPr/>
          <p:nvPr/>
        </p:nvSpPr>
        <p:spPr>
          <a:xfrm>
            <a:off x="3220274" y="2724595"/>
            <a:ext cx="639462" cy="626672"/>
          </a:xfrm>
          <a:custGeom>
            <a:avLst/>
            <a:gdLst/>
            <a:ahLst/>
            <a:cxnLst/>
            <a:rect l="l" t="t" r="r" b="b"/>
            <a:pathLst>
              <a:path w="639462" h="626672" extrusionOk="0">
                <a:moveTo>
                  <a:pt x="0" y="0"/>
                </a:moveTo>
                <a:lnTo>
                  <a:pt x="639461" y="0"/>
                </a:lnTo>
                <a:lnTo>
                  <a:pt x="639461" y="626673"/>
                </a:lnTo>
                <a:lnTo>
                  <a:pt x="0" y="6266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4"/>
          <p:cNvSpPr txBox="1"/>
          <p:nvPr/>
        </p:nvSpPr>
        <p:spPr>
          <a:xfrm>
            <a:off x="3075821" y="4305300"/>
            <a:ext cx="4905849" cy="1167051"/>
          </a:xfrm>
          <a:prstGeom prst="rect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Calibration with </a:t>
            </a:r>
            <a:r>
              <a:rPr lang="en-US" sz="16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DistortionModels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Accuracy Evaluation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”,</a:t>
            </a:r>
            <a:endParaRPr dirty="0"/>
          </a:p>
          <a:p>
            <a:pPr marL="0" marR="0" lvl="0" indent="0" algn="ctr" rtl="0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JuyangWeng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al., 1992.</a:t>
            </a:r>
            <a:endParaRPr dirty="0"/>
          </a:p>
        </p:txBody>
      </p:sp>
      <p:sp>
        <p:nvSpPr>
          <p:cNvPr id="130" name="Google Shape;130;p4"/>
          <p:cNvSpPr/>
          <p:nvPr/>
        </p:nvSpPr>
        <p:spPr>
          <a:xfrm>
            <a:off x="6999029" y="2664824"/>
            <a:ext cx="639462" cy="626672"/>
          </a:xfrm>
          <a:custGeom>
            <a:avLst/>
            <a:gdLst/>
            <a:ahLst/>
            <a:cxnLst/>
            <a:rect l="l" t="t" r="r" b="b"/>
            <a:pathLst>
              <a:path w="639462" h="626672" extrusionOk="0">
                <a:moveTo>
                  <a:pt x="0" y="0"/>
                </a:moveTo>
                <a:lnTo>
                  <a:pt x="639462" y="0"/>
                </a:lnTo>
                <a:lnTo>
                  <a:pt x="639462" y="626672"/>
                </a:lnTo>
                <a:lnTo>
                  <a:pt x="0" y="626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>
            <a:off x="4954281" y="3043212"/>
            <a:ext cx="1026402" cy="731799"/>
          </a:xfrm>
          <a:custGeom>
            <a:avLst/>
            <a:gdLst/>
            <a:ahLst/>
            <a:cxnLst/>
            <a:rect l="l" t="t" r="r" b="b"/>
            <a:pathLst>
              <a:path w="1026402" h="731799" extrusionOk="0">
                <a:moveTo>
                  <a:pt x="0" y="0"/>
                </a:moveTo>
                <a:lnTo>
                  <a:pt x="1026402" y="0"/>
                </a:lnTo>
                <a:lnTo>
                  <a:pt x="1026402" y="731800"/>
                </a:lnTo>
                <a:lnTo>
                  <a:pt x="0" y="731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4"/>
          <p:cNvSpPr txBox="1"/>
          <p:nvPr/>
        </p:nvSpPr>
        <p:spPr>
          <a:xfrm>
            <a:off x="34179" y="81278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3220274" y="3361487"/>
            <a:ext cx="2049678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Aire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du damier</a:t>
            </a: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269952" y="3361487"/>
            <a:ext cx="2382429" cy="737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endParaRPr/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distorsion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836393" y="3303643"/>
            <a:ext cx="3846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B4C3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967485" y="3303643"/>
            <a:ext cx="3846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B4C3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967485" y="4626969"/>
            <a:ext cx="3846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B4C3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770335" y="4626969"/>
            <a:ext cx="3846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EB4C3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140" name="Google Shape;140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5486400" y="1681780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15635199" y="900097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Triangulation</a:t>
            </a:r>
            <a:endParaRPr dirty="0"/>
          </a:p>
        </p:txBody>
      </p:sp>
      <p:sp>
        <p:nvSpPr>
          <p:cNvPr id="143" name="Google Shape;143;p4"/>
          <p:cNvSpPr/>
          <p:nvPr/>
        </p:nvSpPr>
        <p:spPr>
          <a:xfrm>
            <a:off x="13752544" y="900097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 dirty="0"/>
          </a:p>
        </p:txBody>
      </p:sp>
      <p:sp>
        <p:nvSpPr>
          <p:cNvPr id="144" name="Google Shape;144;p4"/>
          <p:cNvSpPr/>
          <p:nvPr/>
        </p:nvSpPr>
        <p:spPr>
          <a:xfrm>
            <a:off x="7215055" y="7953963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9368583" y="7953963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Triangulation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8976147" y="8128945"/>
            <a:ext cx="331569" cy="300711"/>
          </a:xfrm>
          <a:prstGeom prst="mathPlus">
            <a:avLst>
              <a:gd name="adj1" fmla="val 23520"/>
            </a:avLst>
          </a:prstGeom>
          <a:solidFill>
            <a:srgbClr val="A200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579880" y="2570480"/>
            <a:ext cx="929640" cy="802640"/>
          </a:xfrm>
          <a:custGeom>
            <a:avLst/>
            <a:gdLst/>
            <a:ahLst/>
            <a:cxnLst/>
            <a:rect l="l" t="t" r="r" b="b"/>
            <a:pathLst>
              <a:path w="929640" h="802640" extrusionOk="0">
                <a:moveTo>
                  <a:pt x="45720" y="0"/>
                </a:moveTo>
                <a:lnTo>
                  <a:pt x="929640" y="30480"/>
                </a:lnTo>
                <a:lnTo>
                  <a:pt x="909320" y="802640"/>
                </a:lnTo>
                <a:lnTo>
                  <a:pt x="0" y="762000"/>
                </a:lnTo>
                <a:lnTo>
                  <a:pt x="45720" y="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57200" y="2489200"/>
            <a:ext cx="1082040" cy="919480"/>
          </a:xfrm>
          <a:custGeom>
            <a:avLst/>
            <a:gdLst/>
            <a:ahLst/>
            <a:cxnLst/>
            <a:rect l="l" t="t" r="r" b="b"/>
            <a:pathLst>
              <a:path w="1082040" h="919480" extrusionOk="0">
                <a:moveTo>
                  <a:pt x="50800" y="0"/>
                </a:moveTo>
                <a:lnTo>
                  <a:pt x="1082040" y="25400"/>
                </a:lnTo>
                <a:lnTo>
                  <a:pt x="1056640" y="919480"/>
                </a:lnTo>
                <a:lnTo>
                  <a:pt x="0" y="878840"/>
                </a:lnTo>
                <a:lnTo>
                  <a:pt x="50800" y="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40360" y="3672840"/>
            <a:ext cx="1153160" cy="1056640"/>
          </a:xfrm>
          <a:custGeom>
            <a:avLst/>
            <a:gdLst/>
            <a:ahLst/>
            <a:cxnLst/>
            <a:rect l="l" t="t" r="r" b="b"/>
            <a:pathLst>
              <a:path w="1153160" h="1056640" extrusionOk="0">
                <a:moveTo>
                  <a:pt x="71120" y="0"/>
                </a:moveTo>
                <a:lnTo>
                  <a:pt x="1153160" y="60960"/>
                </a:lnTo>
                <a:lnTo>
                  <a:pt x="1097280" y="1056640"/>
                </a:lnTo>
                <a:lnTo>
                  <a:pt x="0" y="990600"/>
                </a:lnTo>
                <a:lnTo>
                  <a:pt x="71120" y="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699845" y="3906520"/>
            <a:ext cx="835075" cy="782320"/>
          </a:xfrm>
          <a:custGeom>
            <a:avLst/>
            <a:gdLst/>
            <a:ahLst/>
            <a:cxnLst/>
            <a:rect l="l" t="t" r="r" b="b"/>
            <a:pathLst>
              <a:path w="835075" h="782320" extrusionOk="0">
                <a:moveTo>
                  <a:pt x="1955" y="0"/>
                </a:moveTo>
                <a:lnTo>
                  <a:pt x="814755" y="20320"/>
                </a:lnTo>
                <a:lnTo>
                  <a:pt x="835075" y="782320"/>
                </a:lnTo>
                <a:lnTo>
                  <a:pt x="1955" y="762000"/>
                </a:lnTo>
                <a:cubicBezTo>
                  <a:pt x="262" y="511387"/>
                  <a:pt x="-1432" y="260773"/>
                  <a:pt x="1955" y="0"/>
                </a:cubicBez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11932609" y="-39008"/>
            <a:ext cx="8166499" cy="4879043"/>
            <a:chOff x="0" y="-57150"/>
            <a:chExt cx="585759" cy="332302"/>
          </a:xfrm>
        </p:grpSpPr>
        <p:sp>
          <p:nvSpPr>
            <p:cNvPr id="156" name="Google Shape;156;p5"/>
            <p:cNvSpPr/>
            <p:nvPr/>
          </p:nvSpPr>
          <p:spPr>
            <a:xfrm>
              <a:off x="0" y="0"/>
              <a:ext cx="585759" cy="275152"/>
            </a:xfrm>
            <a:custGeom>
              <a:avLst/>
              <a:gdLst/>
              <a:ahLst/>
              <a:cxnLst/>
              <a:rect l="l" t="t" r="r" b="b"/>
              <a:pathLst>
                <a:path w="585759" h="275152" extrusionOk="0">
                  <a:moveTo>
                    <a:pt x="47400" y="0"/>
                  </a:moveTo>
                  <a:lnTo>
                    <a:pt x="538358" y="0"/>
                  </a:lnTo>
                  <a:cubicBezTo>
                    <a:pt x="564537" y="0"/>
                    <a:pt x="585759" y="21222"/>
                    <a:pt x="585759" y="47400"/>
                  </a:cubicBezTo>
                  <a:lnTo>
                    <a:pt x="585759" y="227752"/>
                  </a:lnTo>
                  <a:cubicBezTo>
                    <a:pt x="585759" y="253930"/>
                    <a:pt x="564537" y="275152"/>
                    <a:pt x="538358" y="275152"/>
                  </a:cubicBezTo>
                  <a:lnTo>
                    <a:pt x="47400" y="275152"/>
                  </a:lnTo>
                  <a:cubicBezTo>
                    <a:pt x="21222" y="275152"/>
                    <a:pt x="0" y="253930"/>
                    <a:pt x="0" y="227752"/>
                  </a:cubicBezTo>
                  <a:lnTo>
                    <a:pt x="0" y="47400"/>
                  </a:lnTo>
                  <a:cubicBezTo>
                    <a:pt x="0" y="21222"/>
                    <a:pt x="21222" y="0"/>
                    <a:pt x="47400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-57150"/>
              <a:ext cx="585759" cy="332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ctr" rtl="0">
                <a:lnSpc>
                  <a:spcPct val="17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5"/>
          <p:cNvSpPr/>
          <p:nvPr/>
        </p:nvSpPr>
        <p:spPr>
          <a:xfrm>
            <a:off x="11932609" y="1003935"/>
            <a:ext cx="2901029" cy="3497855"/>
          </a:xfrm>
          <a:custGeom>
            <a:avLst/>
            <a:gdLst/>
            <a:ahLst/>
            <a:cxnLst/>
            <a:rect l="l" t="t" r="r" b="b"/>
            <a:pathLst>
              <a:path w="2901029" h="3497855" extrusionOk="0">
                <a:moveTo>
                  <a:pt x="0" y="0"/>
                </a:moveTo>
                <a:lnTo>
                  <a:pt x="2901029" y="0"/>
                </a:lnTo>
                <a:lnTo>
                  <a:pt x="2901029" y="3497855"/>
                </a:lnTo>
                <a:lnTo>
                  <a:pt x="0" y="3497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5"/>
          <p:cNvSpPr/>
          <p:nvPr/>
        </p:nvSpPr>
        <p:spPr>
          <a:xfrm>
            <a:off x="15470269" y="1123950"/>
            <a:ext cx="2530846" cy="3497855"/>
          </a:xfrm>
          <a:custGeom>
            <a:avLst/>
            <a:gdLst/>
            <a:ahLst/>
            <a:cxnLst/>
            <a:rect l="l" t="t" r="r" b="b"/>
            <a:pathLst>
              <a:path w="2530846" h="3497855" extrusionOk="0">
                <a:moveTo>
                  <a:pt x="0" y="0"/>
                </a:moveTo>
                <a:lnTo>
                  <a:pt x="2530846" y="0"/>
                </a:lnTo>
                <a:lnTo>
                  <a:pt x="2530846" y="3497855"/>
                </a:lnTo>
                <a:lnTo>
                  <a:pt x="0" y="3497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0" name="Google Shape;160;p5"/>
          <p:cNvSpPr/>
          <p:nvPr/>
        </p:nvSpPr>
        <p:spPr>
          <a:xfrm rot="10800000" flipH="1">
            <a:off x="14681174" y="2573138"/>
            <a:ext cx="1092248" cy="35944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0" y="359449"/>
                </a:moveTo>
                <a:lnTo>
                  <a:pt x="1092248" y="359449"/>
                </a:lnTo>
                <a:lnTo>
                  <a:pt x="1092248" y="0"/>
                </a:lnTo>
                <a:lnTo>
                  <a:pt x="0" y="0"/>
                </a:lnTo>
                <a:lnTo>
                  <a:pt x="0" y="35944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1" name="Google Shape;161;p5"/>
          <p:cNvSpPr/>
          <p:nvPr/>
        </p:nvSpPr>
        <p:spPr>
          <a:xfrm>
            <a:off x="11150370" y="5056365"/>
            <a:ext cx="6965681" cy="4275187"/>
          </a:xfrm>
          <a:custGeom>
            <a:avLst/>
            <a:gdLst/>
            <a:ahLst/>
            <a:cxnLst/>
            <a:rect l="l" t="t" r="r" b="b"/>
            <a:pathLst>
              <a:path w="6965681" h="4275187" extrusionOk="0">
                <a:moveTo>
                  <a:pt x="0" y="0"/>
                </a:moveTo>
                <a:lnTo>
                  <a:pt x="6965681" y="0"/>
                </a:lnTo>
                <a:lnTo>
                  <a:pt x="6965681" y="4275186"/>
                </a:lnTo>
                <a:lnTo>
                  <a:pt x="0" y="4275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5"/>
          <p:cNvSpPr txBox="1"/>
          <p:nvPr/>
        </p:nvSpPr>
        <p:spPr>
          <a:xfrm>
            <a:off x="0" y="8127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Amélioration du modèle humain 3D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grpSp>
        <p:nvGrpSpPr>
          <p:cNvPr id="165" name="Google Shape;165;p5"/>
          <p:cNvGrpSpPr/>
          <p:nvPr/>
        </p:nvGrpSpPr>
        <p:grpSpPr>
          <a:xfrm>
            <a:off x="502295" y="1651614"/>
            <a:ext cx="6669006" cy="1671308"/>
            <a:chOff x="0" y="-228987"/>
            <a:chExt cx="8892008" cy="2228410"/>
          </a:xfrm>
        </p:grpSpPr>
        <p:grpSp>
          <p:nvGrpSpPr>
            <p:cNvPr id="166" name="Google Shape;166;p5"/>
            <p:cNvGrpSpPr/>
            <p:nvPr/>
          </p:nvGrpSpPr>
          <p:grpSpPr>
            <a:xfrm>
              <a:off x="0" y="-228987"/>
              <a:ext cx="8892008" cy="1517929"/>
              <a:chOff x="0" y="-47625"/>
              <a:chExt cx="1849374" cy="315701"/>
            </a:xfrm>
          </p:grpSpPr>
          <p:sp>
            <p:nvSpPr>
              <p:cNvPr id="167" name="Google Shape;167;p5"/>
              <p:cNvSpPr/>
              <p:nvPr/>
            </p:nvSpPr>
            <p:spPr>
              <a:xfrm>
                <a:off x="0" y="0"/>
                <a:ext cx="1849374" cy="268076"/>
              </a:xfrm>
              <a:custGeom>
                <a:avLst/>
                <a:gdLst/>
                <a:ahLst/>
                <a:cxnLst/>
                <a:rect l="l" t="t" r="r" b="b"/>
                <a:pathLst>
                  <a:path w="1849374" h="268076" extrusionOk="0">
                    <a:moveTo>
                      <a:pt x="11025" y="0"/>
                    </a:moveTo>
                    <a:lnTo>
                      <a:pt x="1838349" y="0"/>
                    </a:lnTo>
                    <a:cubicBezTo>
                      <a:pt x="1841273" y="0"/>
                      <a:pt x="1844077" y="1162"/>
                      <a:pt x="1846145" y="3229"/>
                    </a:cubicBezTo>
                    <a:cubicBezTo>
                      <a:pt x="1848213" y="5297"/>
                      <a:pt x="1849374" y="8101"/>
                      <a:pt x="1849374" y="11025"/>
                    </a:cubicBezTo>
                    <a:lnTo>
                      <a:pt x="1849374" y="257051"/>
                    </a:lnTo>
                    <a:cubicBezTo>
                      <a:pt x="1849374" y="263140"/>
                      <a:pt x="1844438" y="268076"/>
                      <a:pt x="1838349" y="268076"/>
                    </a:cubicBezTo>
                    <a:lnTo>
                      <a:pt x="11025" y="268076"/>
                    </a:lnTo>
                    <a:cubicBezTo>
                      <a:pt x="8101" y="268076"/>
                      <a:pt x="5297" y="266915"/>
                      <a:pt x="3229" y="264847"/>
                    </a:cubicBezTo>
                    <a:cubicBezTo>
                      <a:pt x="1162" y="262779"/>
                      <a:pt x="0" y="259975"/>
                      <a:pt x="0" y="257051"/>
                    </a:cubicBezTo>
                    <a:lnTo>
                      <a:pt x="0" y="11025"/>
                    </a:lnTo>
                    <a:cubicBezTo>
                      <a:pt x="0" y="8101"/>
                      <a:pt x="1162" y="5297"/>
                      <a:pt x="3229" y="3229"/>
                    </a:cubicBezTo>
                    <a:cubicBezTo>
                      <a:pt x="5297" y="1162"/>
                      <a:pt x="8101" y="0"/>
                      <a:pt x="11025" y="0"/>
                    </a:cubicBezTo>
                    <a:close/>
                  </a:path>
                </a:pathLst>
              </a:custGeom>
              <a:solidFill>
                <a:srgbClr val="2310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 txBox="1"/>
              <p:nvPr/>
            </p:nvSpPr>
            <p:spPr>
              <a:xfrm>
                <a:off x="0" y="-47625"/>
                <a:ext cx="1849374" cy="315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41300" tIns="241300" rIns="241300" bIns="241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CALIBRATION + TRIANGULATI + ESTIMATION </a:t>
                </a:r>
                <a:endParaRPr/>
              </a:p>
            </p:txBody>
          </p:sp>
        </p:grpSp>
        <p:grpSp>
          <p:nvGrpSpPr>
            <p:cNvPr id="169" name="Google Shape;169;p5"/>
            <p:cNvGrpSpPr/>
            <p:nvPr/>
          </p:nvGrpSpPr>
          <p:grpSpPr>
            <a:xfrm>
              <a:off x="0" y="646384"/>
              <a:ext cx="8892008" cy="1353039"/>
              <a:chOff x="0" y="-57150"/>
              <a:chExt cx="1849374" cy="281407"/>
            </a:xfrm>
          </p:grpSpPr>
          <p:sp>
            <p:nvSpPr>
              <p:cNvPr id="170" name="Google Shape;170;p5"/>
              <p:cNvSpPr/>
              <p:nvPr/>
            </p:nvSpPr>
            <p:spPr>
              <a:xfrm>
                <a:off x="0" y="0"/>
                <a:ext cx="1849374" cy="224257"/>
              </a:xfrm>
              <a:custGeom>
                <a:avLst/>
                <a:gdLst/>
                <a:ahLst/>
                <a:cxnLst/>
                <a:rect l="l" t="t" r="r" b="b"/>
                <a:pathLst>
                  <a:path w="1849374" h="224257" extrusionOk="0">
                    <a:moveTo>
                      <a:pt x="11025" y="0"/>
                    </a:moveTo>
                    <a:lnTo>
                      <a:pt x="1838349" y="0"/>
                    </a:lnTo>
                    <a:cubicBezTo>
                      <a:pt x="1841273" y="0"/>
                      <a:pt x="1844077" y="1162"/>
                      <a:pt x="1846145" y="3229"/>
                    </a:cubicBezTo>
                    <a:cubicBezTo>
                      <a:pt x="1848213" y="5297"/>
                      <a:pt x="1849374" y="8101"/>
                      <a:pt x="1849374" y="11025"/>
                    </a:cubicBezTo>
                    <a:lnTo>
                      <a:pt x="1849374" y="213232"/>
                    </a:lnTo>
                    <a:cubicBezTo>
                      <a:pt x="1849374" y="219321"/>
                      <a:pt x="1844438" y="224257"/>
                      <a:pt x="1838349" y="224257"/>
                    </a:cubicBezTo>
                    <a:lnTo>
                      <a:pt x="11025" y="224257"/>
                    </a:lnTo>
                    <a:cubicBezTo>
                      <a:pt x="8101" y="224257"/>
                      <a:pt x="5297" y="223096"/>
                      <a:pt x="3229" y="221028"/>
                    </a:cubicBezTo>
                    <a:cubicBezTo>
                      <a:pt x="1162" y="218960"/>
                      <a:pt x="0" y="216156"/>
                      <a:pt x="0" y="213232"/>
                    </a:cubicBezTo>
                    <a:lnTo>
                      <a:pt x="0" y="11025"/>
                    </a:lnTo>
                    <a:cubicBezTo>
                      <a:pt x="0" y="8101"/>
                      <a:pt x="1162" y="5297"/>
                      <a:pt x="3229" y="3229"/>
                    </a:cubicBezTo>
                    <a:cubicBezTo>
                      <a:pt x="5297" y="1162"/>
                      <a:pt x="8101" y="0"/>
                      <a:pt x="11025" y="0"/>
                    </a:cubicBezTo>
                    <a:close/>
                  </a:path>
                </a:pathLst>
              </a:custGeom>
              <a:solidFill>
                <a:srgbClr val="2310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0" y="-57150"/>
                <a:ext cx="1849374" cy="281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41300" tIns="241300" rIns="241300" bIns="241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dirty="0" err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Erreurs</a:t>
                </a:r>
                <a:r>
                  <a:rPr lang="en-US" sz="23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&gt; 50 - 100 mm</a:t>
                </a:r>
                <a:endParaRPr dirty="0"/>
              </a:p>
            </p:txBody>
          </p:sp>
        </p:grpSp>
      </p:grpSp>
      <p:cxnSp>
        <p:nvCxnSpPr>
          <p:cNvPr id="172" name="Google Shape;172;p5"/>
          <p:cNvCxnSpPr/>
          <p:nvPr/>
        </p:nvCxnSpPr>
        <p:spPr>
          <a:xfrm>
            <a:off x="9144000" y="1787526"/>
            <a:ext cx="0" cy="7160887"/>
          </a:xfrm>
          <a:prstGeom prst="straightConnector1">
            <a:avLst/>
          </a:prstGeom>
          <a:noFill/>
          <a:ln w="38100" cap="flat" cmpd="sng">
            <a:solidFill>
              <a:srgbClr val="23107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3" name="Google Shape;173;p5"/>
          <p:cNvGrpSpPr/>
          <p:nvPr/>
        </p:nvGrpSpPr>
        <p:grpSpPr>
          <a:xfrm>
            <a:off x="7794797" y="2256108"/>
            <a:ext cx="2698405" cy="1172794"/>
            <a:chOff x="0" y="-57150"/>
            <a:chExt cx="748292" cy="325226"/>
          </a:xfrm>
        </p:grpSpPr>
        <p:sp>
          <p:nvSpPr>
            <p:cNvPr id="174" name="Google Shape;174;p5"/>
            <p:cNvSpPr/>
            <p:nvPr/>
          </p:nvSpPr>
          <p:spPr>
            <a:xfrm>
              <a:off x="0" y="0"/>
              <a:ext cx="748292" cy="268076"/>
            </a:xfrm>
            <a:custGeom>
              <a:avLst/>
              <a:gdLst/>
              <a:ahLst/>
              <a:cxnLst/>
              <a:rect l="l" t="t" r="r" b="b"/>
              <a:pathLst>
                <a:path w="748292" h="268076" extrusionOk="0">
                  <a:moveTo>
                    <a:pt x="28691" y="0"/>
                  </a:moveTo>
                  <a:lnTo>
                    <a:pt x="719601" y="0"/>
                  </a:lnTo>
                  <a:cubicBezTo>
                    <a:pt x="727210" y="0"/>
                    <a:pt x="734508" y="3023"/>
                    <a:pt x="739888" y="8403"/>
                  </a:cubicBezTo>
                  <a:cubicBezTo>
                    <a:pt x="745269" y="13784"/>
                    <a:pt x="748292" y="21081"/>
                    <a:pt x="748292" y="28691"/>
                  </a:cubicBezTo>
                  <a:lnTo>
                    <a:pt x="748292" y="239385"/>
                  </a:lnTo>
                  <a:cubicBezTo>
                    <a:pt x="748292" y="246995"/>
                    <a:pt x="745269" y="254292"/>
                    <a:pt x="739888" y="259673"/>
                  </a:cubicBezTo>
                  <a:cubicBezTo>
                    <a:pt x="734508" y="265053"/>
                    <a:pt x="727210" y="268076"/>
                    <a:pt x="719601" y="268076"/>
                  </a:cubicBezTo>
                  <a:lnTo>
                    <a:pt x="28691" y="268076"/>
                  </a:lnTo>
                  <a:cubicBezTo>
                    <a:pt x="21081" y="268076"/>
                    <a:pt x="13784" y="265053"/>
                    <a:pt x="8403" y="259673"/>
                  </a:cubicBezTo>
                  <a:cubicBezTo>
                    <a:pt x="3023" y="254292"/>
                    <a:pt x="0" y="246995"/>
                    <a:pt x="0" y="239385"/>
                  </a:cubicBezTo>
                  <a:lnTo>
                    <a:pt x="0" y="28691"/>
                  </a:lnTo>
                  <a:cubicBezTo>
                    <a:pt x="0" y="21081"/>
                    <a:pt x="3023" y="13784"/>
                    <a:pt x="8403" y="8403"/>
                  </a:cubicBezTo>
                  <a:cubicBezTo>
                    <a:pt x="13784" y="3023"/>
                    <a:pt x="21081" y="0"/>
                    <a:pt x="2869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0" y="-57150"/>
              <a:ext cx="748292" cy="325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175" tIns="229175" rIns="229175" bIns="2291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FILTRAGE</a:t>
              </a:r>
              <a:endParaRPr/>
            </a:p>
          </p:txBody>
        </p:sp>
      </p:grpSp>
      <p:grpSp>
        <p:nvGrpSpPr>
          <p:cNvPr id="176" name="Google Shape;176;p5"/>
          <p:cNvGrpSpPr/>
          <p:nvPr/>
        </p:nvGrpSpPr>
        <p:grpSpPr>
          <a:xfrm>
            <a:off x="7596518" y="4327812"/>
            <a:ext cx="3101803" cy="1394350"/>
            <a:chOff x="0" y="-57150"/>
            <a:chExt cx="748292" cy="386665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748292" cy="329515"/>
            </a:xfrm>
            <a:custGeom>
              <a:avLst/>
              <a:gdLst/>
              <a:ahLst/>
              <a:cxnLst/>
              <a:rect l="l" t="t" r="r" b="b"/>
              <a:pathLst>
                <a:path w="748292" h="329515" extrusionOk="0">
                  <a:moveTo>
                    <a:pt x="28691" y="0"/>
                  </a:moveTo>
                  <a:lnTo>
                    <a:pt x="719601" y="0"/>
                  </a:lnTo>
                  <a:cubicBezTo>
                    <a:pt x="727210" y="0"/>
                    <a:pt x="734508" y="3023"/>
                    <a:pt x="739888" y="8403"/>
                  </a:cubicBezTo>
                  <a:cubicBezTo>
                    <a:pt x="745269" y="13784"/>
                    <a:pt x="748292" y="21081"/>
                    <a:pt x="748292" y="28691"/>
                  </a:cubicBezTo>
                  <a:lnTo>
                    <a:pt x="748292" y="300825"/>
                  </a:lnTo>
                  <a:cubicBezTo>
                    <a:pt x="748292" y="308434"/>
                    <a:pt x="745269" y="315732"/>
                    <a:pt x="739888" y="321112"/>
                  </a:cubicBezTo>
                  <a:cubicBezTo>
                    <a:pt x="734508" y="326493"/>
                    <a:pt x="727210" y="329515"/>
                    <a:pt x="719601" y="329515"/>
                  </a:cubicBezTo>
                  <a:lnTo>
                    <a:pt x="28691" y="329515"/>
                  </a:lnTo>
                  <a:cubicBezTo>
                    <a:pt x="21081" y="329515"/>
                    <a:pt x="13784" y="326493"/>
                    <a:pt x="8403" y="321112"/>
                  </a:cubicBezTo>
                  <a:cubicBezTo>
                    <a:pt x="3023" y="315732"/>
                    <a:pt x="0" y="308434"/>
                    <a:pt x="0" y="300825"/>
                  </a:cubicBezTo>
                  <a:lnTo>
                    <a:pt x="0" y="28691"/>
                  </a:lnTo>
                  <a:cubicBezTo>
                    <a:pt x="0" y="21081"/>
                    <a:pt x="3023" y="13784"/>
                    <a:pt x="8403" y="8403"/>
                  </a:cubicBezTo>
                  <a:cubicBezTo>
                    <a:pt x="13784" y="3023"/>
                    <a:pt x="21081" y="0"/>
                    <a:pt x="2869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 txBox="1"/>
            <p:nvPr/>
          </p:nvSpPr>
          <p:spPr>
            <a:xfrm>
              <a:off x="0" y="-57150"/>
              <a:ext cx="748292" cy="386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175" tIns="229175" rIns="229175" bIns="2291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AUGMENTATION DE MARQUEUR </a:t>
              </a:r>
              <a:endParaRPr/>
            </a:p>
          </p:txBody>
        </p:sp>
      </p:grpSp>
      <p:grpSp>
        <p:nvGrpSpPr>
          <p:cNvPr id="179" name="Google Shape;179;p5"/>
          <p:cNvGrpSpPr/>
          <p:nvPr/>
        </p:nvGrpSpPr>
        <p:grpSpPr>
          <a:xfrm>
            <a:off x="7794797" y="6477738"/>
            <a:ext cx="2698405" cy="1794400"/>
            <a:chOff x="0" y="-57150"/>
            <a:chExt cx="748292" cy="497603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748292" cy="440453"/>
            </a:xfrm>
            <a:custGeom>
              <a:avLst/>
              <a:gdLst/>
              <a:ahLst/>
              <a:cxnLst/>
              <a:rect l="l" t="t" r="r" b="b"/>
              <a:pathLst>
                <a:path w="748292" h="440453" extrusionOk="0">
                  <a:moveTo>
                    <a:pt x="28691" y="0"/>
                  </a:moveTo>
                  <a:lnTo>
                    <a:pt x="719601" y="0"/>
                  </a:lnTo>
                  <a:cubicBezTo>
                    <a:pt x="727210" y="0"/>
                    <a:pt x="734508" y="3023"/>
                    <a:pt x="739888" y="8403"/>
                  </a:cubicBezTo>
                  <a:cubicBezTo>
                    <a:pt x="745269" y="13784"/>
                    <a:pt x="748292" y="21081"/>
                    <a:pt x="748292" y="28691"/>
                  </a:cubicBezTo>
                  <a:lnTo>
                    <a:pt x="748292" y="411762"/>
                  </a:lnTo>
                  <a:cubicBezTo>
                    <a:pt x="748292" y="419371"/>
                    <a:pt x="745269" y="426669"/>
                    <a:pt x="739888" y="432050"/>
                  </a:cubicBezTo>
                  <a:cubicBezTo>
                    <a:pt x="734508" y="437430"/>
                    <a:pt x="727210" y="440453"/>
                    <a:pt x="719601" y="440453"/>
                  </a:cubicBezTo>
                  <a:lnTo>
                    <a:pt x="28691" y="440453"/>
                  </a:lnTo>
                  <a:cubicBezTo>
                    <a:pt x="21081" y="440453"/>
                    <a:pt x="13784" y="437430"/>
                    <a:pt x="8403" y="432050"/>
                  </a:cubicBezTo>
                  <a:cubicBezTo>
                    <a:pt x="3023" y="426669"/>
                    <a:pt x="0" y="419371"/>
                    <a:pt x="0" y="411762"/>
                  </a:cubicBezTo>
                  <a:lnTo>
                    <a:pt x="0" y="28691"/>
                  </a:lnTo>
                  <a:cubicBezTo>
                    <a:pt x="0" y="21081"/>
                    <a:pt x="3023" y="13784"/>
                    <a:pt x="8403" y="8403"/>
                  </a:cubicBezTo>
                  <a:cubicBezTo>
                    <a:pt x="13784" y="3023"/>
                    <a:pt x="21081" y="0"/>
                    <a:pt x="2869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0" y="-57150"/>
              <a:ext cx="748292" cy="497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175" tIns="229175" rIns="229175" bIns="2291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SCALING CINÉMATIQUE INVERSÉE</a:t>
              </a:r>
              <a:endParaRPr/>
            </a:p>
          </p:txBody>
        </p:sp>
      </p:grpSp>
      <p:sp>
        <p:nvSpPr>
          <p:cNvPr id="182" name="Google Shape;182;p5"/>
          <p:cNvSpPr txBox="1"/>
          <p:nvPr/>
        </p:nvSpPr>
        <p:spPr>
          <a:xfrm>
            <a:off x="7328130" y="1240157"/>
            <a:ext cx="3631740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MoCapIA 1.9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7328130" y="8881738"/>
            <a:ext cx="3631740" cy="54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MoCapIA 2.0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 rot="10132166" flipH="1">
            <a:off x="6782006" y="1326031"/>
            <a:ext cx="1092248" cy="35944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0" y="359449"/>
                </a:moveTo>
                <a:lnTo>
                  <a:pt x="1092248" y="359449"/>
                </a:lnTo>
                <a:lnTo>
                  <a:pt x="1092248" y="0"/>
                </a:lnTo>
                <a:lnTo>
                  <a:pt x="0" y="0"/>
                </a:lnTo>
                <a:lnTo>
                  <a:pt x="0" y="35944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5" name="Google Shape;185;p5"/>
          <p:cNvSpPr/>
          <p:nvPr/>
        </p:nvSpPr>
        <p:spPr>
          <a:xfrm rot="6984681">
            <a:off x="6667047" y="3647930"/>
            <a:ext cx="1263724" cy="396816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1092248" y="359449"/>
                </a:moveTo>
                <a:lnTo>
                  <a:pt x="0" y="359449"/>
                </a:lnTo>
                <a:lnTo>
                  <a:pt x="0" y="0"/>
                </a:lnTo>
                <a:lnTo>
                  <a:pt x="1092248" y="0"/>
                </a:lnTo>
                <a:lnTo>
                  <a:pt x="1092248" y="35944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5"/>
          <p:cNvSpPr/>
          <p:nvPr/>
        </p:nvSpPr>
        <p:spPr>
          <a:xfrm rot="10472482" flipH="1">
            <a:off x="10444245" y="3947332"/>
            <a:ext cx="1281621" cy="44641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1092248" y="0"/>
                </a:moveTo>
                <a:lnTo>
                  <a:pt x="0" y="0"/>
                </a:lnTo>
                <a:lnTo>
                  <a:pt x="0" y="359449"/>
                </a:lnTo>
                <a:lnTo>
                  <a:pt x="1092248" y="359449"/>
                </a:lnTo>
                <a:lnTo>
                  <a:pt x="1092248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7" name="Google Shape;187;p5"/>
          <p:cNvSpPr/>
          <p:nvPr/>
        </p:nvSpPr>
        <p:spPr>
          <a:xfrm rot="9018904" flipH="1">
            <a:off x="10200386" y="8362368"/>
            <a:ext cx="1092248" cy="35944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1092248" y="0"/>
                </a:moveTo>
                <a:lnTo>
                  <a:pt x="0" y="0"/>
                </a:lnTo>
                <a:lnTo>
                  <a:pt x="0" y="359449"/>
                </a:lnTo>
                <a:lnTo>
                  <a:pt x="1092248" y="359449"/>
                </a:lnTo>
                <a:lnTo>
                  <a:pt x="1092248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88" name="Google Shape;188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643490" y="1906030"/>
            <a:ext cx="2091774" cy="587256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 dirty="0"/>
          </a:p>
        </p:txBody>
      </p:sp>
      <p:sp>
        <p:nvSpPr>
          <p:cNvPr id="190" name="Google Shape;190;p5"/>
          <p:cNvSpPr/>
          <p:nvPr/>
        </p:nvSpPr>
        <p:spPr>
          <a:xfrm>
            <a:off x="2982361" y="1964103"/>
            <a:ext cx="1863647" cy="532214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Triangulation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114600" y="1923973"/>
            <a:ext cx="1728655" cy="596900"/>
          </a:xfrm>
          <a:prstGeom prst="roundRect">
            <a:avLst>
              <a:gd name="adj" fmla="val 16667"/>
            </a:avLst>
          </a:prstGeom>
          <a:solidFill>
            <a:srgbClr val="A20025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2D Estimation</a:t>
            </a:r>
            <a:endParaRPr dirty="0"/>
          </a:p>
        </p:txBody>
      </p:sp>
      <p:sp>
        <p:nvSpPr>
          <p:cNvPr id="192" name="Google Shape;192;p5"/>
          <p:cNvSpPr/>
          <p:nvPr/>
        </p:nvSpPr>
        <p:spPr>
          <a:xfrm rot="7818677" flipH="1">
            <a:off x="9811040" y="5031233"/>
            <a:ext cx="2229891" cy="562021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1092248" y="0"/>
                </a:moveTo>
                <a:lnTo>
                  <a:pt x="0" y="0"/>
                </a:lnTo>
                <a:lnTo>
                  <a:pt x="0" y="359449"/>
                </a:lnTo>
                <a:lnTo>
                  <a:pt x="1092248" y="359449"/>
                </a:lnTo>
                <a:lnTo>
                  <a:pt x="1092248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13487400" y="839968"/>
            <a:ext cx="32884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Visualisation OpenSim</a:t>
            </a:r>
            <a:endParaRPr/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699" y="4621805"/>
            <a:ext cx="7468134" cy="4560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6"/>
          <p:cNvGrpSpPr/>
          <p:nvPr/>
        </p:nvGrpSpPr>
        <p:grpSpPr>
          <a:xfrm>
            <a:off x="8768665" y="4879256"/>
            <a:ext cx="8996254" cy="4379044"/>
            <a:chOff x="0" y="0"/>
            <a:chExt cx="2369384" cy="1153328"/>
          </a:xfrm>
        </p:grpSpPr>
        <p:sp>
          <p:nvSpPr>
            <p:cNvPr id="200" name="Google Shape;200;p6"/>
            <p:cNvSpPr/>
            <p:nvPr/>
          </p:nvSpPr>
          <p:spPr>
            <a:xfrm>
              <a:off x="0" y="0"/>
              <a:ext cx="2369384" cy="1153328"/>
            </a:xfrm>
            <a:custGeom>
              <a:avLst/>
              <a:gdLst/>
              <a:ahLst/>
              <a:cxnLst/>
              <a:rect l="l" t="t" r="r" b="b"/>
              <a:pathLst>
                <a:path w="2369384" h="1153328" extrusionOk="0">
                  <a:moveTo>
                    <a:pt x="43889" y="0"/>
                  </a:moveTo>
                  <a:lnTo>
                    <a:pt x="2325494" y="0"/>
                  </a:lnTo>
                  <a:cubicBezTo>
                    <a:pt x="2349734" y="0"/>
                    <a:pt x="2369384" y="19650"/>
                    <a:pt x="2369384" y="43889"/>
                  </a:cubicBezTo>
                  <a:lnTo>
                    <a:pt x="2369384" y="1109439"/>
                  </a:lnTo>
                  <a:cubicBezTo>
                    <a:pt x="2369384" y="1133679"/>
                    <a:pt x="2349734" y="1153328"/>
                    <a:pt x="2325494" y="1153328"/>
                  </a:cubicBezTo>
                  <a:lnTo>
                    <a:pt x="43889" y="1153328"/>
                  </a:lnTo>
                  <a:cubicBezTo>
                    <a:pt x="19650" y="1153328"/>
                    <a:pt x="0" y="1133679"/>
                    <a:pt x="0" y="1109439"/>
                  </a:cubicBezTo>
                  <a:lnTo>
                    <a:pt x="0" y="43889"/>
                  </a:lnTo>
                  <a:cubicBezTo>
                    <a:pt x="0" y="19650"/>
                    <a:pt x="19650" y="0"/>
                    <a:pt x="43889" y="0"/>
                  </a:cubicBezTo>
                  <a:close/>
                </a:path>
              </a:pathLst>
            </a:custGeom>
            <a:noFill/>
            <a:ln w="47625" cap="rnd" cmpd="sng">
              <a:solidFill>
                <a:srgbClr val="EB4B3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 txBox="1"/>
            <p:nvPr/>
          </p:nvSpPr>
          <p:spPr>
            <a:xfrm>
              <a:off x="0" y="0"/>
              <a:ext cx="2369384" cy="1153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>
            <a:off x="8644350" y="4554617"/>
            <a:ext cx="9244884" cy="1409059"/>
            <a:chOff x="0" y="0"/>
            <a:chExt cx="2434867" cy="371110"/>
          </a:xfrm>
        </p:grpSpPr>
        <p:sp>
          <p:nvSpPr>
            <p:cNvPr id="203" name="Google Shape;203;p6"/>
            <p:cNvSpPr/>
            <p:nvPr/>
          </p:nvSpPr>
          <p:spPr>
            <a:xfrm>
              <a:off x="0" y="0"/>
              <a:ext cx="2434867" cy="371110"/>
            </a:xfrm>
            <a:custGeom>
              <a:avLst/>
              <a:gdLst/>
              <a:ahLst/>
              <a:cxnLst/>
              <a:rect l="l" t="t" r="r" b="b"/>
              <a:pathLst>
                <a:path w="2434867" h="371110" extrusionOk="0">
                  <a:moveTo>
                    <a:pt x="42709" y="0"/>
                  </a:moveTo>
                  <a:lnTo>
                    <a:pt x="2392158" y="0"/>
                  </a:lnTo>
                  <a:cubicBezTo>
                    <a:pt x="2415745" y="0"/>
                    <a:pt x="2434867" y="19121"/>
                    <a:pt x="2434867" y="42709"/>
                  </a:cubicBezTo>
                  <a:lnTo>
                    <a:pt x="2434867" y="328401"/>
                  </a:lnTo>
                  <a:cubicBezTo>
                    <a:pt x="2434867" y="351989"/>
                    <a:pt x="2415745" y="371110"/>
                    <a:pt x="2392158" y="371110"/>
                  </a:cubicBezTo>
                  <a:lnTo>
                    <a:pt x="42709" y="371110"/>
                  </a:lnTo>
                  <a:cubicBezTo>
                    <a:pt x="19121" y="371110"/>
                    <a:pt x="0" y="351989"/>
                    <a:pt x="0" y="328401"/>
                  </a:cubicBezTo>
                  <a:lnTo>
                    <a:pt x="0" y="42709"/>
                  </a:lnTo>
                  <a:cubicBezTo>
                    <a:pt x="0" y="19121"/>
                    <a:pt x="19121" y="0"/>
                    <a:pt x="42709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 w="95250" cap="rnd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 txBox="1"/>
            <p:nvPr/>
          </p:nvSpPr>
          <p:spPr>
            <a:xfrm>
              <a:off x="0" y="0"/>
              <a:ext cx="2434867" cy="371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6"/>
          <p:cNvGrpSpPr/>
          <p:nvPr/>
        </p:nvGrpSpPr>
        <p:grpSpPr>
          <a:xfrm>
            <a:off x="-1536774" y="460531"/>
            <a:ext cx="12927807" cy="3845881"/>
            <a:chOff x="0" y="-1062359"/>
            <a:chExt cx="17237076" cy="5127840"/>
          </a:xfrm>
        </p:grpSpPr>
        <p:grpSp>
          <p:nvGrpSpPr>
            <p:cNvPr id="206" name="Google Shape;206;p6"/>
            <p:cNvGrpSpPr/>
            <p:nvPr/>
          </p:nvGrpSpPr>
          <p:grpSpPr>
            <a:xfrm>
              <a:off x="0" y="-1062359"/>
              <a:ext cx="17237076" cy="5127840"/>
              <a:chOff x="0" y="-57150"/>
              <a:chExt cx="927273" cy="275854"/>
            </a:xfrm>
          </p:grpSpPr>
          <p:sp>
            <p:nvSpPr>
              <p:cNvPr id="207" name="Google Shape;207;p6"/>
              <p:cNvSpPr/>
              <p:nvPr/>
            </p:nvSpPr>
            <p:spPr>
              <a:xfrm>
                <a:off x="0" y="0"/>
                <a:ext cx="927273" cy="218704"/>
              </a:xfrm>
              <a:custGeom>
                <a:avLst/>
                <a:gdLst/>
                <a:ahLst/>
                <a:cxnLst/>
                <a:rect l="l" t="t" r="r" b="b"/>
                <a:pathLst>
                  <a:path w="927273" h="218704" extrusionOk="0">
                    <a:moveTo>
                      <a:pt x="29943" y="0"/>
                    </a:moveTo>
                    <a:lnTo>
                      <a:pt x="897330" y="0"/>
                    </a:lnTo>
                    <a:cubicBezTo>
                      <a:pt x="913867" y="0"/>
                      <a:pt x="927273" y="13406"/>
                      <a:pt x="927273" y="29943"/>
                    </a:cubicBezTo>
                    <a:lnTo>
                      <a:pt x="927273" y="188761"/>
                    </a:lnTo>
                    <a:cubicBezTo>
                      <a:pt x="927273" y="205298"/>
                      <a:pt x="913867" y="218704"/>
                      <a:pt x="897330" y="218704"/>
                    </a:cubicBezTo>
                    <a:lnTo>
                      <a:pt x="29943" y="218704"/>
                    </a:lnTo>
                    <a:cubicBezTo>
                      <a:pt x="13406" y="218704"/>
                      <a:pt x="0" y="205298"/>
                      <a:pt x="0" y="188761"/>
                    </a:cubicBezTo>
                    <a:lnTo>
                      <a:pt x="0" y="29943"/>
                    </a:lnTo>
                    <a:cubicBezTo>
                      <a:pt x="0" y="13406"/>
                      <a:pt x="13406" y="0"/>
                      <a:pt x="29943" y="0"/>
                    </a:cubicBezTo>
                    <a:close/>
                  </a:path>
                </a:pathLst>
              </a:custGeom>
              <a:solidFill>
                <a:srgbClr val="2310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6"/>
              <p:cNvSpPr txBox="1"/>
              <p:nvPr/>
            </p:nvSpPr>
            <p:spPr>
              <a:xfrm>
                <a:off x="0" y="-57150"/>
                <a:ext cx="927273" cy="2758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41300" tIns="241300" rIns="241300" bIns="241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78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" name="Google Shape;209;p6"/>
            <p:cNvSpPr/>
            <p:nvPr/>
          </p:nvSpPr>
          <p:spPr>
            <a:xfrm>
              <a:off x="2871918" y="338209"/>
              <a:ext cx="2935076" cy="3389063"/>
            </a:xfrm>
            <a:custGeom>
              <a:avLst/>
              <a:gdLst/>
              <a:ahLst/>
              <a:cxnLst/>
              <a:rect l="l" t="t" r="r" b="b"/>
              <a:pathLst>
                <a:path w="2935076" h="3389063" extrusionOk="0">
                  <a:moveTo>
                    <a:pt x="0" y="0"/>
                  </a:moveTo>
                  <a:lnTo>
                    <a:pt x="2935076" y="0"/>
                  </a:lnTo>
                  <a:lnTo>
                    <a:pt x="2935076" y="3389063"/>
                  </a:lnTo>
                  <a:lnTo>
                    <a:pt x="0" y="33890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0" name="Google Shape;210;p6"/>
            <p:cNvSpPr/>
            <p:nvPr/>
          </p:nvSpPr>
          <p:spPr>
            <a:xfrm>
              <a:off x="6554895" y="338209"/>
              <a:ext cx="2898952" cy="3389063"/>
            </a:xfrm>
            <a:custGeom>
              <a:avLst/>
              <a:gdLst/>
              <a:ahLst/>
              <a:cxnLst/>
              <a:rect l="l" t="t" r="r" b="b"/>
              <a:pathLst>
                <a:path w="2898952" h="3389063" extrusionOk="0">
                  <a:moveTo>
                    <a:pt x="0" y="0"/>
                  </a:moveTo>
                  <a:lnTo>
                    <a:pt x="2898952" y="0"/>
                  </a:lnTo>
                  <a:lnTo>
                    <a:pt x="2898952" y="3389063"/>
                  </a:lnTo>
                  <a:lnTo>
                    <a:pt x="0" y="33890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1" name="Google Shape;211;p6"/>
            <p:cNvSpPr/>
            <p:nvPr/>
          </p:nvSpPr>
          <p:spPr>
            <a:xfrm>
              <a:off x="10203147" y="340634"/>
              <a:ext cx="2759515" cy="3389063"/>
            </a:xfrm>
            <a:custGeom>
              <a:avLst/>
              <a:gdLst/>
              <a:ahLst/>
              <a:cxnLst/>
              <a:rect l="l" t="t" r="r" b="b"/>
              <a:pathLst>
                <a:path w="2759515" h="3389063" extrusionOk="0">
                  <a:moveTo>
                    <a:pt x="0" y="0"/>
                  </a:moveTo>
                  <a:lnTo>
                    <a:pt x="2759516" y="0"/>
                  </a:lnTo>
                  <a:lnTo>
                    <a:pt x="2759516" y="3389063"/>
                  </a:lnTo>
                  <a:lnTo>
                    <a:pt x="0" y="33890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2" name="Google Shape;212;p6"/>
            <p:cNvSpPr/>
            <p:nvPr/>
          </p:nvSpPr>
          <p:spPr>
            <a:xfrm rot="10800000" flipH="1">
              <a:off x="5098564" y="1796745"/>
              <a:ext cx="1456331" cy="479265"/>
            </a:xfrm>
            <a:custGeom>
              <a:avLst/>
              <a:gdLst/>
              <a:ahLst/>
              <a:cxnLst/>
              <a:rect l="l" t="t" r="r" b="b"/>
              <a:pathLst>
                <a:path w="1456331" h="479265" extrusionOk="0">
                  <a:moveTo>
                    <a:pt x="0" y="479266"/>
                  </a:moveTo>
                  <a:lnTo>
                    <a:pt x="1456331" y="479266"/>
                  </a:lnTo>
                  <a:lnTo>
                    <a:pt x="1456331" y="0"/>
                  </a:lnTo>
                  <a:lnTo>
                    <a:pt x="0" y="0"/>
                  </a:lnTo>
                  <a:lnTo>
                    <a:pt x="0" y="479266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3" name="Google Shape;213;p6"/>
            <p:cNvSpPr/>
            <p:nvPr/>
          </p:nvSpPr>
          <p:spPr>
            <a:xfrm rot="10800000" flipH="1">
              <a:off x="8725682" y="1796745"/>
              <a:ext cx="1456331" cy="479265"/>
            </a:xfrm>
            <a:custGeom>
              <a:avLst/>
              <a:gdLst/>
              <a:ahLst/>
              <a:cxnLst/>
              <a:rect l="l" t="t" r="r" b="b"/>
              <a:pathLst>
                <a:path w="1456331" h="479265" extrusionOk="0">
                  <a:moveTo>
                    <a:pt x="0" y="479266"/>
                  </a:moveTo>
                  <a:lnTo>
                    <a:pt x="1456331" y="479266"/>
                  </a:lnTo>
                  <a:lnTo>
                    <a:pt x="1456331" y="0"/>
                  </a:lnTo>
                  <a:lnTo>
                    <a:pt x="0" y="0"/>
                  </a:lnTo>
                  <a:lnTo>
                    <a:pt x="0" y="479266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4" name="Google Shape;214;p6"/>
            <p:cNvSpPr/>
            <p:nvPr/>
          </p:nvSpPr>
          <p:spPr>
            <a:xfrm>
              <a:off x="13711963" y="338209"/>
              <a:ext cx="3021827" cy="3389063"/>
            </a:xfrm>
            <a:custGeom>
              <a:avLst/>
              <a:gdLst/>
              <a:ahLst/>
              <a:cxnLst/>
              <a:rect l="l" t="t" r="r" b="b"/>
              <a:pathLst>
                <a:path w="3021827" h="3389063" extrusionOk="0">
                  <a:moveTo>
                    <a:pt x="0" y="0"/>
                  </a:moveTo>
                  <a:lnTo>
                    <a:pt x="3021826" y="0"/>
                  </a:lnTo>
                  <a:lnTo>
                    <a:pt x="3021826" y="3389063"/>
                  </a:lnTo>
                  <a:lnTo>
                    <a:pt x="0" y="33890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15" name="Google Shape;215;p6"/>
            <p:cNvSpPr/>
            <p:nvPr/>
          </p:nvSpPr>
          <p:spPr>
            <a:xfrm rot="10800000" flipH="1">
              <a:off x="12284254" y="1793108"/>
              <a:ext cx="1456331" cy="479265"/>
            </a:xfrm>
            <a:custGeom>
              <a:avLst/>
              <a:gdLst/>
              <a:ahLst/>
              <a:cxnLst/>
              <a:rect l="l" t="t" r="r" b="b"/>
              <a:pathLst>
                <a:path w="1456331" h="479265" extrusionOk="0">
                  <a:moveTo>
                    <a:pt x="0" y="479265"/>
                  </a:moveTo>
                  <a:lnTo>
                    <a:pt x="1456331" y="479265"/>
                  </a:lnTo>
                  <a:lnTo>
                    <a:pt x="1456331" y="0"/>
                  </a:lnTo>
                  <a:lnTo>
                    <a:pt x="0" y="0"/>
                  </a:lnTo>
                  <a:lnTo>
                    <a:pt x="0" y="479265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16" name="Google Shape;216;p6"/>
          <p:cNvSpPr txBox="1"/>
          <p:nvPr/>
        </p:nvSpPr>
        <p:spPr>
          <a:xfrm>
            <a:off x="1028700" y="431799"/>
            <a:ext cx="68961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Recherche complémentaire SAM3D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0" y="8127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9582318" y="5011336"/>
            <a:ext cx="2681488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rPr>
              <a:t>LES AVANTAGES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13758909" y="5011336"/>
            <a:ext cx="3238465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rPr>
              <a:t>LES INCONVÉNIENTS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9153504" y="6477556"/>
            <a:ext cx="3926390" cy="2199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Une seule caméra nécessaire</a:t>
            </a: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Pas de calibration</a:t>
            </a:r>
            <a:endParaRPr/>
          </a:p>
          <a:p>
            <a:pPr marL="226695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Précision angulaire</a:t>
            </a: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13571905" y="6663504"/>
            <a:ext cx="3754268" cy="182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Saut de Référentiel</a:t>
            </a: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0" marR="0" lvl="1" indent="-933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Mauvaise Echelle</a:t>
            </a:r>
            <a:endParaRPr/>
          </a:p>
          <a:p>
            <a:pPr marL="453390" marR="0" lvl="1" indent="-933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 i="0" u="none" strike="noStrike" cap="none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3390" marR="0" lvl="1" indent="-2266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i="0" u="none" strike="noStrike" cap="none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Effet “boîte noire”</a:t>
            </a:r>
            <a:endParaRPr/>
          </a:p>
        </p:txBody>
      </p:sp>
      <p:pic>
        <p:nvPicPr>
          <p:cNvPr id="223" name="Google Shape;22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1073" y="4620292"/>
            <a:ext cx="8191202" cy="4771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/>
          <p:nvPr/>
        </p:nvSpPr>
        <p:spPr>
          <a:xfrm>
            <a:off x="12410533" y="2134284"/>
            <a:ext cx="4348174" cy="1295400"/>
          </a:xfrm>
          <a:prstGeom prst="roundRect">
            <a:avLst>
              <a:gd name="adj" fmla="val 16667"/>
            </a:avLst>
          </a:prstGeom>
          <a:solidFill>
            <a:srgbClr val="231076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Sortie le 19 novembre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7"/>
          <p:cNvCxnSpPr/>
          <p:nvPr/>
        </p:nvCxnSpPr>
        <p:spPr>
          <a:xfrm>
            <a:off x="10176732" y="1626881"/>
            <a:ext cx="0" cy="5879826"/>
          </a:xfrm>
          <a:prstGeom prst="straightConnector1">
            <a:avLst/>
          </a:prstGeom>
          <a:noFill/>
          <a:ln w="38100" cap="flat" cmpd="sng">
            <a:solidFill>
              <a:srgbClr val="EB4B3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7"/>
          <p:cNvCxnSpPr/>
          <p:nvPr/>
        </p:nvCxnSpPr>
        <p:spPr>
          <a:xfrm>
            <a:off x="1028700" y="1626900"/>
            <a:ext cx="0" cy="7351553"/>
          </a:xfrm>
          <a:prstGeom prst="straightConnector1">
            <a:avLst/>
          </a:prstGeom>
          <a:noFill/>
          <a:ln w="38100" cap="flat" cmpd="sng">
            <a:solidFill>
              <a:srgbClr val="EB4C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2" name="Google Shape;232;p7"/>
          <p:cNvGrpSpPr/>
          <p:nvPr/>
        </p:nvGrpSpPr>
        <p:grpSpPr>
          <a:xfrm>
            <a:off x="-33530" y="7192737"/>
            <a:ext cx="18321526" cy="2283483"/>
            <a:chOff x="-8831" y="0"/>
            <a:chExt cx="4825423" cy="644363"/>
          </a:xfrm>
        </p:grpSpPr>
        <p:sp>
          <p:nvSpPr>
            <p:cNvPr id="233" name="Google Shape;233;p7"/>
            <p:cNvSpPr/>
            <p:nvPr/>
          </p:nvSpPr>
          <p:spPr>
            <a:xfrm>
              <a:off x="0" y="0"/>
              <a:ext cx="4816592" cy="598253"/>
            </a:xfrm>
            <a:custGeom>
              <a:avLst/>
              <a:gdLst/>
              <a:ahLst/>
              <a:cxnLst/>
              <a:rect l="l" t="t" r="r" b="b"/>
              <a:pathLst>
                <a:path w="4816592" h="544017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544017"/>
                  </a:lnTo>
                  <a:lnTo>
                    <a:pt x="0" y="544017"/>
                  </a:ln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</p:sp>
        <p:sp>
          <p:nvSpPr>
            <p:cNvPr id="234" name="Google Shape;234;p7"/>
            <p:cNvSpPr txBox="1"/>
            <p:nvPr/>
          </p:nvSpPr>
          <p:spPr>
            <a:xfrm>
              <a:off x="-8831" y="33671"/>
              <a:ext cx="2437197" cy="6106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496571" marR="0" lvl="1" indent="-248284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Arial"/>
                <a:buChar char="•"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Vicon comme référence ? Nécessite une expertise</a:t>
              </a:r>
              <a:endParaRPr/>
            </a:p>
            <a:p>
              <a:pPr marL="496571" marR="0" lvl="1" indent="-248284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Arial"/>
                <a:buChar char="•"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Ancienne version de Python</a:t>
              </a:r>
              <a:endParaRPr/>
            </a:p>
            <a:p>
              <a:pPr marL="496571" marR="0" lvl="1" indent="-248284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00"/>
                <a:buFont typeface="Arial"/>
                <a:buChar char="•"/>
              </a:pPr>
              <a:r>
                <a:rPr lang="en-US" sz="2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Cahier des charges et SAM 3D</a:t>
              </a: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914400" y="1040309"/>
            <a:ext cx="8891622" cy="1068469"/>
            <a:chOff x="0" y="-57150"/>
            <a:chExt cx="2327500" cy="281407"/>
          </a:xfrm>
        </p:grpSpPr>
        <p:sp>
          <p:nvSpPr>
            <p:cNvPr id="236" name="Google Shape;236;p7"/>
            <p:cNvSpPr/>
            <p:nvPr/>
          </p:nvSpPr>
          <p:spPr>
            <a:xfrm>
              <a:off x="0" y="0"/>
              <a:ext cx="2327500" cy="224257"/>
            </a:xfrm>
            <a:custGeom>
              <a:avLst/>
              <a:gdLst/>
              <a:ahLst/>
              <a:cxnLst/>
              <a:rect l="l" t="t" r="r" b="b"/>
              <a:pathLst>
                <a:path w="2327500" h="224257" extrusionOk="0">
                  <a:moveTo>
                    <a:pt x="8761" y="0"/>
                  </a:moveTo>
                  <a:lnTo>
                    <a:pt x="2318739" y="0"/>
                  </a:lnTo>
                  <a:cubicBezTo>
                    <a:pt x="2321063" y="0"/>
                    <a:pt x="2323291" y="923"/>
                    <a:pt x="2324934" y="2566"/>
                  </a:cubicBezTo>
                  <a:cubicBezTo>
                    <a:pt x="2326577" y="4209"/>
                    <a:pt x="2327500" y="6437"/>
                    <a:pt x="2327500" y="8761"/>
                  </a:cubicBezTo>
                  <a:lnTo>
                    <a:pt x="2327500" y="215497"/>
                  </a:lnTo>
                  <a:cubicBezTo>
                    <a:pt x="2327500" y="220335"/>
                    <a:pt x="2323578" y="224257"/>
                    <a:pt x="2318739" y="224257"/>
                  </a:cubicBezTo>
                  <a:lnTo>
                    <a:pt x="8761" y="224257"/>
                  </a:lnTo>
                  <a:cubicBezTo>
                    <a:pt x="3922" y="224257"/>
                    <a:pt x="0" y="220335"/>
                    <a:pt x="0" y="215497"/>
                  </a:cubicBezTo>
                  <a:lnTo>
                    <a:pt x="0" y="8761"/>
                  </a:lnTo>
                  <a:cubicBezTo>
                    <a:pt x="0" y="3922"/>
                    <a:pt x="3922" y="0"/>
                    <a:pt x="876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0" y="-57150"/>
              <a:ext cx="2327500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ANALYSE DES RÉSULTATS</a:t>
              </a:r>
              <a:endParaRPr/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10058400" y="1037938"/>
            <a:ext cx="8837226" cy="1089777"/>
            <a:chOff x="0" y="-57150"/>
            <a:chExt cx="2327500" cy="287019"/>
          </a:xfrm>
        </p:grpSpPr>
        <p:sp>
          <p:nvSpPr>
            <p:cNvPr id="239" name="Google Shape;239;p7"/>
            <p:cNvSpPr/>
            <p:nvPr/>
          </p:nvSpPr>
          <p:spPr>
            <a:xfrm>
              <a:off x="0" y="5612"/>
              <a:ext cx="2327500" cy="224257"/>
            </a:xfrm>
            <a:custGeom>
              <a:avLst/>
              <a:gdLst/>
              <a:ahLst/>
              <a:cxnLst/>
              <a:rect l="l" t="t" r="r" b="b"/>
              <a:pathLst>
                <a:path w="2327500" h="224257" extrusionOk="0">
                  <a:moveTo>
                    <a:pt x="8761" y="0"/>
                  </a:moveTo>
                  <a:lnTo>
                    <a:pt x="2318739" y="0"/>
                  </a:lnTo>
                  <a:cubicBezTo>
                    <a:pt x="2321063" y="0"/>
                    <a:pt x="2323291" y="923"/>
                    <a:pt x="2324934" y="2566"/>
                  </a:cubicBezTo>
                  <a:cubicBezTo>
                    <a:pt x="2326577" y="4209"/>
                    <a:pt x="2327500" y="6437"/>
                    <a:pt x="2327500" y="8761"/>
                  </a:cubicBezTo>
                  <a:lnTo>
                    <a:pt x="2327500" y="215497"/>
                  </a:lnTo>
                  <a:cubicBezTo>
                    <a:pt x="2327500" y="220335"/>
                    <a:pt x="2323578" y="224257"/>
                    <a:pt x="2318739" y="224257"/>
                  </a:cubicBezTo>
                  <a:lnTo>
                    <a:pt x="8761" y="224257"/>
                  </a:lnTo>
                  <a:cubicBezTo>
                    <a:pt x="3922" y="224257"/>
                    <a:pt x="0" y="220335"/>
                    <a:pt x="0" y="215497"/>
                  </a:cubicBezTo>
                  <a:lnTo>
                    <a:pt x="0" y="8761"/>
                  </a:lnTo>
                  <a:cubicBezTo>
                    <a:pt x="0" y="3922"/>
                    <a:pt x="3922" y="0"/>
                    <a:pt x="876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0" y="-57150"/>
              <a:ext cx="2327500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ANALYSE RÉFLÉXIVE ET PERSONNELLE</a:t>
              </a:r>
              <a:endParaRPr/>
            </a:p>
          </p:txBody>
        </p:sp>
      </p:grpSp>
      <p:sp>
        <p:nvSpPr>
          <p:cNvPr id="241" name="Google Shape;241;p7"/>
          <p:cNvSpPr/>
          <p:nvPr/>
        </p:nvSpPr>
        <p:spPr>
          <a:xfrm>
            <a:off x="16551792" y="2242847"/>
            <a:ext cx="669408" cy="669408"/>
          </a:xfrm>
          <a:custGeom>
            <a:avLst/>
            <a:gdLst/>
            <a:ahLst/>
            <a:cxnLst/>
            <a:rect l="l" t="t" r="r" b="b"/>
            <a:pathLst>
              <a:path w="669408" h="669408" extrusionOk="0">
                <a:moveTo>
                  <a:pt x="0" y="0"/>
                </a:moveTo>
                <a:lnTo>
                  <a:pt x="669408" y="0"/>
                </a:lnTo>
                <a:lnTo>
                  <a:pt x="669408" y="669408"/>
                </a:lnTo>
                <a:lnTo>
                  <a:pt x="0" y="669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2" name="Google Shape;242;p7"/>
          <p:cNvSpPr/>
          <p:nvPr/>
        </p:nvSpPr>
        <p:spPr>
          <a:xfrm>
            <a:off x="16551792" y="3931766"/>
            <a:ext cx="669408" cy="678334"/>
          </a:xfrm>
          <a:custGeom>
            <a:avLst/>
            <a:gdLst/>
            <a:ahLst/>
            <a:cxnLst/>
            <a:rect l="l" t="t" r="r" b="b"/>
            <a:pathLst>
              <a:path w="669408" h="678334" extrusionOk="0">
                <a:moveTo>
                  <a:pt x="0" y="0"/>
                </a:moveTo>
                <a:lnTo>
                  <a:pt x="669408" y="0"/>
                </a:lnTo>
                <a:lnTo>
                  <a:pt x="669408" y="678333"/>
                </a:lnTo>
                <a:lnTo>
                  <a:pt x="0" y="678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p7"/>
          <p:cNvSpPr/>
          <p:nvPr/>
        </p:nvSpPr>
        <p:spPr>
          <a:xfrm>
            <a:off x="16589893" y="5358687"/>
            <a:ext cx="669407" cy="684530"/>
          </a:xfrm>
          <a:custGeom>
            <a:avLst/>
            <a:gdLst/>
            <a:ahLst/>
            <a:cxnLst/>
            <a:rect l="l" t="t" r="r" b="b"/>
            <a:pathLst>
              <a:path w="669408" h="669408" extrusionOk="0">
                <a:moveTo>
                  <a:pt x="0" y="0"/>
                </a:moveTo>
                <a:lnTo>
                  <a:pt x="669408" y="0"/>
                </a:lnTo>
                <a:lnTo>
                  <a:pt x="669408" y="669409"/>
                </a:lnTo>
                <a:lnTo>
                  <a:pt x="0" y="669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4" name="Google Shape;244;p7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804033" y="7301482"/>
            <a:ext cx="5158581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dirty="0">
                <a:solidFill>
                  <a:srgbClr val="FBFBF9"/>
                </a:solidFill>
                <a:latin typeface="Arial"/>
                <a:ea typeface="Arial"/>
                <a:cs typeface="Arial"/>
                <a:sym typeface="Arial"/>
              </a:rPr>
              <a:t>CRITIQUES ET PERSPECTIVES</a:t>
            </a:r>
            <a:endParaRPr dirty="0"/>
          </a:p>
        </p:txBody>
      </p:sp>
      <p:sp>
        <p:nvSpPr>
          <p:cNvPr id="248" name="Google Shape;248;p7"/>
          <p:cNvSpPr txBox="1"/>
          <p:nvPr/>
        </p:nvSpPr>
        <p:spPr>
          <a:xfrm>
            <a:off x="1191889" y="2269456"/>
            <a:ext cx="8710083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Phase de test</a:t>
            </a:r>
            <a:endParaRPr dirty="0"/>
          </a:p>
          <a:p>
            <a:pPr marL="342900" marR="0" lvl="0" indent="-20955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None/>
            </a:pP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Amélioration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du processus</a:t>
            </a:r>
            <a:endParaRPr dirty="0"/>
          </a:p>
          <a:p>
            <a:pPr marL="342900" marR="0" lvl="0" indent="-20955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None/>
            </a:pP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Recherche sur SAM3D</a:t>
            </a:r>
            <a:endParaRPr dirty="0"/>
          </a:p>
        </p:txBody>
      </p:sp>
      <p:sp>
        <p:nvSpPr>
          <p:cNvPr id="249" name="Google Shape;249;p7"/>
          <p:cNvSpPr txBox="1"/>
          <p:nvPr/>
        </p:nvSpPr>
        <p:spPr>
          <a:xfrm>
            <a:off x="11095565" y="2320288"/>
            <a:ext cx="8710083" cy="34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Rigueur du processus en laboratoire</a:t>
            </a: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11095565" y="3991785"/>
            <a:ext cx="4615590" cy="34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Coordination avec ma collègue</a:t>
            </a: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11074403" y="5680578"/>
            <a:ext cx="8710083" cy="34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Veille scientifique/technologique</a:t>
            </a:r>
            <a:endParaRPr sz="2100" b="1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 rot="-10251107" flipH="1">
            <a:off x="9687184" y="2147736"/>
            <a:ext cx="1092248" cy="35944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0" y="359449"/>
                </a:moveTo>
                <a:lnTo>
                  <a:pt x="1092248" y="359449"/>
                </a:lnTo>
                <a:lnTo>
                  <a:pt x="1092248" y="0"/>
                </a:lnTo>
                <a:lnTo>
                  <a:pt x="0" y="0"/>
                </a:lnTo>
                <a:lnTo>
                  <a:pt x="0" y="35944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3" name="Google Shape;253;p7"/>
          <p:cNvSpPr/>
          <p:nvPr/>
        </p:nvSpPr>
        <p:spPr>
          <a:xfrm rot="-8795040" flipH="1">
            <a:off x="9925912" y="3329028"/>
            <a:ext cx="1092248" cy="359449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0" y="359448"/>
                </a:moveTo>
                <a:lnTo>
                  <a:pt x="1092248" y="359448"/>
                </a:lnTo>
                <a:lnTo>
                  <a:pt x="1092248" y="0"/>
                </a:lnTo>
                <a:lnTo>
                  <a:pt x="0" y="0"/>
                </a:lnTo>
                <a:lnTo>
                  <a:pt x="0" y="35944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54" name="Google Shape;25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10972800" y="7905571"/>
            <a:ext cx="67818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 de relation client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Stage en entreprise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 rot="-7914195" flipH="1">
            <a:off x="9771101" y="4465896"/>
            <a:ext cx="1352151" cy="467186"/>
          </a:xfrm>
          <a:custGeom>
            <a:avLst/>
            <a:gdLst/>
            <a:ahLst/>
            <a:cxnLst/>
            <a:rect l="l" t="t" r="r" b="b"/>
            <a:pathLst>
              <a:path w="1092248" h="359449" extrusionOk="0">
                <a:moveTo>
                  <a:pt x="0" y="359448"/>
                </a:moveTo>
                <a:lnTo>
                  <a:pt x="1092248" y="359448"/>
                </a:lnTo>
                <a:lnTo>
                  <a:pt x="1092248" y="0"/>
                </a:lnTo>
                <a:lnTo>
                  <a:pt x="0" y="0"/>
                </a:lnTo>
                <a:lnTo>
                  <a:pt x="0" y="35944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7"/>
          <p:cNvCxnSpPr/>
          <p:nvPr/>
        </p:nvCxnSpPr>
        <p:spPr>
          <a:xfrm rot="10800000">
            <a:off x="9786657" y="4787510"/>
            <a:ext cx="390077" cy="0"/>
          </a:xfrm>
          <a:prstGeom prst="straightConnector1">
            <a:avLst/>
          </a:prstGeom>
          <a:noFill/>
          <a:ln w="38100" cap="flat" cmpd="sng">
            <a:solidFill>
              <a:srgbClr val="EB4B3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58" name="Google Shape;258;p7"/>
          <p:cNvGrpSpPr/>
          <p:nvPr/>
        </p:nvGrpSpPr>
        <p:grpSpPr>
          <a:xfrm>
            <a:off x="914400" y="4231694"/>
            <a:ext cx="8891622" cy="923983"/>
            <a:chOff x="0" y="-57150"/>
            <a:chExt cx="2327500" cy="281407"/>
          </a:xfrm>
        </p:grpSpPr>
        <p:sp>
          <p:nvSpPr>
            <p:cNvPr id="259" name="Google Shape;259;p7"/>
            <p:cNvSpPr/>
            <p:nvPr/>
          </p:nvSpPr>
          <p:spPr>
            <a:xfrm>
              <a:off x="0" y="0"/>
              <a:ext cx="2327500" cy="224257"/>
            </a:xfrm>
            <a:custGeom>
              <a:avLst/>
              <a:gdLst/>
              <a:ahLst/>
              <a:cxnLst/>
              <a:rect l="l" t="t" r="r" b="b"/>
              <a:pathLst>
                <a:path w="2327500" h="224257" extrusionOk="0">
                  <a:moveTo>
                    <a:pt x="8761" y="0"/>
                  </a:moveTo>
                  <a:lnTo>
                    <a:pt x="2318739" y="0"/>
                  </a:lnTo>
                  <a:cubicBezTo>
                    <a:pt x="2321063" y="0"/>
                    <a:pt x="2323291" y="923"/>
                    <a:pt x="2324934" y="2566"/>
                  </a:cubicBezTo>
                  <a:cubicBezTo>
                    <a:pt x="2326577" y="4209"/>
                    <a:pt x="2327500" y="6437"/>
                    <a:pt x="2327500" y="8761"/>
                  </a:cubicBezTo>
                  <a:lnTo>
                    <a:pt x="2327500" y="215497"/>
                  </a:lnTo>
                  <a:cubicBezTo>
                    <a:pt x="2327500" y="220335"/>
                    <a:pt x="2323578" y="224257"/>
                    <a:pt x="2318739" y="224257"/>
                  </a:cubicBezTo>
                  <a:lnTo>
                    <a:pt x="8761" y="224257"/>
                  </a:lnTo>
                  <a:cubicBezTo>
                    <a:pt x="3922" y="224257"/>
                    <a:pt x="0" y="220335"/>
                    <a:pt x="0" y="215497"/>
                  </a:cubicBezTo>
                  <a:lnTo>
                    <a:pt x="0" y="8761"/>
                  </a:lnTo>
                  <a:cubicBezTo>
                    <a:pt x="0" y="3922"/>
                    <a:pt x="3922" y="0"/>
                    <a:pt x="8761" y="0"/>
                  </a:cubicBezTo>
                  <a:close/>
                </a:path>
              </a:pathLst>
            </a:custGeom>
            <a:gradFill>
              <a:gsLst>
                <a:gs pos="0">
                  <a:srgbClr val="EB4B3F"/>
                </a:gs>
                <a:gs pos="100000">
                  <a:srgbClr val="F0945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 txBox="1"/>
            <p:nvPr/>
          </p:nvSpPr>
          <p:spPr>
            <a:xfrm>
              <a:off x="0" y="-57150"/>
              <a:ext cx="2327500" cy="2814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1300" tIns="241300" rIns="241300" bIns="241300" anchor="ctr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ANALYSE TECHNIQUE GLOBALE</a:t>
              </a:r>
              <a:endParaRPr/>
            </a:p>
          </p:txBody>
        </p:sp>
      </p:grpSp>
      <p:sp>
        <p:nvSpPr>
          <p:cNvPr id="261" name="Google Shape;261;p7"/>
          <p:cNvSpPr txBox="1"/>
          <p:nvPr/>
        </p:nvSpPr>
        <p:spPr>
          <a:xfrm>
            <a:off x="1197011" y="5343326"/>
            <a:ext cx="828635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Programmation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Orientée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Objet</a:t>
            </a: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Utilisation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quotidienne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de Git</a:t>
            </a:r>
            <a:endParaRPr dirty="0"/>
          </a:p>
          <a:p>
            <a:pPr marL="342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31076"/>
              </a:buClr>
              <a:buSzPts val="2100"/>
              <a:buFont typeface="Arial"/>
              <a:buChar char="•"/>
            </a:pP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Compétences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100" b="1" dirty="0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 vision par </a:t>
            </a:r>
            <a:r>
              <a:rPr lang="en-US" sz="2100" b="1" dirty="0" err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ordinateur</a:t>
            </a:r>
            <a:endParaRPr sz="2100" b="1" dirty="0">
              <a:solidFill>
                <a:srgbClr val="2310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642861" y="2933700"/>
            <a:ext cx="17002278" cy="5058178"/>
          </a:xfrm>
          <a:custGeom>
            <a:avLst/>
            <a:gdLst/>
            <a:ahLst/>
            <a:cxnLst/>
            <a:rect l="l" t="t" r="r" b="b"/>
            <a:pathLst>
              <a:path w="17002278" h="5058178" extrusionOk="0">
                <a:moveTo>
                  <a:pt x="0" y="0"/>
                </a:moveTo>
                <a:lnTo>
                  <a:pt x="17002278" y="0"/>
                </a:lnTo>
                <a:lnTo>
                  <a:pt x="17002278" y="5058178"/>
                </a:lnTo>
                <a:lnTo>
                  <a:pt x="0" y="5058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7" name="Google Shape;267;p8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617164" y="1092447"/>
            <a:ext cx="17002278" cy="40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Synchronisation Vicon - MoCap</a:t>
            </a:r>
            <a:endParaRPr/>
          </a:p>
        </p:txBody>
      </p:sp>
      <p:pic>
        <p:nvPicPr>
          <p:cNvPr id="271" name="Google Shape;27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/>
          <p:nvPr/>
        </p:nvSpPr>
        <p:spPr>
          <a:xfrm>
            <a:off x="3551917" y="2268196"/>
            <a:ext cx="11184166" cy="6990104"/>
          </a:xfrm>
          <a:custGeom>
            <a:avLst/>
            <a:gdLst/>
            <a:ahLst/>
            <a:cxnLst/>
            <a:rect l="l" t="t" r="r" b="b"/>
            <a:pathLst>
              <a:path w="11184166" h="6990104" extrusionOk="0">
                <a:moveTo>
                  <a:pt x="0" y="0"/>
                </a:moveTo>
                <a:lnTo>
                  <a:pt x="11184166" y="0"/>
                </a:lnTo>
                <a:lnTo>
                  <a:pt x="11184166" y="6990104"/>
                </a:lnTo>
                <a:lnTo>
                  <a:pt x="0" y="6990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7" name="Google Shape;277;p9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80" name="Google Shape;280;p9"/>
          <p:cNvSpPr txBox="1"/>
          <p:nvPr/>
        </p:nvSpPr>
        <p:spPr>
          <a:xfrm>
            <a:off x="6842105" y="1019175"/>
            <a:ext cx="4603790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Analyse Vicon – MoCapIA : Positions</a:t>
            </a:r>
            <a:endParaRPr/>
          </a:p>
        </p:txBody>
      </p:sp>
      <p:pic>
        <p:nvPicPr>
          <p:cNvPr id="281" name="Google Shape;2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15773422" y="9349627"/>
            <a:ext cx="2447903" cy="864416"/>
          </a:xfrm>
          <a:custGeom>
            <a:avLst/>
            <a:gdLst/>
            <a:ahLst/>
            <a:cxnLst/>
            <a:rect l="l" t="t" r="r" b="b"/>
            <a:pathLst>
              <a:path w="2447903" h="864416" extrusionOk="0">
                <a:moveTo>
                  <a:pt x="0" y="0"/>
                </a:moveTo>
                <a:lnTo>
                  <a:pt x="2447903" y="0"/>
                </a:lnTo>
                <a:lnTo>
                  <a:pt x="2447903" y="864415"/>
                </a:lnTo>
                <a:lnTo>
                  <a:pt x="0" y="864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7" name="Google Shape;287;p10"/>
          <p:cNvSpPr/>
          <p:nvPr/>
        </p:nvSpPr>
        <p:spPr>
          <a:xfrm>
            <a:off x="3359928" y="2476475"/>
            <a:ext cx="11568145" cy="6781825"/>
          </a:xfrm>
          <a:custGeom>
            <a:avLst/>
            <a:gdLst/>
            <a:ahLst/>
            <a:cxnLst/>
            <a:rect l="l" t="t" r="r" b="b"/>
            <a:pathLst>
              <a:path w="11568145" h="6781825" extrusionOk="0">
                <a:moveTo>
                  <a:pt x="0" y="0"/>
                </a:moveTo>
                <a:lnTo>
                  <a:pt x="11568144" y="0"/>
                </a:lnTo>
                <a:lnTo>
                  <a:pt x="11568144" y="6781825"/>
                </a:lnTo>
                <a:lnTo>
                  <a:pt x="0" y="67818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8" name="Google Shape;288;p10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6995160" y="1149597"/>
            <a:ext cx="4297680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Analyse Vicon – MoCapIA : Angles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3327114" y="2292579"/>
            <a:ext cx="11633772" cy="6965721"/>
          </a:xfrm>
          <a:custGeom>
            <a:avLst/>
            <a:gdLst/>
            <a:ahLst/>
            <a:cxnLst/>
            <a:rect l="l" t="t" r="r" b="b"/>
            <a:pathLst>
              <a:path w="11633772" h="6965721" extrusionOk="0">
                <a:moveTo>
                  <a:pt x="0" y="0"/>
                </a:moveTo>
                <a:lnTo>
                  <a:pt x="11633772" y="0"/>
                </a:lnTo>
                <a:lnTo>
                  <a:pt x="11633772" y="6965721"/>
                </a:lnTo>
                <a:lnTo>
                  <a:pt x="0" y="69657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7" name="Google Shape;297;p11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99" name="Google Shape;299;p11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3327114" y="1149597"/>
            <a:ext cx="11633772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Zoom Filtre Hampel</a:t>
            </a:r>
            <a:endParaRPr/>
          </a:p>
        </p:txBody>
      </p:sp>
      <p:pic>
        <p:nvPicPr>
          <p:cNvPr id="301" name="Google Shape;30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567049" y="4219342"/>
            <a:ext cx="17153901" cy="5038958"/>
          </a:xfrm>
          <a:custGeom>
            <a:avLst/>
            <a:gdLst/>
            <a:ahLst/>
            <a:cxnLst/>
            <a:rect l="l" t="t" r="r" b="b"/>
            <a:pathLst>
              <a:path w="17153901" h="5038958" extrusionOk="0">
                <a:moveTo>
                  <a:pt x="0" y="0"/>
                </a:moveTo>
                <a:lnTo>
                  <a:pt x="17153902" y="0"/>
                </a:lnTo>
                <a:lnTo>
                  <a:pt x="17153902" y="5038958"/>
                </a:lnTo>
                <a:lnTo>
                  <a:pt x="0" y="5038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7" name="Google Shape;307;p12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567049" y="1149597"/>
            <a:ext cx="17153901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Autres filtres</a:t>
            </a:r>
            <a:endParaRPr/>
          </a:p>
        </p:txBody>
      </p:sp>
      <p:pic>
        <p:nvPicPr>
          <p:cNvPr id="311" name="Google Shape;31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/>
          <p:nvPr/>
        </p:nvSpPr>
        <p:spPr>
          <a:xfrm>
            <a:off x="577430" y="4246857"/>
            <a:ext cx="17133140" cy="5011443"/>
          </a:xfrm>
          <a:custGeom>
            <a:avLst/>
            <a:gdLst/>
            <a:ahLst/>
            <a:cxnLst/>
            <a:rect l="l" t="t" r="r" b="b"/>
            <a:pathLst>
              <a:path w="17133140" h="5011443" extrusionOk="0">
                <a:moveTo>
                  <a:pt x="0" y="0"/>
                </a:moveTo>
                <a:lnTo>
                  <a:pt x="17133140" y="0"/>
                </a:lnTo>
                <a:lnTo>
                  <a:pt x="17133140" y="5011443"/>
                </a:lnTo>
                <a:lnTo>
                  <a:pt x="0" y="5011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7" name="Google Shape;317;p13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567049" y="1149597"/>
            <a:ext cx="17153901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Autres filtres</a:t>
            </a:r>
            <a:endParaRPr/>
          </a:p>
        </p:txBody>
      </p:sp>
      <p:pic>
        <p:nvPicPr>
          <p:cNvPr id="321" name="Google Shape;32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615056" y="4140934"/>
            <a:ext cx="17057888" cy="5117366"/>
          </a:xfrm>
          <a:custGeom>
            <a:avLst/>
            <a:gdLst/>
            <a:ahLst/>
            <a:cxnLst/>
            <a:rect l="l" t="t" r="r" b="b"/>
            <a:pathLst>
              <a:path w="17057888" h="5117366" extrusionOk="0">
                <a:moveTo>
                  <a:pt x="0" y="0"/>
                </a:moveTo>
                <a:lnTo>
                  <a:pt x="17057888" y="0"/>
                </a:lnTo>
                <a:lnTo>
                  <a:pt x="17057888" y="5117366"/>
                </a:lnTo>
                <a:lnTo>
                  <a:pt x="0" y="5117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7" name="Google Shape;327;p14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567049" y="1149597"/>
            <a:ext cx="17153901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Autres filtres</a:t>
            </a:r>
            <a:endParaRPr/>
          </a:p>
        </p:txBody>
      </p:sp>
      <p:pic>
        <p:nvPicPr>
          <p:cNvPr id="331" name="Google Shape;33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2090517" y="2645660"/>
            <a:ext cx="14106966" cy="6612640"/>
          </a:xfrm>
          <a:custGeom>
            <a:avLst/>
            <a:gdLst/>
            <a:ahLst/>
            <a:cxnLst/>
            <a:rect l="l" t="t" r="r" b="b"/>
            <a:pathLst>
              <a:path w="14106966" h="6612640" extrusionOk="0">
                <a:moveTo>
                  <a:pt x="0" y="0"/>
                </a:moveTo>
                <a:lnTo>
                  <a:pt x="14106966" y="0"/>
                </a:lnTo>
                <a:lnTo>
                  <a:pt x="14106966" y="6612640"/>
                </a:lnTo>
                <a:lnTo>
                  <a:pt x="0" y="6612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15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39" name="Google Shape;339;p15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40" name="Google Shape;340;p15"/>
          <p:cNvSpPr txBox="1"/>
          <p:nvPr/>
        </p:nvSpPr>
        <p:spPr>
          <a:xfrm>
            <a:off x="7289304" y="1149597"/>
            <a:ext cx="3709392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SAM 3D – problème d’échelle</a:t>
            </a:r>
            <a:endParaRPr/>
          </a:p>
        </p:txBody>
      </p:sp>
      <p:sp>
        <p:nvSpPr>
          <p:cNvPr id="341" name="Google Shape;341;p15"/>
          <p:cNvSpPr txBox="1"/>
          <p:nvPr/>
        </p:nvSpPr>
        <p:spPr>
          <a:xfrm>
            <a:off x="3247389" y="8928862"/>
            <a:ext cx="2187059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Sujet de 1890 mm</a:t>
            </a:r>
            <a:endParaRPr/>
          </a:p>
        </p:txBody>
      </p:sp>
      <p:pic>
        <p:nvPicPr>
          <p:cNvPr id="342" name="Google Shape;34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3189757" y="2398048"/>
            <a:ext cx="11908486" cy="6951579"/>
          </a:xfrm>
          <a:custGeom>
            <a:avLst/>
            <a:gdLst/>
            <a:ahLst/>
            <a:cxnLst/>
            <a:rect l="l" t="t" r="r" b="b"/>
            <a:pathLst>
              <a:path w="11908486" h="6951579" extrusionOk="0">
                <a:moveTo>
                  <a:pt x="0" y="0"/>
                </a:moveTo>
                <a:lnTo>
                  <a:pt x="11908486" y="0"/>
                </a:lnTo>
                <a:lnTo>
                  <a:pt x="11908486" y="6951579"/>
                </a:lnTo>
                <a:lnTo>
                  <a:pt x="0" y="6951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48" name="Google Shape;348;p16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51" name="Google Shape;351;p16"/>
          <p:cNvSpPr txBox="1"/>
          <p:nvPr/>
        </p:nvSpPr>
        <p:spPr>
          <a:xfrm>
            <a:off x="567049" y="1149597"/>
            <a:ext cx="17153901" cy="358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Autres filtres</a:t>
            </a:r>
            <a:endParaRPr/>
          </a:p>
        </p:txBody>
      </p:sp>
      <p:grpSp>
        <p:nvGrpSpPr>
          <p:cNvPr id="352" name="Google Shape;352;p16"/>
          <p:cNvGrpSpPr/>
          <p:nvPr/>
        </p:nvGrpSpPr>
        <p:grpSpPr>
          <a:xfrm>
            <a:off x="11116699" y="5963714"/>
            <a:ext cx="6669006" cy="1298991"/>
            <a:chOff x="0" y="-47625"/>
            <a:chExt cx="1849374" cy="360222"/>
          </a:xfrm>
        </p:grpSpPr>
        <p:sp>
          <p:nvSpPr>
            <p:cNvPr id="353" name="Google Shape;353;p16"/>
            <p:cNvSpPr/>
            <p:nvPr/>
          </p:nvSpPr>
          <p:spPr>
            <a:xfrm>
              <a:off x="0" y="0"/>
              <a:ext cx="1849374" cy="312597"/>
            </a:xfrm>
            <a:custGeom>
              <a:avLst/>
              <a:gdLst/>
              <a:ahLst/>
              <a:cxnLst/>
              <a:rect l="l" t="t" r="r" b="b"/>
              <a:pathLst>
                <a:path w="1849374" h="312597" extrusionOk="0">
                  <a:moveTo>
                    <a:pt x="10448" y="0"/>
                  </a:moveTo>
                  <a:lnTo>
                    <a:pt x="1838926" y="0"/>
                  </a:lnTo>
                  <a:cubicBezTo>
                    <a:pt x="1841697" y="0"/>
                    <a:pt x="1844355" y="1101"/>
                    <a:pt x="1846314" y="3060"/>
                  </a:cubicBezTo>
                  <a:cubicBezTo>
                    <a:pt x="1848273" y="5019"/>
                    <a:pt x="1849374" y="7677"/>
                    <a:pt x="1849374" y="10448"/>
                  </a:cubicBezTo>
                  <a:lnTo>
                    <a:pt x="1849374" y="302149"/>
                  </a:lnTo>
                  <a:cubicBezTo>
                    <a:pt x="1849374" y="304920"/>
                    <a:pt x="1848273" y="307577"/>
                    <a:pt x="1846314" y="309537"/>
                  </a:cubicBezTo>
                  <a:cubicBezTo>
                    <a:pt x="1844355" y="311496"/>
                    <a:pt x="1841697" y="312597"/>
                    <a:pt x="1838926" y="312597"/>
                  </a:cubicBezTo>
                  <a:lnTo>
                    <a:pt x="10448" y="312597"/>
                  </a:lnTo>
                  <a:cubicBezTo>
                    <a:pt x="7677" y="312597"/>
                    <a:pt x="5019" y="311496"/>
                    <a:pt x="3060" y="309537"/>
                  </a:cubicBezTo>
                  <a:cubicBezTo>
                    <a:pt x="1101" y="307577"/>
                    <a:pt x="0" y="304920"/>
                    <a:pt x="0" y="302149"/>
                  </a:cubicBezTo>
                  <a:lnTo>
                    <a:pt x="0" y="10448"/>
                  </a:lnTo>
                  <a:cubicBezTo>
                    <a:pt x="0" y="7677"/>
                    <a:pt x="1101" y="5019"/>
                    <a:pt x="3060" y="3060"/>
                  </a:cubicBezTo>
                  <a:cubicBezTo>
                    <a:pt x="5019" y="1101"/>
                    <a:pt x="7677" y="0"/>
                    <a:pt x="10448" y="0"/>
                  </a:cubicBezTo>
                  <a:close/>
                </a:path>
              </a:pathLst>
            </a:custGeom>
            <a:solidFill>
              <a:srgbClr val="2310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 txBox="1"/>
            <p:nvPr/>
          </p:nvSpPr>
          <p:spPr>
            <a:xfrm>
              <a:off x="0" y="-47625"/>
              <a:ext cx="1849374" cy="360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175" tIns="229175" rIns="229175" bIns="2291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GRANDES DIFFÉRENCES ENTRE POSE2SIM ET MOCAPIA SUR LE</a:t>
              </a:r>
              <a:r>
                <a:rPr lang="en-US" sz="2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BAS DU CORPS</a:t>
              </a:r>
              <a:endParaRPr/>
            </a:p>
          </p:txBody>
        </p:sp>
      </p:grpSp>
      <p:grpSp>
        <p:nvGrpSpPr>
          <p:cNvPr id="355" name="Google Shape;355;p16"/>
          <p:cNvGrpSpPr/>
          <p:nvPr/>
        </p:nvGrpSpPr>
        <p:grpSpPr>
          <a:xfrm>
            <a:off x="9604031" y="2718629"/>
            <a:ext cx="5174714" cy="2826789"/>
            <a:chOff x="0" y="-47625"/>
            <a:chExt cx="1434994" cy="783893"/>
          </a:xfrm>
        </p:grpSpPr>
        <p:sp>
          <p:nvSpPr>
            <p:cNvPr id="356" name="Google Shape;356;p16"/>
            <p:cNvSpPr/>
            <p:nvPr/>
          </p:nvSpPr>
          <p:spPr>
            <a:xfrm>
              <a:off x="0" y="0"/>
              <a:ext cx="1434994" cy="736268"/>
            </a:xfrm>
            <a:custGeom>
              <a:avLst/>
              <a:gdLst/>
              <a:ahLst/>
              <a:cxnLst/>
              <a:rect l="l" t="t" r="r" b="b"/>
              <a:pathLst>
                <a:path w="1434994" h="736268" extrusionOk="0">
                  <a:moveTo>
                    <a:pt x="13465" y="0"/>
                  </a:moveTo>
                  <a:lnTo>
                    <a:pt x="1421529" y="0"/>
                  </a:lnTo>
                  <a:cubicBezTo>
                    <a:pt x="1428965" y="0"/>
                    <a:pt x="1434994" y="6028"/>
                    <a:pt x="1434994" y="13465"/>
                  </a:cubicBezTo>
                  <a:lnTo>
                    <a:pt x="1434994" y="722804"/>
                  </a:lnTo>
                  <a:cubicBezTo>
                    <a:pt x="1434994" y="730240"/>
                    <a:pt x="1428965" y="736268"/>
                    <a:pt x="1421529" y="736268"/>
                  </a:cubicBezTo>
                  <a:lnTo>
                    <a:pt x="13465" y="736268"/>
                  </a:lnTo>
                  <a:cubicBezTo>
                    <a:pt x="6028" y="736268"/>
                    <a:pt x="0" y="730240"/>
                    <a:pt x="0" y="722804"/>
                  </a:cubicBezTo>
                  <a:lnTo>
                    <a:pt x="0" y="13465"/>
                  </a:lnTo>
                  <a:cubicBezTo>
                    <a:pt x="0" y="6028"/>
                    <a:pt x="6028" y="0"/>
                    <a:pt x="13465" y="0"/>
                  </a:cubicBezTo>
                  <a:close/>
                </a:path>
              </a:pathLst>
            </a:custGeom>
            <a:noFill/>
            <a:ln w="38100" cap="sq" cmpd="sng">
              <a:solidFill>
                <a:srgbClr val="EB4C3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 txBox="1"/>
            <p:nvPr/>
          </p:nvSpPr>
          <p:spPr>
            <a:xfrm>
              <a:off x="0" y="-47625"/>
              <a:ext cx="1434994" cy="783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9175" tIns="229175" rIns="229175" bIns="229175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GRANDES DIFFÉRENCES ENTRE POSE2SIM ET MOCAPIA SUR LE</a:t>
              </a:r>
              <a:r>
                <a:rPr lang="en-US" sz="21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BAS DU CORPS</a:t>
              </a:r>
              <a:endParaRPr/>
            </a:p>
          </p:txBody>
        </p:sp>
      </p:grpSp>
      <p:pic>
        <p:nvPicPr>
          <p:cNvPr id="358" name="Google Shape;3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9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4194701" y="1028700"/>
            <a:ext cx="9898599" cy="7374456"/>
          </a:xfrm>
          <a:custGeom>
            <a:avLst/>
            <a:gdLst/>
            <a:ahLst/>
            <a:cxnLst/>
            <a:rect l="l" t="t" r="r" b="b"/>
            <a:pathLst>
              <a:path w="9898599" h="7374456" extrusionOk="0">
                <a:moveTo>
                  <a:pt x="0" y="0"/>
                </a:moveTo>
                <a:lnTo>
                  <a:pt x="9898598" y="0"/>
                </a:lnTo>
                <a:lnTo>
                  <a:pt x="9898598" y="7374456"/>
                </a:lnTo>
                <a:lnTo>
                  <a:pt x="0" y="7374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4" name="Google Shape;364;p17"/>
          <p:cNvSpPr txBox="1"/>
          <p:nvPr/>
        </p:nvSpPr>
        <p:spPr>
          <a:xfrm>
            <a:off x="1028700" y="431799"/>
            <a:ext cx="10043297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Annexes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34179" y="97399"/>
            <a:ext cx="994521" cy="106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119904" y="9705635"/>
            <a:ext cx="497261" cy="32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 b="1">
                <a:solidFill>
                  <a:srgbClr val="23107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3585865" y="8718226"/>
            <a:ext cx="11116270" cy="66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Tao Jiang et al. “RTMPose : Real-Time Multi-Person Pose Estimation based on MMPose”.</a:t>
            </a:r>
            <a:endParaRPr/>
          </a:p>
          <a:p>
            <a:pPr marL="0" marR="0" lvl="0" indent="0" algn="ctr" rtl="0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: arXiv (2023) (cf. p. 15, 16, 35).</a:t>
            </a:r>
            <a:endParaRPr/>
          </a:p>
        </p:txBody>
      </p:sp>
      <p:pic>
        <p:nvPicPr>
          <p:cNvPr id="368" name="Google Shape;36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0" y="8384009"/>
            <a:ext cx="2807516" cy="2807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Personnalisé</PresentationFormat>
  <Paragraphs>158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Ultra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Masss -_-</dc:creator>
  <cp:lastModifiedBy>Masss -_-</cp:lastModifiedBy>
  <cp:revision>5</cp:revision>
  <dcterms:created xsi:type="dcterms:W3CDTF">2006-08-16T00:00:00Z</dcterms:created>
  <dcterms:modified xsi:type="dcterms:W3CDTF">2026-02-26T12:38:44Z</dcterms:modified>
</cp:coreProperties>
</file>