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5" r:id="rId9"/>
    <p:sldId id="263" r:id="rId10"/>
    <p:sldId id="264" r:id="rId11"/>
    <p:sldId id="266" r:id="rId12"/>
    <p:sldId id="267" r:id="rId13"/>
    <p:sldId id="268" r:id="rId14"/>
    <p:sldId id="269" r:id="rId15"/>
    <p:sldId id="270" r:id="rId16"/>
    <p:sldId id="271" r:id="rId17"/>
    <p:sldId id="272"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00FF"/>
    <a:srgbClr val="C00000"/>
    <a:srgbClr val="FFCC00"/>
    <a:srgbClr val="D74839"/>
    <a:srgbClr val="F0A4A4"/>
    <a:srgbClr val="F4DC16"/>
    <a:srgbClr val="FFD5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75" autoAdjust="0"/>
    <p:restoredTop sz="96223" autoAdjust="0"/>
  </p:normalViewPr>
  <p:slideViewPr>
    <p:cSldViewPr snapToGrid="0">
      <p:cViewPr varScale="1">
        <p:scale>
          <a:sx n="94" d="100"/>
          <a:sy n="94" d="100"/>
        </p:scale>
        <p:origin x="60"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2B1F84-938A-4997-AD10-41B036BF8D20}" type="datetimeFigureOut">
              <a:rPr lang="fr-FR" smtClean="0"/>
              <a:t>13/02/2026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7CA43-6A79-40D7-9507-767418EB1B4E}" type="slidenum">
              <a:rPr lang="fr-FR" smtClean="0"/>
              <a:t>‹N°›</a:t>
            </a:fld>
            <a:endParaRPr lang="fr-FR"/>
          </a:p>
        </p:txBody>
      </p:sp>
    </p:spTree>
    <p:extLst>
      <p:ext uri="{BB962C8B-B14F-4D97-AF65-F5344CB8AC3E}">
        <p14:creationId xmlns:p14="http://schemas.microsoft.com/office/powerpoint/2010/main" val="3912836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A07CA43-6A79-40D7-9507-767418EB1B4E}" type="slidenum">
              <a:rPr lang="fr-FR" smtClean="0"/>
              <a:t>1</a:t>
            </a:fld>
            <a:endParaRPr lang="fr-FR"/>
          </a:p>
        </p:txBody>
      </p:sp>
    </p:spTree>
    <p:extLst>
      <p:ext uri="{BB962C8B-B14F-4D97-AF65-F5344CB8AC3E}">
        <p14:creationId xmlns:p14="http://schemas.microsoft.com/office/powerpoint/2010/main" val="834814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err="1"/>
              <a:t>Deroulement</a:t>
            </a:r>
            <a:r>
              <a:rPr lang="fr-FR" dirty="0"/>
              <a:t> du stage au BMBI dans l’</a:t>
            </a:r>
            <a:r>
              <a:rPr lang="fr-FR" dirty="0" err="1"/>
              <a:t>eéquipe</a:t>
            </a:r>
            <a:r>
              <a:rPr lang="fr-FR" dirty="0"/>
              <a:t> </a:t>
            </a:r>
            <a:r>
              <a:rPr lang="fr-FR" dirty="0" err="1"/>
              <a:t>BiomOvE</a:t>
            </a:r>
            <a:endParaRPr lang="fr-FR" dirty="0"/>
          </a:p>
          <a:p>
            <a:r>
              <a:rPr lang="fr-FR" dirty="0"/>
              <a:t>5 dans l’équipe restreinte</a:t>
            </a:r>
          </a:p>
          <a:p>
            <a:r>
              <a:rPr lang="fr-FR" dirty="0"/>
              <a:t>Travail sur la biomécanique et l’analyse du mouvement</a:t>
            </a:r>
          </a:p>
          <a:p>
            <a:pPr marL="171450" indent="-171450">
              <a:buFont typeface="Wingdings" panose="05000000000000000000" pitchFamily="2" charset="2"/>
              <a:buChar char="à"/>
            </a:pPr>
            <a:r>
              <a:rPr lang="fr-FR" dirty="0">
                <a:sym typeface="Wingdings" panose="05000000000000000000" pitchFamily="2" charset="2"/>
              </a:rPr>
              <a:t>Parler de la thématique</a:t>
            </a:r>
          </a:p>
          <a:p>
            <a:pPr marL="0" indent="0">
              <a:buFont typeface="Wingdings" panose="05000000000000000000" pitchFamily="2" charset="2"/>
              <a:buNone/>
            </a:pPr>
            <a:r>
              <a:rPr lang="fr-FR" dirty="0">
                <a:sym typeface="Wingdings" panose="05000000000000000000" pitchFamily="2" charset="2"/>
              </a:rPr>
              <a:t>Les applications = rééducation / </a:t>
            </a:r>
            <a:r>
              <a:rPr lang="fr-FR" dirty="0" err="1">
                <a:sym typeface="Wingdings" panose="05000000000000000000" pitchFamily="2" charset="2"/>
              </a:rPr>
              <a:t>medecine</a:t>
            </a:r>
            <a:r>
              <a:rPr lang="fr-FR" dirty="0">
                <a:sym typeface="Wingdings" panose="05000000000000000000" pitchFamily="2" charset="2"/>
              </a:rPr>
              <a:t> + sport</a:t>
            </a:r>
          </a:p>
          <a:p>
            <a:pPr marL="0" indent="0">
              <a:buFont typeface="Wingdings" panose="05000000000000000000" pitchFamily="2" charset="2"/>
              <a:buNone/>
            </a:pPr>
            <a:endParaRPr lang="fr-FR" dirty="0"/>
          </a:p>
          <a:p>
            <a:pPr marL="0" indent="0">
              <a:buFont typeface="Wingdings" panose="05000000000000000000" pitchFamily="2" charset="2"/>
              <a:buNone/>
            </a:pPr>
            <a:r>
              <a:rPr lang="fr-FR" dirty="0"/>
              <a:t>Pour ça </a:t>
            </a:r>
            <a:r>
              <a:rPr lang="fr-FR" dirty="0">
                <a:sym typeface="Wingdings" panose="05000000000000000000" pitchFamily="2" charset="2"/>
              </a:rPr>
              <a:t>Système cher et complexe comme le Vicon</a:t>
            </a:r>
          </a:p>
          <a:p>
            <a:pPr marL="171450" indent="-171450">
              <a:buFont typeface="Wingdings" panose="05000000000000000000" pitchFamily="2" charset="2"/>
              <a:buChar char="à"/>
            </a:pPr>
            <a:r>
              <a:rPr lang="fr-FR" dirty="0">
                <a:sym typeface="Wingdings" panose="05000000000000000000" pitchFamily="2" charset="2"/>
              </a:rPr>
              <a:t>Couteux</a:t>
            </a:r>
          </a:p>
          <a:p>
            <a:pPr marL="171450" indent="-171450">
              <a:buFont typeface="Wingdings" panose="05000000000000000000" pitchFamily="2" charset="2"/>
              <a:buChar char="à"/>
            </a:pPr>
            <a:r>
              <a:rPr lang="fr-FR" dirty="0">
                <a:sym typeface="Wingdings" panose="05000000000000000000" pitchFamily="2" charset="2"/>
              </a:rPr>
              <a:t>Demande une expertise en biomécanique pour placer les marqueurs/ </a:t>
            </a:r>
            <a:r>
              <a:rPr lang="fr-FR" dirty="0" err="1">
                <a:sym typeface="Wingdings" panose="05000000000000000000" pitchFamily="2" charset="2"/>
              </a:rPr>
              <a:t>gerer</a:t>
            </a:r>
            <a:r>
              <a:rPr lang="fr-FR" dirty="0">
                <a:sym typeface="Wingdings" panose="05000000000000000000" pitchFamily="2" charset="2"/>
              </a:rPr>
              <a:t> le logiciel</a:t>
            </a:r>
          </a:p>
          <a:p>
            <a:pPr marL="171450" indent="-171450">
              <a:buFont typeface="Wingdings" panose="05000000000000000000" pitchFamily="2" charset="2"/>
              <a:buChar char="à"/>
            </a:pPr>
            <a:r>
              <a:rPr lang="fr-FR" dirty="0">
                <a:sym typeface="Wingdings" panose="05000000000000000000" pitchFamily="2" charset="2"/>
              </a:rPr>
              <a:t>Long à mettre en place et à traiter les </a:t>
            </a:r>
            <a:r>
              <a:rPr lang="fr-FR" dirty="0" err="1">
                <a:sym typeface="Wingdings" panose="05000000000000000000" pitchFamily="2" charset="2"/>
              </a:rPr>
              <a:t>donnéew</a:t>
            </a:r>
            <a:endParaRPr lang="fr-FR" dirty="0">
              <a:sym typeface="Wingdings" panose="05000000000000000000" pitchFamily="2" charset="2"/>
            </a:endParaRPr>
          </a:p>
          <a:p>
            <a:pPr marL="171450" indent="-171450">
              <a:buFont typeface="Wingdings" panose="05000000000000000000" pitchFamily="2" charset="2"/>
              <a:buChar char="à"/>
            </a:pPr>
            <a:r>
              <a:rPr lang="fr-FR" dirty="0">
                <a:sym typeface="Wingdings" panose="05000000000000000000" pitchFamily="2" charset="2"/>
              </a:rPr>
              <a:t>Marqueurs physique donc </a:t>
            </a:r>
            <a:r>
              <a:rPr lang="fr-FR" dirty="0" err="1">
                <a:sym typeface="Wingdings" panose="05000000000000000000" pitchFamily="2" charset="2"/>
              </a:rPr>
              <a:t>embetant</a:t>
            </a:r>
            <a:r>
              <a:rPr lang="fr-FR" dirty="0">
                <a:sym typeface="Wingdings" panose="05000000000000000000" pitchFamily="2" charset="2"/>
              </a:rPr>
              <a:t> pour les sportifs</a:t>
            </a:r>
          </a:p>
          <a:p>
            <a:pPr marL="171450" indent="-171450">
              <a:buFont typeface="Wingdings" panose="05000000000000000000" pitchFamily="2" charset="2"/>
              <a:buChar char="à"/>
            </a:pPr>
            <a:endParaRPr lang="fr-FR" dirty="0">
              <a:sym typeface="Wingdings" panose="05000000000000000000" pitchFamily="2" charset="2"/>
            </a:endParaRPr>
          </a:p>
          <a:p>
            <a:pPr marL="0" indent="0">
              <a:buFont typeface="Wingdings" panose="05000000000000000000" pitchFamily="2" charset="2"/>
              <a:buNone/>
            </a:pPr>
            <a:r>
              <a:rPr lang="fr-FR" dirty="0">
                <a:sym typeface="Wingdings" panose="05000000000000000000" pitchFamily="2" charset="2"/>
              </a:rPr>
              <a:t>Mon stage cherche a trouver une alternative à ce genre de système</a:t>
            </a:r>
          </a:p>
          <a:p>
            <a:pPr marL="171450" indent="-171450">
              <a:buFont typeface="Wingdings" panose="05000000000000000000" pitchFamily="2" charset="2"/>
              <a:buChar char="à"/>
            </a:pPr>
            <a:r>
              <a:rPr lang="fr-FR" dirty="0">
                <a:sym typeface="Wingdings" panose="05000000000000000000" pitchFamily="2" charset="2"/>
              </a:rPr>
              <a:t>Sans marqueurs physique</a:t>
            </a:r>
          </a:p>
          <a:p>
            <a:pPr marL="171450" indent="-171450">
              <a:buFont typeface="Wingdings" panose="05000000000000000000" pitchFamily="2" charset="2"/>
              <a:buChar char="à"/>
            </a:pPr>
            <a:r>
              <a:rPr lang="fr-FR" dirty="0">
                <a:sym typeface="Wingdings" panose="05000000000000000000" pitchFamily="2" charset="2"/>
              </a:rPr>
              <a:t>Basé sur l’IA </a:t>
            </a:r>
          </a:p>
          <a:p>
            <a:pPr marL="0" indent="0">
              <a:buFont typeface="Wingdings" panose="05000000000000000000" pitchFamily="2" charset="2"/>
              <a:buNone/>
            </a:pPr>
            <a:r>
              <a:rPr lang="fr-FR" dirty="0">
                <a:sym typeface="Wingdings" panose="05000000000000000000" pitchFamily="2" charset="2"/>
              </a:rPr>
              <a:t>Donc moins cher, </a:t>
            </a:r>
            <a:r>
              <a:rPr lang="fr-FR" dirty="0" err="1">
                <a:sym typeface="Wingdings" panose="05000000000000000000" pitchFamily="2" charset="2"/>
              </a:rPr>
              <a:t>necessite</a:t>
            </a:r>
            <a:r>
              <a:rPr lang="fr-FR" dirty="0">
                <a:sym typeface="Wingdings" panose="05000000000000000000" pitchFamily="2" charset="2"/>
              </a:rPr>
              <a:t> des cameras </a:t>
            </a:r>
            <a:r>
              <a:rPr lang="fr-FR" dirty="0" err="1">
                <a:sym typeface="Wingdings" panose="05000000000000000000" pitchFamily="2" charset="2"/>
              </a:rPr>
              <a:t>low</a:t>
            </a:r>
            <a:r>
              <a:rPr lang="fr-FR" dirty="0">
                <a:sym typeface="Wingdings" panose="05000000000000000000" pitchFamily="2" charset="2"/>
              </a:rPr>
              <a:t> </a:t>
            </a:r>
            <a:r>
              <a:rPr lang="fr-FR" dirty="0" err="1">
                <a:sym typeface="Wingdings" panose="05000000000000000000" pitchFamily="2" charset="2"/>
              </a:rPr>
              <a:t>cost</a:t>
            </a:r>
            <a:r>
              <a:rPr lang="fr-FR" dirty="0">
                <a:sym typeface="Wingdings" panose="05000000000000000000" pitchFamily="2" charset="2"/>
              </a:rPr>
              <a:t>, simple et rapide à mettre en place</a:t>
            </a:r>
          </a:p>
          <a:p>
            <a:pPr marL="0" indent="0">
              <a:buFont typeface="Wingdings" panose="05000000000000000000" pitchFamily="2" charset="2"/>
              <a:buNone/>
            </a:pPr>
            <a:endParaRPr lang="fr-FR" dirty="0"/>
          </a:p>
          <a:p>
            <a:endParaRPr lang="fr-FR" dirty="0"/>
          </a:p>
        </p:txBody>
      </p:sp>
      <p:sp>
        <p:nvSpPr>
          <p:cNvPr id="4" name="Espace réservé du numéro de diapositive 3"/>
          <p:cNvSpPr>
            <a:spLocks noGrp="1"/>
          </p:cNvSpPr>
          <p:nvPr>
            <p:ph type="sldNum" sz="quarter" idx="5"/>
          </p:nvPr>
        </p:nvSpPr>
        <p:spPr/>
        <p:txBody>
          <a:bodyPr/>
          <a:lstStyle/>
          <a:p>
            <a:fld id="{5A07CA43-6A79-40D7-9507-767418EB1B4E}" type="slidenum">
              <a:rPr lang="fr-FR" smtClean="0"/>
              <a:t>2</a:t>
            </a:fld>
            <a:endParaRPr lang="fr-FR"/>
          </a:p>
        </p:txBody>
      </p:sp>
    </p:spTree>
    <p:extLst>
      <p:ext uri="{BB962C8B-B14F-4D97-AF65-F5344CB8AC3E}">
        <p14:creationId xmlns:p14="http://schemas.microsoft.com/office/powerpoint/2010/main" val="425603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None/>
            </a:pPr>
            <a:r>
              <a:rPr lang="fr-FR" dirty="0"/>
              <a:t>Projet commencé depuis 2 ans déjà par 4 autres stagiaires</a:t>
            </a:r>
          </a:p>
          <a:p>
            <a:pPr marL="0" indent="0">
              <a:buNone/>
            </a:pPr>
            <a:r>
              <a:rPr lang="fr-FR" dirty="0"/>
              <a:t>On a travaillé à deux ce semestre</a:t>
            </a:r>
          </a:p>
          <a:p>
            <a:pPr marL="0" indent="0">
              <a:buNone/>
            </a:pPr>
            <a:endParaRPr lang="fr-FR" dirty="0"/>
          </a:p>
          <a:p>
            <a:pPr marL="0" indent="0">
              <a:buNone/>
            </a:pPr>
            <a:r>
              <a:rPr lang="fr-FR" dirty="0"/>
              <a:t>Mon objectif est d’améliorer les étapes de calibration de triangulation de reconstruction 3D pour permettre une analyse biomécanique précise</a:t>
            </a:r>
          </a:p>
          <a:p>
            <a:pPr marL="0" indent="0">
              <a:buNone/>
            </a:pPr>
            <a:endParaRPr lang="fr-FR" dirty="0"/>
          </a:p>
          <a:p>
            <a:pPr marL="0" indent="0">
              <a:buNone/>
            </a:pPr>
            <a:r>
              <a:rPr lang="fr-FR" dirty="0"/>
              <a:t>Ma collègue orientée plus sur l’interface et rendre le processus plus rapide dans le traitement, dans l’utilisation par des « non experts »</a:t>
            </a:r>
          </a:p>
          <a:p>
            <a:pPr marL="0" indent="0">
              <a:buNone/>
            </a:pPr>
            <a:endParaRPr lang="fr-FR" dirty="0"/>
          </a:p>
          <a:p>
            <a:pPr marL="0" indent="0">
              <a:buNone/>
            </a:pPr>
            <a:r>
              <a:rPr lang="fr-FR" dirty="0"/>
              <a:t>Voici le système qui a déjà été développé au début du stage:</a:t>
            </a:r>
          </a:p>
          <a:p>
            <a:pPr marL="0" indent="0">
              <a:buNone/>
            </a:pPr>
            <a:endParaRPr lang="fr-FR" dirty="0"/>
          </a:p>
          <a:p>
            <a:pPr marL="0" indent="0">
              <a:buNone/>
            </a:pPr>
            <a:r>
              <a:rPr lang="fr-FR" dirty="0"/>
              <a:t>Présentation du projet MoCapIA:</a:t>
            </a:r>
          </a:p>
          <a:p>
            <a:pPr marL="0" indent="0">
              <a:buNone/>
            </a:pPr>
            <a:r>
              <a:rPr lang="fr-FR" dirty="0"/>
              <a:t>- 2 à 4 GoPro</a:t>
            </a:r>
          </a:p>
          <a:p>
            <a:pPr marL="171450" indent="-171450">
              <a:buFontTx/>
              <a:buChar char="-"/>
            </a:pPr>
            <a:r>
              <a:rPr lang="fr-FR" dirty="0"/>
              <a:t>Trépieds / Supports pour avoir les bons angles de vues</a:t>
            </a:r>
          </a:p>
          <a:p>
            <a:pPr marL="171450" indent="-171450">
              <a:buFontTx/>
              <a:buChar char="-"/>
            </a:pPr>
            <a:r>
              <a:rPr lang="fr-FR" dirty="0"/>
              <a:t>On prend 2 types de vidéos avec ces caméras:</a:t>
            </a:r>
          </a:p>
          <a:p>
            <a:pPr marL="171450" indent="-171450">
              <a:buFont typeface="Wingdings" panose="05000000000000000000" pitchFamily="2" charset="2"/>
              <a:buChar char="à"/>
            </a:pPr>
            <a:r>
              <a:rPr lang="fr-FR" dirty="0">
                <a:sym typeface="Wingdings" panose="05000000000000000000" pitchFamily="2" charset="2"/>
              </a:rPr>
              <a:t>Vidéo ou on manipule le chessboard dans la zone de capture  utile pour la calibration car c’est un objet dont on connait les caractéristique on peut donc déduire les angles de vues et les effets de la caméras sur chacune des caméras (chacune des vues) / </a:t>
            </a:r>
            <a:r>
              <a:rPr lang="fr-FR" dirty="0" err="1">
                <a:sym typeface="Wingdings" panose="05000000000000000000" pitchFamily="2" charset="2"/>
              </a:rPr>
              <a:t>etape</a:t>
            </a:r>
            <a:r>
              <a:rPr lang="fr-FR" dirty="0">
                <a:sym typeface="Wingdings" panose="05000000000000000000" pitchFamily="2" charset="2"/>
              </a:rPr>
              <a:t> a faire seulement une fois tant qu’on bouge pas les caméras dans l’espace</a:t>
            </a:r>
          </a:p>
          <a:p>
            <a:pPr marL="628650" lvl="1" indent="-171450">
              <a:buFont typeface="Wingdings" panose="05000000000000000000" pitchFamily="2" charset="2"/>
              <a:buChar char="à"/>
            </a:pPr>
            <a:r>
              <a:rPr lang="fr-FR" dirty="0">
                <a:sym typeface="Wingdings" panose="05000000000000000000" pitchFamily="2" charset="2"/>
              </a:rPr>
              <a:t>On obtient les paramètres nécessaires pour la triangulation (2D à 3D) . Mais il manque les points caractéristiques 2D vue par chaque caméras grâce a l’IA</a:t>
            </a:r>
          </a:p>
          <a:p>
            <a:pPr marL="171450" indent="-171450">
              <a:buFont typeface="Wingdings" panose="05000000000000000000" pitchFamily="2" charset="2"/>
              <a:buChar char="à"/>
            </a:pPr>
            <a:r>
              <a:rPr lang="fr-FR" dirty="0">
                <a:sym typeface="Wingdings" panose="05000000000000000000" pitchFamily="2" charset="2"/>
              </a:rPr>
              <a:t>Vidéos des mouvements qu’on cherche a analyser va permettre d’obtenir les coordonnées 2D des articulations du corps au cours du temps. YOLO pour la box et </a:t>
            </a:r>
            <a:r>
              <a:rPr lang="fr-FR" dirty="0" err="1">
                <a:sym typeface="Wingdings" panose="05000000000000000000" pitchFamily="2" charset="2"/>
              </a:rPr>
              <a:t>RTMPose</a:t>
            </a:r>
            <a:r>
              <a:rPr lang="fr-FR" dirty="0">
                <a:sym typeface="Wingdings" panose="05000000000000000000" pitchFamily="2" charset="2"/>
              </a:rPr>
              <a:t> pour la détection du squelette</a:t>
            </a:r>
          </a:p>
          <a:p>
            <a:pPr marL="0" indent="0">
              <a:buFont typeface="Wingdings" panose="05000000000000000000" pitchFamily="2" charset="2"/>
              <a:buNone/>
            </a:pPr>
            <a:endParaRPr lang="fr-FR" dirty="0">
              <a:sym typeface="Wingdings" panose="05000000000000000000" pitchFamily="2" charset="2"/>
            </a:endParaRPr>
          </a:p>
          <a:p>
            <a:pPr marL="171450" indent="-171450">
              <a:buFont typeface="Wingdings" panose="05000000000000000000" pitchFamily="2" charset="2"/>
              <a:buChar char="à"/>
            </a:pPr>
            <a:r>
              <a:rPr lang="fr-FR" dirty="0">
                <a:sym typeface="Wingdings" panose="05000000000000000000" pitchFamily="2" charset="2"/>
              </a:rPr>
              <a:t>Résultats CALIB + 2D ESTIMATION  triangulation possibles </a:t>
            </a:r>
          </a:p>
          <a:p>
            <a:pPr marL="0" indent="0">
              <a:buFont typeface="Wingdings" panose="05000000000000000000" pitchFamily="2" charset="2"/>
              <a:buNone/>
            </a:pPr>
            <a:r>
              <a:rPr lang="fr-FR" dirty="0">
                <a:sym typeface="Wingdings" panose="05000000000000000000" pitchFamily="2" charset="2"/>
              </a:rPr>
              <a:t>On obtient coordonnées</a:t>
            </a:r>
          </a:p>
          <a:p>
            <a:pPr marL="0" indent="0">
              <a:buFont typeface="Wingdings" panose="05000000000000000000" pitchFamily="2" charset="2"/>
              <a:buNone/>
            </a:pPr>
            <a:r>
              <a:rPr lang="fr-FR" dirty="0">
                <a:sym typeface="Wingdings" panose="05000000000000000000" pitchFamily="2" charset="2"/>
              </a:rPr>
              <a:t> 3D donc o est possible de reconstruire le modèle humain</a:t>
            </a:r>
          </a:p>
          <a:p>
            <a:pPr marL="0" indent="0">
              <a:buFont typeface="Wingdings" panose="05000000000000000000" pitchFamily="2" charset="2"/>
              <a:buNone/>
            </a:pPr>
            <a:endParaRPr lang="fr-FR" dirty="0">
              <a:sym typeface="Wingdings" panose="05000000000000000000" pitchFamily="2" charset="2"/>
            </a:endParaRPr>
          </a:p>
          <a:p>
            <a:pPr marL="171450" indent="-171450">
              <a:buFont typeface="Wingdings" panose="05000000000000000000" pitchFamily="2" charset="2"/>
              <a:buChar char="à"/>
            </a:pPr>
            <a:r>
              <a:rPr lang="fr-FR" dirty="0" err="1">
                <a:sym typeface="Wingdings" panose="05000000000000000000" pitchFamily="2" charset="2"/>
              </a:rPr>
              <a:t>Possibiltié</a:t>
            </a:r>
            <a:r>
              <a:rPr lang="fr-FR" dirty="0">
                <a:sym typeface="Wingdings" panose="05000000000000000000" pitchFamily="2" charset="2"/>
              </a:rPr>
              <a:t> d’explorer les différents angles des articulations</a:t>
            </a:r>
          </a:p>
          <a:p>
            <a:pPr marL="171450" indent="-171450">
              <a:buFont typeface="Wingdings" panose="05000000000000000000" pitchFamily="2" charset="2"/>
              <a:buChar char="à"/>
            </a:pPr>
            <a:endParaRPr lang="fr-FR" dirty="0">
              <a:sym typeface="Wingdings" panose="05000000000000000000" pitchFamily="2" charset="2"/>
            </a:endParaRPr>
          </a:p>
          <a:p>
            <a:pPr marL="171450" indent="-171450">
              <a:buFont typeface="Wingdings" panose="05000000000000000000" pitchFamily="2" charset="2"/>
              <a:buChar char="è"/>
            </a:pPr>
            <a:r>
              <a:rPr lang="fr-FR" dirty="0">
                <a:sym typeface="Wingdings" panose="05000000000000000000" pitchFamily="2" charset="2"/>
              </a:rPr>
              <a:t>Ce processus donne des erreurs conséquentes c’est </a:t>
            </a:r>
            <a:r>
              <a:rPr lang="fr-FR" dirty="0" err="1">
                <a:sym typeface="Wingdings" panose="05000000000000000000" pitchFamily="2" charset="2"/>
              </a:rPr>
              <a:t>poruquoi</a:t>
            </a:r>
            <a:r>
              <a:rPr lang="fr-FR" dirty="0">
                <a:sym typeface="Wingdings" panose="05000000000000000000" pitchFamily="2" charset="2"/>
              </a:rPr>
              <a:t> on va </a:t>
            </a:r>
            <a:r>
              <a:rPr lang="fr-FR" dirty="0" err="1">
                <a:sym typeface="Wingdings" panose="05000000000000000000" pitchFamily="2" charset="2"/>
              </a:rPr>
              <a:t>cherhe</a:t>
            </a:r>
            <a:r>
              <a:rPr lang="fr-FR" dirty="0">
                <a:sym typeface="Wingdings" panose="05000000000000000000" pitchFamily="2" charset="2"/>
              </a:rPr>
              <a:t> a AM2LIORER.</a:t>
            </a:r>
          </a:p>
          <a:p>
            <a:pPr marL="0" indent="0">
              <a:buFont typeface="Wingdings" panose="05000000000000000000" pitchFamily="2" charset="2"/>
              <a:buNone/>
            </a:pPr>
            <a:r>
              <a:rPr lang="fr-FR" dirty="0">
                <a:sym typeface="Wingdings" panose="05000000000000000000" pitchFamily="2" charset="2"/>
              </a:rPr>
              <a:t>Mais quoi améliorer ? On va tester la calibration t la triangulation en mettant de coté l’IA pour isoler les erreurs</a:t>
            </a:r>
          </a:p>
          <a:p>
            <a:pPr marL="0" indent="0">
              <a:buFont typeface="Wingdings" panose="05000000000000000000" pitchFamily="2" charset="2"/>
              <a:buNone/>
            </a:pPr>
            <a:endParaRPr lang="fr-FR" dirty="0">
              <a:sym typeface="Wingdings" panose="05000000000000000000" pitchFamily="2" charset="2"/>
            </a:endParaRPr>
          </a:p>
          <a:p>
            <a:pPr marL="0" indent="0">
              <a:buFont typeface="Wingdings" panose="05000000000000000000" pitchFamily="2" charset="2"/>
              <a:buNone/>
            </a:pPr>
            <a:endParaRPr lang="fr-FR" dirty="0">
              <a:sym typeface="Wingdings" panose="05000000000000000000" pitchFamily="2" charset="2"/>
            </a:endParaRPr>
          </a:p>
          <a:p>
            <a:pPr marL="171450" indent="-171450">
              <a:buFont typeface="Wingdings" panose="05000000000000000000" pitchFamily="2" charset="2"/>
              <a:buChar char="à"/>
            </a:pPr>
            <a:endParaRPr lang="fr-FR" dirty="0">
              <a:sym typeface="Wingdings" panose="05000000000000000000" pitchFamily="2" charset="2"/>
            </a:endParaRPr>
          </a:p>
          <a:p>
            <a:pPr marL="171450" indent="-171450">
              <a:buFont typeface="Wingdings" panose="05000000000000000000" pitchFamily="2" charset="2"/>
              <a:buChar char="à"/>
            </a:pPr>
            <a:endParaRPr lang="fr-FR" dirty="0"/>
          </a:p>
          <a:p>
            <a:pPr marL="171450" lvl="0" indent="-171450">
              <a:buFontTx/>
              <a:buChar char="-"/>
            </a:pPr>
            <a:endParaRPr lang="fr-FR" dirty="0"/>
          </a:p>
          <a:p>
            <a:pPr marL="228600" indent="-228600">
              <a:buAutoNum type="arabicParenR"/>
            </a:pPr>
            <a:endParaRPr lang="fr-FR" dirty="0"/>
          </a:p>
          <a:p>
            <a:pPr marL="0" indent="0">
              <a:buNone/>
            </a:pPr>
            <a:endParaRPr lang="fr-FR" dirty="0"/>
          </a:p>
        </p:txBody>
      </p:sp>
      <p:sp>
        <p:nvSpPr>
          <p:cNvPr id="4" name="Espace réservé du numéro de diapositive 3"/>
          <p:cNvSpPr>
            <a:spLocks noGrp="1"/>
          </p:cNvSpPr>
          <p:nvPr>
            <p:ph type="sldNum" sz="quarter" idx="5"/>
          </p:nvPr>
        </p:nvSpPr>
        <p:spPr/>
        <p:txBody>
          <a:bodyPr/>
          <a:lstStyle/>
          <a:p>
            <a:fld id="{5A07CA43-6A79-40D7-9507-767418EB1B4E}" type="slidenum">
              <a:rPr lang="fr-FR" smtClean="0"/>
              <a:t>3</a:t>
            </a:fld>
            <a:endParaRPr lang="fr-FR"/>
          </a:p>
        </p:txBody>
      </p:sp>
    </p:spTree>
    <p:extLst>
      <p:ext uri="{BB962C8B-B14F-4D97-AF65-F5344CB8AC3E}">
        <p14:creationId xmlns:p14="http://schemas.microsoft.com/office/powerpoint/2010/main" val="3182824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On teste donc la calibration et la triangulation</a:t>
            </a:r>
          </a:p>
          <a:p>
            <a:endParaRPr lang="fr-FR" dirty="0"/>
          </a:p>
          <a:p>
            <a:r>
              <a:rPr lang="fr-FR" dirty="0"/>
              <a:t>La triangulation nécessite un DAMIER</a:t>
            </a:r>
          </a:p>
          <a:p>
            <a:endParaRPr lang="fr-FR" dirty="0"/>
          </a:p>
          <a:p>
            <a:pPr marL="171450" indent="-171450">
              <a:buFont typeface="Wingdings" panose="05000000000000000000" pitchFamily="2" charset="2"/>
              <a:buChar char="à"/>
            </a:pPr>
            <a:r>
              <a:rPr lang="fr-FR" dirty="0">
                <a:sym typeface="Wingdings" panose="05000000000000000000" pitchFamily="2" charset="2"/>
              </a:rPr>
              <a:t>Quel damiers utilisé pour la calibration (nb de carreaux, de quelles tailles ?)</a:t>
            </a:r>
          </a:p>
          <a:p>
            <a:pPr marL="171450" indent="-171450">
              <a:buFont typeface="Wingdings" panose="05000000000000000000" pitchFamily="2" charset="2"/>
              <a:buChar char="à"/>
            </a:pPr>
            <a:r>
              <a:rPr lang="fr-FR" dirty="0"/>
              <a:t>On exécute le processus </a:t>
            </a:r>
            <a:r>
              <a:rPr lang="fr-FR" dirty="0" err="1"/>
              <a:t>MoCpaIA</a:t>
            </a:r>
            <a:r>
              <a:rPr lang="fr-FR" dirty="0"/>
              <a:t> avec 4 damiers différents</a:t>
            </a:r>
          </a:p>
          <a:p>
            <a:pPr marL="171450" indent="-171450">
              <a:buFont typeface="Wingdings" panose="05000000000000000000" pitchFamily="2" charset="2"/>
              <a:buChar char="à"/>
            </a:pPr>
            <a:endParaRPr lang="fr-FR" dirty="0"/>
          </a:p>
          <a:p>
            <a:pPr marL="171450" indent="-171450">
              <a:buFont typeface="Wingdings" panose="05000000000000000000" pitchFamily="2" charset="2"/>
              <a:buChar char="à"/>
            </a:pPr>
            <a:r>
              <a:rPr lang="fr-FR" dirty="0"/>
              <a:t>On a utilisé table ANOVA pour savoir si le choix du damier a un impact sur les résultats. Les résultats montre que oui, </a:t>
            </a:r>
          </a:p>
          <a:p>
            <a:pPr marL="171450" indent="-171450">
              <a:buFont typeface="Wingdings" panose="05000000000000000000" pitchFamily="2" charset="2"/>
              <a:buChar char="à"/>
            </a:pPr>
            <a:endParaRPr lang="fr-FR" dirty="0"/>
          </a:p>
          <a:p>
            <a:pPr marL="171450" indent="-171450">
              <a:buFont typeface="Wingdings" panose="05000000000000000000" pitchFamily="2" charset="2"/>
              <a:buChar char="à"/>
            </a:pPr>
            <a:r>
              <a:rPr lang="fr-FR" dirty="0"/>
              <a:t>Les résultats = AIRE du damier doit être petite (nb de carreaux et taille pas importants)</a:t>
            </a:r>
          </a:p>
          <a:p>
            <a:pPr marL="171450" indent="-171450">
              <a:buFont typeface="Wingdings" panose="05000000000000000000" pitchFamily="2" charset="2"/>
              <a:buChar char="à"/>
            </a:pPr>
            <a:endParaRPr lang="fr-FR" dirty="0"/>
          </a:p>
          <a:p>
            <a:pPr marL="0" indent="0">
              <a:buFont typeface="Wingdings" panose="05000000000000000000" pitchFamily="2" charset="2"/>
              <a:buNone/>
            </a:pPr>
            <a:r>
              <a:rPr lang="fr-FR" dirty="0"/>
              <a:t>On utilisera le damier B pour la suite </a:t>
            </a:r>
          </a:p>
          <a:p>
            <a:pPr marL="0" indent="0">
              <a:buFont typeface="Wingdings" panose="05000000000000000000" pitchFamily="2" charset="2"/>
              <a:buNone/>
            </a:pPr>
            <a:endParaRPr lang="fr-FR" dirty="0"/>
          </a:p>
          <a:p>
            <a:pPr marL="0" indent="0">
              <a:buFont typeface="Wingdings" panose="05000000000000000000" pitchFamily="2" charset="2"/>
              <a:buNone/>
            </a:pPr>
            <a:r>
              <a:rPr lang="fr-FR" dirty="0"/>
              <a:t>------</a:t>
            </a:r>
          </a:p>
          <a:p>
            <a:pPr marL="0" indent="0">
              <a:buFont typeface="Wingdings" panose="05000000000000000000" pitchFamily="2" charset="2"/>
              <a:buNone/>
            </a:pPr>
            <a:endParaRPr lang="fr-FR" dirty="0"/>
          </a:p>
          <a:p>
            <a:pPr marL="0" indent="0">
              <a:buFont typeface="Wingdings" panose="05000000000000000000" pitchFamily="2" charset="2"/>
              <a:buNone/>
            </a:pPr>
            <a:r>
              <a:rPr lang="fr-FR" dirty="0"/>
              <a:t>On test en plus de ça l’</a:t>
            </a:r>
            <a:r>
              <a:rPr lang="fr-FR" dirty="0" err="1"/>
              <a:t>homegéinisation</a:t>
            </a:r>
            <a:r>
              <a:rPr lang="fr-FR" dirty="0"/>
              <a:t>  de la </a:t>
            </a:r>
            <a:r>
              <a:rPr lang="fr-FR" dirty="0" err="1"/>
              <a:t>calibraiton</a:t>
            </a:r>
            <a:r>
              <a:rPr lang="fr-FR" dirty="0"/>
              <a:t> et de la triangulation sur la zone de capture. Les points 2D estimé habituellement par l’IA vont </a:t>
            </a:r>
            <a:r>
              <a:rPr lang="fr-FR" dirty="0" err="1"/>
              <a:t>etre</a:t>
            </a:r>
            <a:r>
              <a:rPr lang="fr-FR" dirty="0"/>
              <a:t> cliqué a la main sur une baguette dont on connait les dimensions afin d’annuler les erreurs liés a la </a:t>
            </a:r>
            <a:r>
              <a:rPr lang="fr-FR" dirty="0" err="1"/>
              <a:t>detection</a:t>
            </a:r>
            <a:r>
              <a:rPr lang="fr-FR" dirty="0"/>
              <a:t> IA</a:t>
            </a:r>
          </a:p>
          <a:p>
            <a:pPr marL="0" indent="0">
              <a:buFont typeface="Wingdings" panose="05000000000000000000" pitchFamily="2" charset="2"/>
              <a:buNone/>
            </a:pPr>
            <a:endParaRPr lang="fr-FR" dirty="0"/>
          </a:p>
          <a:p>
            <a:pPr marL="0" indent="0">
              <a:buFont typeface="Wingdings" panose="05000000000000000000" pitchFamily="2" charset="2"/>
              <a:buNone/>
            </a:pPr>
            <a:r>
              <a:rPr lang="fr-FR" dirty="0"/>
              <a:t>On obtient des erreurs moyennes sur les 3 </a:t>
            </a:r>
            <a:r>
              <a:rPr lang="fr-FR" dirty="0" err="1"/>
              <a:t>sgmetns</a:t>
            </a:r>
            <a:r>
              <a:rPr lang="fr-FR" dirty="0"/>
              <a:t> de la baguette de 3.9 mm à 14.9 </a:t>
            </a:r>
            <a:r>
              <a:rPr lang="fr-FR" dirty="0" err="1"/>
              <a:t>mmlors</a:t>
            </a:r>
            <a:r>
              <a:rPr lang="fr-FR" dirty="0"/>
              <a:t> qu’on se trouve dans la zone de capture. Si on sort de cette zone </a:t>
            </a:r>
            <a:r>
              <a:rPr lang="fr-FR" dirty="0">
                <a:sym typeface="Wingdings" panose="05000000000000000000" pitchFamily="2" charset="2"/>
              </a:rPr>
              <a:t> erreur augmente (41 mm)</a:t>
            </a:r>
          </a:p>
          <a:p>
            <a:pPr marL="0" indent="0">
              <a:buFont typeface="Wingdings" panose="05000000000000000000" pitchFamily="2" charset="2"/>
              <a:buNone/>
            </a:pPr>
            <a:endParaRPr lang="fr-FR" dirty="0">
              <a:sym typeface="Wingdings" panose="05000000000000000000" pitchFamily="2" charset="2"/>
            </a:endParaRPr>
          </a:p>
          <a:p>
            <a:pPr marL="0" indent="0">
              <a:buFont typeface="Wingdings" panose="05000000000000000000" pitchFamily="2" charset="2"/>
              <a:buNone/>
            </a:pPr>
            <a:r>
              <a:rPr lang="fr-FR" dirty="0">
                <a:sym typeface="Wingdings" panose="05000000000000000000" pitchFamily="2" charset="2"/>
              </a:rPr>
              <a:t>Il faudra prendre en </a:t>
            </a:r>
            <a:r>
              <a:rPr lang="fr-FR" dirty="0" err="1">
                <a:sym typeface="Wingdings" panose="05000000000000000000" pitchFamily="2" charset="2"/>
              </a:rPr>
              <a:t>comtpe</a:t>
            </a:r>
            <a:r>
              <a:rPr lang="fr-FR" dirty="0">
                <a:sym typeface="Wingdings" panose="05000000000000000000" pitchFamily="2" charset="2"/>
              </a:rPr>
              <a:t> ces </a:t>
            </a:r>
            <a:r>
              <a:rPr lang="fr-FR" dirty="0" err="1">
                <a:sym typeface="Wingdings" panose="05000000000000000000" pitchFamily="2" charset="2"/>
              </a:rPr>
              <a:t>résulatas</a:t>
            </a:r>
            <a:r>
              <a:rPr lang="fr-FR" dirty="0">
                <a:sym typeface="Wingdings" panose="05000000000000000000" pitchFamily="2" charset="2"/>
              </a:rPr>
              <a:t> qu’on on prendra en capture les mouvements</a:t>
            </a:r>
          </a:p>
          <a:p>
            <a:pPr marL="0" indent="0">
              <a:buFont typeface="Wingdings" panose="05000000000000000000" pitchFamily="2" charset="2"/>
              <a:buNone/>
            </a:pPr>
            <a:endParaRPr lang="fr-FR" dirty="0">
              <a:sym typeface="Wingdings" panose="05000000000000000000" pitchFamily="2" charset="2"/>
            </a:endParaRPr>
          </a:p>
          <a:p>
            <a:pPr marL="0" indent="0">
              <a:buFont typeface="Wingdings" panose="05000000000000000000" pitchFamily="2" charset="2"/>
              <a:buNone/>
            </a:pPr>
            <a:r>
              <a:rPr lang="fr-FR" dirty="0">
                <a:sym typeface="Wingdings" panose="05000000000000000000" pitchFamily="2" charset="2"/>
              </a:rPr>
              <a:t> En conclusion les erreurs liés a la triangulation et la triangulation ne sont vraiment pas importante (&lt; 2 cm)</a:t>
            </a:r>
            <a:endParaRPr lang="fr-FR" dirty="0"/>
          </a:p>
        </p:txBody>
      </p:sp>
      <p:sp>
        <p:nvSpPr>
          <p:cNvPr id="4" name="Espace réservé du numéro de diapositive 3"/>
          <p:cNvSpPr>
            <a:spLocks noGrp="1"/>
          </p:cNvSpPr>
          <p:nvPr>
            <p:ph type="sldNum" sz="quarter" idx="5"/>
          </p:nvPr>
        </p:nvSpPr>
        <p:spPr/>
        <p:txBody>
          <a:bodyPr/>
          <a:lstStyle/>
          <a:p>
            <a:fld id="{5A07CA43-6A79-40D7-9507-767418EB1B4E}" type="slidenum">
              <a:rPr lang="fr-FR" smtClean="0"/>
              <a:t>4</a:t>
            </a:fld>
            <a:endParaRPr lang="fr-FR"/>
          </a:p>
        </p:txBody>
      </p:sp>
    </p:spTree>
    <p:extLst>
      <p:ext uri="{BB962C8B-B14F-4D97-AF65-F5344CB8AC3E}">
        <p14:creationId xmlns:p14="http://schemas.microsoft.com/office/powerpoint/2010/main" val="3703626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On regarde donc le processus entier maintenant donc avec l’IA pour l’estimation 2D.</a:t>
            </a:r>
          </a:p>
          <a:p>
            <a:endParaRPr lang="fr-FR" dirty="0"/>
          </a:p>
          <a:p>
            <a:r>
              <a:rPr lang="fr-FR" dirty="0"/>
              <a:t>L’IA qu’on utilise est la plus performante en open source donc c’est pas là-dessus qu’on va pouvoir agir. </a:t>
            </a:r>
          </a:p>
          <a:p>
            <a:pPr marL="171450" indent="-171450">
              <a:buFont typeface="Wingdings" panose="05000000000000000000" pitchFamily="2" charset="2"/>
              <a:buChar char="à"/>
            </a:pPr>
            <a:r>
              <a:rPr lang="fr-FR" dirty="0">
                <a:sym typeface="Wingdings" panose="05000000000000000000" pitchFamily="2" charset="2"/>
              </a:rPr>
              <a:t>Corriger plutôt les résultats de l’IA</a:t>
            </a:r>
          </a:p>
          <a:p>
            <a:pPr marL="0" indent="0">
              <a:buFont typeface="Wingdings" panose="05000000000000000000" pitchFamily="2" charset="2"/>
              <a:buNone/>
            </a:pPr>
            <a:endParaRPr lang="fr-FR" dirty="0">
              <a:sym typeface="Wingdings" panose="05000000000000000000" pitchFamily="2" charset="2"/>
            </a:endParaRPr>
          </a:p>
          <a:p>
            <a:pPr marL="0" indent="0">
              <a:buFont typeface="Wingdings" panose="05000000000000000000" pitchFamily="2" charset="2"/>
              <a:buNone/>
            </a:pPr>
            <a:r>
              <a:rPr lang="fr-FR" dirty="0">
                <a:sym typeface="Wingdings" panose="05000000000000000000" pitchFamily="2" charset="2"/>
              </a:rPr>
              <a:t>On va avant comparé MoCapIA au Vicon(</a:t>
            </a:r>
            <a:r>
              <a:rPr lang="fr-FR" dirty="0" err="1">
                <a:sym typeface="Wingdings" panose="05000000000000000000" pitchFamily="2" charset="2"/>
              </a:rPr>
              <a:t>ref</a:t>
            </a:r>
            <a:r>
              <a:rPr lang="fr-FR" dirty="0">
                <a:sym typeface="Wingdings" panose="05000000000000000000" pitchFamily="2" charset="2"/>
              </a:rPr>
              <a:t>) pour connaitre précisément les erreurs</a:t>
            </a:r>
          </a:p>
          <a:p>
            <a:pPr marL="0" indent="0">
              <a:buFont typeface="Wingdings" panose="05000000000000000000" pitchFamily="2" charset="2"/>
              <a:buNone/>
            </a:pPr>
            <a:r>
              <a:rPr lang="fr-FR" dirty="0">
                <a:sym typeface="Wingdings" panose="05000000000000000000" pitchFamily="2" charset="2"/>
              </a:rPr>
              <a:t>on constate une variation de 5 cm en moyenne entre MoCapIA et Vicon. Pour les angles, cela varie de 2° d’écart à 7° (MoCapIA a moins d’erreurs sur les angles). </a:t>
            </a:r>
          </a:p>
          <a:p>
            <a:pPr marL="0" indent="0">
              <a:buFont typeface="Wingdings" panose="05000000000000000000" pitchFamily="2" charset="2"/>
              <a:buNone/>
            </a:pPr>
            <a:endParaRPr lang="fr-FR" dirty="0">
              <a:sym typeface="Wingdings" panose="05000000000000000000" pitchFamily="2" charset="2"/>
            </a:endParaRPr>
          </a:p>
          <a:p>
            <a:pPr marL="0" indent="0">
              <a:buFont typeface="Wingdings" panose="05000000000000000000" pitchFamily="2" charset="2"/>
              <a:buNone/>
            </a:pPr>
            <a:r>
              <a:rPr lang="fr-FR" dirty="0">
                <a:sym typeface="Wingdings" panose="05000000000000000000" pitchFamily="2" charset="2"/>
              </a:rPr>
              <a:t>Nouvelle étapes pour améliorer:</a:t>
            </a:r>
          </a:p>
          <a:p>
            <a:pPr marL="171450" indent="-171450">
              <a:buFontTx/>
              <a:buChar char="-"/>
            </a:pPr>
            <a:r>
              <a:rPr lang="fr-FR" dirty="0">
                <a:sym typeface="Wingdings" panose="05000000000000000000" pitchFamily="2" charset="2"/>
              </a:rPr>
              <a:t>filtrage: test parmi plus de 6 filtres et le plus adapté est le butterworth après avoir enlevé les valeurs aberrantes</a:t>
            </a:r>
          </a:p>
          <a:p>
            <a:pPr marL="171450" indent="-171450">
              <a:buFontTx/>
              <a:buChar char="-"/>
            </a:pPr>
            <a:r>
              <a:rPr lang="fr-FR" dirty="0">
                <a:sym typeface="Wingdings" panose="05000000000000000000" pitchFamily="2" charset="2"/>
              </a:rPr>
              <a:t>Augmentation de marqueur: permet d’augmenter grâce à l’IA le nombre de points = gros AVANTAGE pour l’analyse BIOMECANIQUE</a:t>
            </a:r>
          </a:p>
          <a:p>
            <a:pPr marL="628650" lvl="1" indent="-171450">
              <a:buFontTx/>
              <a:buChar char="-"/>
            </a:pPr>
            <a:r>
              <a:rPr lang="fr-FR" dirty="0">
                <a:sym typeface="Wingdings" panose="05000000000000000000" pitchFamily="2" charset="2"/>
              </a:rPr>
              <a:t>Permet la prochaine étape de correction</a:t>
            </a:r>
          </a:p>
          <a:p>
            <a:pPr marL="171450" lvl="0" indent="-171450">
              <a:buFontTx/>
              <a:buChar char="-"/>
            </a:pPr>
            <a:r>
              <a:rPr lang="fr-FR" dirty="0" err="1">
                <a:sym typeface="Wingdings" panose="05000000000000000000" pitchFamily="2" charset="2"/>
              </a:rPr>
              <a:t>Scaling</a:t>
            </a:r>
            <a:r>
              <a:rPr lang="fr-FR" dirty="0">
                <a:sym typeface="Wingdings" panose="05000000000000000000" pitchFamily="2" charset="2"/>
              </a:rPr>
              <a:t> / Cinématique inversée avec le package OpenSim</a:t>
            </a:r>
          </a:p>
          <a:p>
            <a:pPr marL="628650" lvl="1" indent="-171450">
              <a:buFontTx/>
              <a:buChar char="-"/>
            </a:pPr>
            <a:r>
              <a:rPr lang="fr-FR" dirty="0" err="1">
                <a:sym typeface="Wingdings" panose="05000000000000000000" pitchFamily="2" charset="2"/>
              </a:rPr>
              <a:t>Scaling</a:t>
            </a:r>
            <a:r>
              <a:rPr lang="fr-FR" dirty="0">
                <a:sym typeface="Wingdings" panose="05000000000000000000" pitchFamily="2" charset="2"/>
              </a:rPr>
              <a:t> permet de corriger la taille du modèle 3D suivant sa masse et sa taille réelle</a:t>
            </a:r>
          </a:p>
          <a:p>
            <a:pPr marL="628650" lvl="1" indent="-171450">
              <a:buFontTx/>
              <a:buChar char="-"/>
            </a:pPr>
            <a:r>
              <a:rPr lang="fr-FR" dirty="0">
                <a:sym typeface="Wingdings" panose="05000000000000000000" pitchFamily="2" charset="2"/>
              </a:rPr>
              <a:t>IK utilise les coordonnées 3D augmentés pour déterminer les angles qui régissent le mouvement en figeant la longueur des membres</a:t>
            </a:r>
          </a:p>
          <a:p>
            <a:pPr marL="0" lvl="0" indent="0">
              <a:buFontTx/>
              <a:buNone/>
            </a:pPr>
            <a:endParaRPr lang="fr-FR" dirty="0">
              <a:sym typeface="Wingdings" panose="05000000000000000000" pitchFamily="2" charset="2"/>
            </a:endParaRPr>
          </a:p>
          <a:p>
            <a:pPr marL="0" lvl="0" indent="0">
              <a:buFontTx/>
              <a:buNone/>
            </a:pPr>
            <a:r>
              <a:rPr lang="fr-FR" dirty="0">
                <a:sym typeface="Wingdings" panose="05000000000000000000" pitchFamily="2" charset="2"/>
              </a:rPr>
              <a:t>Les résultats montrent qu’on obtient une légère amélioration au niveau de la RMSE angulaire, et que surtout maintenant les membres sont de longueurs  constantes.</a:t>
            </a:r>
          </a:p>
          <a:p>
            <a:pPr marL="0" lvl="0" indent="0">
              <a:buFontTx/>
              <a:buNone/>
            </a:pPr>
            <a:endParaRPr lang="fr-FR" dirty="0">
              <a:sym typeface="Wingdings" panose="05000000000000000000" pitchFamily="2" charset="2"/>
            </a:endParaRPr>
          </a:p>
        </p:txBody>
      </p:sp>
      <p:sp>
        <p:nvSpPr>
          <p:cNvPr id="4" name="Espace réservé du numéro de diapositive 3"/>
          <p:cNvSpPr>
            <a:spLocks noGrp="1"/>
          </p:cNvSpPr>
          <p:nvPr>
            <p:ph type="sldNum" sz="quarter" idx="5"/>
          </p:nvPr>
        </p:nvSpPr>
        <p:spPr/>
        <p:txBody>
          <a:bodyPr/>
          <a:lstStyle/>
          <a:p>
            <a:fld id="{5A07CA43-6A79-40D7-9507-767418EB1B4E}" type="slidenum">
              <a:rPr lang="fr-FR" smtClean="0"/>
              <a:t>5</a:t>
            </a:fld>
            <a:endParaRPr lang="fr-FR"/>
          </a:p>
        </p:txBody>
      </p:sp>
    </p:spTree>
    <p:extLst>
      <p:ext uri="{BB962C8B-B14F-4D97-AF65-F5344CB8AC3E}">
        <p14:creationId xmlns:p14="http://schemas.microsoft.com/office/powerpoint/2010/main" val="1806591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La veille </a:t>
            </a:r>
            <a:r>
              <a:rPr lang="fr-FR" dirty="0" err="1"/>
              <a:t>bibligrapgique</a:t>
            </a:r>
            <a:r>
              <a:rPr lang="fr-FR" dirty="0"/>
              <a:t> qu’on faisait régulièrement a </a:t>
            </a:r>
            <a:r>
              <a:rPr lang="fr-FR" dirty="0" err="1"/>
              <a:t>permi</a:t>
            </a:r>
            <a:r>
              <a:rPr lang="fr-FR" dirty="0"/>
              <a:t> de découvrir un nouvelle technologie de META : SAM 3D Body</a:t>
            </a:r>
          </a:p>
          <a:p>
            <a:endParaRPr lang="fr-FR" dirty="0"/>
          </a:p>
          <a:p>
            <a:r>
              <a:rPr lang="fr-FR" dirty="0"/>
              <a:t>Sorti l e 19 </a:t>
            </a:r>
            <a:r>
              <a:rPr lang="fr-FR" dirty="0" err="1"/>
              <a:t>nov</a:t>
            </a:r>
            <a:r>
              <a:rPr lang="fr-FR" dirty="0"/>
              <a:t> 2025</a:t>
            </a:r>
          </a:p>
          <a:p>
            <a:endParaRPr lang="fr-FR" dirty="0"/>
          </a:p>
          <a:p>
            <a:r>
              <a:rPr lang="fr-FR" dirty="0"/>
              <a:t>Fonctionne au départ sur une image, et construis un modèle 3D avec celle-ci. </a:t>
            </a:r>
          </a:p>
          <a:p>
            <a:endParaRPr lang="fr-FR" dirty="0"/>
          </a:p>
          <a:p>
            <a:r>
              <a:rPr lang="fr-FR" dirty="0"/>
              <a:t>Si on arrive a l’adapter à des vidéos, il répond encore mieux à la problématique d’une solution de capture du mouvement sans marqueurs, peu chère et simple d’utilisation car il </a:t>
            </a:r>
            <a:r>
              <a:rPr lang="fr-FR" dirty="0" err="1"/>
              <a:t>sam</a:t>
            </a:r>
            <a:r>
              <a:rPr lang="fr-FR" dirty="0"/>
              <a:t> 3D utilise seulement 1 caméra pour reconstruire en 3D, donc pas de calibration non plus</a:t>
            </a:r>
          </a:p>
          <a:p>
            <a:endParaRPr lang="fr-FR" dirty="0"/>
          </a:p>
          <a:p>
            <a:r>
              <a:rPr lang="fr-FR" dirty="0"/>
              <a:t>A l’intérieur, la </a:t>
            </a:r>
            <a:r>
              <a:rPr lang="fr-FR" dirty="0" err="1"/>
              <a:t>detection</a:t>
            </a:r>
            <a:r>
              <a:rPr lang="fr-FR" dirty="0"/>
              <a:t> de la pose est similaire a notre processus car il utilise un algo de </a:t>
            </a:r>
            <a:r>
              <a:rPr lang="fr-FR" dirty="0" err="1"/>
              <a:t>bounding</a:t>
            </a:r>
            <a:r>
              <a:rPr lang="fr-FR" dirty="0"/>
              <a:t> box et ajoute les points des articulations dans celle-ci. Ce qui est fort c’est </a:t>
            </a:r>
            <a:r>
              <a:rPr lang="fr-FR" dirty="0" err="1"/>
              <a:t>qsu’à</a:t>
            </a:r>
            <a:r>
              <a:rPr lang="fr-FR" dirty="0"/>
              <a:t> partir d’une seule vue il est capable de recréer en 3D l’humain.</a:t>
            </a:r>
          </a:p>
          <a:p>
            <a:endParaRPr lang="fr-FR" dirty="0"/>
          </a:p>
          <a:p>
            <a:r>
              <a:rPr lang="fr-FR" dirty="0"/>
              <a:t>Pour ça on a du l’adapter et le modifier </a:t>
            </a:r>
            <a:r>
              <a:rPr lang="fr-FR" dirty="0" err="1"/>
              <a:t>pourq</a:t>
            </a:r>
            <a:r>
              <a:rPr lang="fr-FR" dirty="0"/>
              <a:t> ‘</a:t>
            </a:r>
            <a:r>
              <a:rPr lang="fr-FR" dirty="0" err="1"/>
              <a:t>uil</a:t>
            </a:r>
            <a:r>
              <a:rPr lang="fr-FR" dirty="0"/>
              <a:t> puisse s’adapter aux vidéos qu’on lui donne. Pour ça on va l’appliquer aux images qui composent la vidéos du mouvement</a:t>
            </a:r>
          </a:p>
          <a:p>
            <a:endParaRPr lang="fr-FR" dirty="0"/>
          </a:p>
          <a:p>
            <a:r>
              <a:rPr lang="fr-FR" dirty="0"/>
              <a:t>Le problème sont les suivants:</a:t>
            </a:r>
          </a:p>
          <a:p>
            <a:pPr marL="171450" indent="-171450">
              <a:buFontTx/>
              <a:buChar char="-"/>
            </a:pPr>
            <a:r>
              <a:rPr lang="fr-FR" dirty="0"/>
              <a:t>l’échelle n’est pas bonne car pas de calibration avec un objet de dimensions connues</a:t>
            </a:r>
          </a:p>
          <a:p>
            <a:pPr marL="171450" indent="-171450">
              <a:buFontTx/>
              <a:buChar char="-"/>
            </a:pPr>
            <a:r>
              <a:rPr lang="fr-FR" dirty="0"/>
              <a:t>Le </a:t>
            </a:r>
            <a:r>
              <a:rPr lang="fr-FR" dirty="0" err="1"/>
              <a:t>referentiel</a:t>
            </a:r>
            <a:r>
              <a:rPr lang="fr-FR" dirty="0"/>
              <a:t> utilisé change à chaque image – on sait pas comment il </a:t>
            </a:r>
            <a:r>
              <a:rPr lang="fr-FR" dirty="0" err="1"/>
              <a:t>determine</a:t>
            </a:r>
            <a:r>
              <a:rPr lang="fr-FR" dirty="0"/>
              <a:t> le </a:t>
            </a:r>
            <a:r>
              <a:rPr lang="fr-FR" dirty="0" err="1"/>
              <a:t>referentiel</a:t>
            </a:r>
            <a:r>
              <a:rPr lang="fr-FR" dirty="0"/>
              <a:t> à chaque </a:t>
            </a:r>
            <a:r>
              <a:rPr lang="fr-FR" dirty="0" err="1"/>
              <a:t>imahge</a:t>
            </a:r>
            <a:r>
              <a:rPr lang="fr-FR" dirty="0"/>
              <a:t> </a:t>
            </a:r>
            <a:r>
              <a:rPr lang="fr-FR" dirty="0">
                <a:sym typeface="Wingdings" panose="05000000000000000000" pitchFamily="2" charset="2"/>
              </a:rPr>
              <a:t> petit décalage à chaque fois </a:t>
            </a:r>
            <a:r>
              <a:rPr lang="fr-FR" dirty="0" err="1">
                <a:sym typeface="Wingdings" panose="05000000000000000000" pitchFamily="2" charset="2"/>
              </a:rPr>
              <a:t>ducoup</a:t>
            </a:r>
            <a:endParaRPr lang="fr-FR" dirty="0">
              <a:sym typeface="Wingdings" panose="05000000000000000000" pitchFamily="2" charset="2"/>
            </a:endParaRPr>
          </a:p>
          <a:p>
            <a:pPr marL="171450" indent="-171450">
              <a:buFontTx/>
              <a:buChar char="-"/>
            </a:pPr>
            <a:endParaRPr lang="fr-FR" dirty="0">
              <a:sym typeface="Wingdings" panose="05000000000000000000" pitchFamily="2" charset="2"/>
            </a:endParaRPr>
          </a:p>
          <a:p>
            <a:pPr marL="171450" indent="-171450">
              <a:buFont typeface="Wingdings" panose="05000000000000000000" pitchFamily="2" charset="2"/>
              <a:buChar char="è"/>
            </a:pPr>
            <a:r>
              <a:rPr lang="fr-FR" dirty="0">
                <a:sym typeface="Wingdings" panose="05000000000000000000" pitchFamily="2" charset="2"/>
              </a:rPr>
              <a:t>Impossible de </a:t>
            </a:r>
            <a:r>
              <a:rPr lang="fr-FR" dirty="0" err="1">
                <a:sym typeface="Wingdings" panose="05000000000000000000" pitchFamily="2" charset="2"/>
              </a:rPr>
              <a:t>comaprer</a:t>
            </a:r>
            <a:r>
              <a:rPr lang="fr-FR" dirty="0">
                <a:sym typeface="Wingdings" panose="05000000000000000000" pitchFamily="2" charset="2"/>
              </a:rPr>
              <a:t> les </a:t>
            </a:r>
            <a:r>
              <a:rPr lang="fr-FR" dirty="0" err="1">
                <a:sym typeface="Wingdings" panose="05000000000000000000" pitchFamily="2" charset="2"/>
              </a:rPr>
              <a:t>perfromances</a:t>
            </a:r>
            <a:r>
              <a:rPr lang="fr-FR" dirty="0">
                <a:sym typeface="Wingdings" panose="05000000000000000000" pitchFamily="2" charset="2"/>
              </a:rPr>
              <a:t> de positions avec le Vicon</a:t>
            </a:r>
          </a:p>
          <a:p>
            <a:pPr marL="0" indent="0">
              <a:buFont typeface="Wingdings" panose="05000000000000000000" pitchFamily="2" charset="2"/>
              <a:buNone/>
            </a:pPr>
            <a:endParaRPr lang="fr-FR" dirty="0">
              <a:sym typeface="Wingdings" panose="05000000000000000000" pitchFamily="2" charset="2"/>
            </a:endParaRPr>
          </a:p>
          <a:p>
            <a:pPr marL="0" indent="0">
              <a:buFont typeface="Wingdings" panose="05000000000000000000" pitchFamily="2" charset="2"/>
              <a:buNone/>
            </a:pPr>
            <a:r>
              <a:rPr lang="fr-FR" dirty="0">
                <a:sym typeface="Wingdings" panose="05000000000000000000" pitchFamily="2" charset="2"/>
              </a:rPr>
              <a:t>Par conte on est capable de </a:t>
            </a:r>
            <a:r>
              <a:rPr lang="fr-FR" dirty="0" err="1">
                <a:sym typeface="Wingdings" panose="05000000000000000000" pitchFamily="2" charset="2"/>
              </a:rPr>
              <a:t>comaprer</a:t>
            </a:r>
            <a:r>
              <a:rPr lang="fr-FR" dirty="0">
                <a:sym typeface="Wingdings" panose="05000000000000000000" pitchFamily="2" charset="2"/>
              </a:rPr>
              <a:t> les </a:t>
            </a:r>
            <a:r>
              <a:rPr lang="fr-FR" dirty="0" err="1">
                <a:sym typeface="Wingdings" panose="05000000000000000000" pitchFamily="2" charset="2"/>
              </a:rPr>
              <a:t>perfoamnces</a:t>
            </a:r>
            <a:r>
              <a:rPr lang="fr-FR" dirty="0">
                <a:sym typeface="Wingdings" panose="05000000000000000000" pitchFamily="2" charset="2"/>
              </a:rPr>
              <a:t> angulaires des 3 systèmes (Vicon MoCapIA et SAM3D) </a:t>
            </a:r>
          </a:p>
          <a:p>
            <a:pPr marL="0" indent="0">
              <a:buFont typeface="Wingdings" panose="05000000000000000000" pitchFamily="2" charset="2"/>
              <a:buNone/>
            </a:pPr>
            <a:endParaRPr lang="fr-FR" dirty="0">
              <a:sym typeface="Wingdings" panose="05000000000000000000" pitchFamily="2" charset="2"/>
            </a:endParaRPr>
          </a:p>
          <a:p>
            <a:pPr marL="171450" indent="-171450">
              <a:buFont typeface="Wingdings" panose="05000000000000000000" pitchFamily="2" charset="2"/>
              <a:buChar char="è"/>
            </a:pPr>
            <a:r>
              <a:rPr lang="fr-FR" dirty="0">
                <a:sym typeface="Wingdings" panose="05000000000000000000" pitchFamily="2" charset="2"/>
              </a:rPr>
              <a:t>On conclu que SAM3D fait mieux que </a:t>
            </a:r>
            <a:r>
              <a:rPr lang="fr-FR" dirty="0" err="1">
                <a:sym typeface="Wingdings" panose="05000000000000000000" pitchFamily="2" charset="2"/>
              </a:rPr>
              <a:t>MoCpaIA</a:t>
            </a:r>
            <a:r>
              <a:rPr lang="fr-FR" dirty="0">
                <a:sym typeface="Wingdings" panose="05000000000000000000" pitchFamily="2" charset="2"/>
              </a:rPr>
              <a:t> sur les angles </a:t>
            </a:r>
          </a:p>
          <a:p>
            <a:pPr marL="0" indent="0">
              <a:buFont typeface="Wingdings" panose="05000000000000000000" pitchFamily="2" charset="2"/>
              <a:buNone/>
            </a:pPr>
            <a:r>
              <a:rPr lang="fr-FR" dirty="0">
                <a:sym typeface="Wingdings" panose="05000000000000000000" pitchFamily="2" charset="2"/>
              </a:rPr>
              <a:t>La technologie est </a:t>
            </a:r>
            <a:r>
              <a:rPr lang="fr-FR" dirty="0" err="1">
                <a:sym typeface="Wingdings" panose="05000000000000000000" pitchFamily="2" charset="2"/>
              </a:rPr>
              <a:t>intéréssante</a:t>
            </a:r>
            <a:r>
              <a:rPr lang="fr-FR" dirty="0">
                <a:sym typeface="Wingdings" panose="05000000000000000000" pitchFamily="2" charset="2"/>
              </a:rPr>
              <a:t> et prometteuse</a:t>
            </a:r>
            <a:endParaRPr lang="fr-FR" dirty="0"/>
          </a:p>
        </p:txBody>
      </p:sp>
      <p:sp>
        <p:nvSpPr>
          <p:cNvPr id="4" name="Espace réservé du numéro de diapositive 3"/>
          <p:cNvSpPr>
            <a:spLocks noGrp="1"/>
          </p:cNvSpPr>
          <p:nvPr>
            <p:ph type="sldNum" sz="quarter" idx="5"/>
          </p:nvPr>
        </p:nvSpPr>
        <p:spPr/>
        <p:txBody>
          <a:bodyPr/>
          <a:lstStyle/>
          <a:p>
            <a:fld id="{5A07CA43-6A79-40D7-9507-767418EB1B4E}" type="slidenum">
              <a:rPr lang="fr-FR" smtClean="0"/>
              <a:t>6</a:t>
            </a:fld>
            <a:endParaRPr lang="fr-FR"/>
          </a:p>
        </p:txBody>
      </p:sp>
    </p:spTree>
    <p:extLst>
      <p:ext uri="{BB962C8B-B14F-4D97-AF65-F5344CB8AC3E}">
        <p14:creationId xmlns:p14="http://schemas.microsoft.com/office/powerpoint/2010/main" val="3391942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A07CA43-6A79-40D7-9507-767418EB1B4E}" type="slidenum">
              <a:rPr lang="fr-FR" smtClean="0"/>
              <a:t>7</a:t>
            </a:fld>
            <a:endParaRPr lang="fr-FR"/>
          </a:p>
        </p:txBody>
      </p:sp>
    </p:spTree>
    <p:extLst>
      <p:ext uri="{BB962C8B-B14F-4D97-AF65-F5344CB8AC3E}">
        <p14:creationId xmlns:p14="http://schemas.microsoft.com/office/powerpoint/2010/main" val="270171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iapo1">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E927E11F-3C30-4644-BD68-C0A05F393042}"/>
              </a:ext>
            </a:extLst>
          </p:cNvPr>
          <p:cNvSpPr>
            <a:spLocks noGrp="1"/>
          </p:cNvSpPr>
          <p:nvPr>
            <p:ph type="ftr" sz="quarter" idx="11"/>
          </p:nvPr>
        </p:nvSpPr>
        <p:spPr/>
        <p:txBody>
          <a:bodyPr/>
          <a:lstStyle/>
          <a:p>
            <a:r>
              <a:rPr lang="fr-FR" dirty="0"/>
              <a:t>26/02/2026 - Soutenance TN09 MoCapIA</a:t>
            </a:r>
          </a:p>
        </p:txBody>
      </p:sp>
      <p:sp>
        <p:nvSpPr>
          <p:cNvPr id="4" name="Espace réservé du numéro de diapositive 3">
            <a:extLst>
              <a:ext uri="{FF2B5EF4-FFF2-40B4-BE49-F238E27FC236}">
                <a16:creationId xmlns:a16="http://schemas.microsoft.com/office/drawing/2014/main" id="{168AC5CC-DE46-402B-94C8-8E5BB3ED4E76}"/>
              </a:ext>
            </a:extLst>
          </p:cNvPr>
          <p:cNvSpPr>
            <a:spLocks noGrp="1"/>
          </p:cNvSpPr>
          <p:nvPr>
            <p:ph type="sldNum" sz="quarter" idx="12"/>
          </p:nvPr>
        </p:nvSpPr>
        <p:spPr/>
        <p:txBody>
          <a:bodyPr/>
          <a:lstStyle/>
          <a:p>
            <a:fld id="{5FE832C7-580F-4527-9E2C-46AEE9BAF770}" type="slidenum">
              <a:rPr lang="fr-FR" smtClean="0"/>
              <a:t>‹N°›</a:t>
            </a:fld>
            <a:endParaRPr lang="fr-FR"/>
          </a:p>
        </p:txBody>
      </p:sp>
    </p:spTree>
    <p:extLst>
      <p:ext uri="{BB962C8B-B14F-4D97-AF65-F5344CB8AC3E}">
        <p14:creationId xmlns:p14="http://schemas.microsoft.com/office/powerpoint/2010/main" val="102218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tête et Contenu">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C9BC3B62-29C0-48F7-9000-862B645C2D7B}"/>
              </a:ext>
            </a:extLst>
          </p:cNvPr>
          <p:cNvSpPr>
            <a:spLocks noGrp="1"/>
          </p:cNvSpPr>
          <p:nvPr>
            <p:ph type="ftr" sz="quarter" idx="10"/>
          </p:nvPr>
        </p:nvSpPr>
        <p:spPr/>
        <p:txBody>
          <a:bodyPr/>
          <a:lstStyle/>
          <a:p>
            <a:r>
              <a:rPr lang="fr-FR" dirty="0"/>
              <a:t>26/02/2026 - Soutenance TN09 MoCapIA</a:t>
            </a:r>
          </a:p>
        </p:txBody>
      </p:sp>
      <p:sp>
        <p:nvSpPr>
          <p:cNvPr id="4" name="Espace réservé du numéro de diapositive 3">
            <a:extLst>
              <a:ext uri="{FF2B5EF4-FFF2-40B4-BE49-F238E27FC236}">
                <a16:creationId xmlns:a16="http://schemas.microsoft.com/office/drawing/2014/main" id="{199B9B89-D700-4B42-8305-A18D669C1211}"/>
              </a:ext>
            </a:extLst>
          </p:cNvPr>
          <p:cNvSpPr>
            <a:spLocks noGrp="1"/>
          </p:cNvSpPr>
          <p:nvPr>
            <p:ph type="sldNum" sz="quarter" idx="11"/>
          </p:nvPr>
        </p:nvSpPr>
        <p:spPr/>
        <p:txBody>
          <a:bodyPr/>
          <a:lstStyle/>
          <a:p>
            <a:fld id="{5FE832C7-580F-4527-9E2C-46AEE9BAF770}" type="slidenum">
              <a:rPr lang="fr-FR" smtClean="0"/>
              <a:t>‹N°›</a:t>
            </a:fld>
            <a:endParaRPr lang="fr-FR" dirty="0"/>
          </a:p>
        </p:txBody>
      </p:sp>
    </p:spTree>
    <p:extLst>
      <p:ext uri="{BB962C8B-B14F-4D97-AF65-F5344CB8AC3E}">
        <p14:creationId xmlns:p14="http://schemas.microsoft.com/office/powerpoint/2010/main" val="3691971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nnex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9859C8-3030-6915-FB52-7DA8E69D1254}"/>
              </a:ext>
            </a:extLst>
          </p:cNvPr>
          <p:cNvSpPr>
            <a:spLocks noGrp="1"/>
          </p:cNvSpPr>
          <p:nvPr>
            <p:ph type="title" hasCustomPrompt="1"/>
          </p:nvPr>
        </p:nvSpPr>
        <p:spPr>
          <a:xfrm>
            <a:off x="2310442" y="69012"/>
            <a:ext cx="2388079" cy="557842"/>
          </a:xfrm>
          <a:prstGeom prst="rect">
            <a:avLst/>
          </a:prstGeom>
        </p:spPr>
        <p:txBody>
          <a:bodyPr/>
          <a:lstStyle>
            <a:lvl1pPr>
              <a:defRPr sz="3000"/>
            </a:lvl1pPr>
          </a:lstStyle>
          <a:p>
            <a:r>
              <a:rPr lang="fr-FR" dirty="0"/>
              <a:t>Annexes</a:t>
            </a:r>
          </a:p>
        </p:txBody>
      </p:sp>
      <p:sp>
        <p:nvSpPr>
          <p:cNvPr id="3" name="Espace réservé du pied de page 2">
            <a:extLst>
              <a:ext uri="{FF2B5EF4-FFF2-40B4-BE49-F238E27FC236}">
                <a16:creationId xmlns:a16="http://schemas.microsoft.com/office/drawing/2014/main" id="{0F63FBB6-DBFF-8F7F-E0D2-7832B6C229DD}"/>
              </a:ext>
            </a:extLst>
          </p:cNvPr>
          <p:cNvSpPr>
            <a:spLocks noGrp="1"/>
          </p:cNvSpPr>
          <p:nvPr>
            <p:ph type="ftr" sz="quarter" idx="10"/>
          </p:nvPr>
        </p:nvSpPr>
        <p:spPr/>
        <p:txBody>
          <a:bodyPr/>
          <a:lstStyle/>
          <a:p>
            <a:r>
              <a:rPr lang="fr-FR"/>
              <a:t>26/02/2026 - Soutenance TN09 MoCapIA</a:t>
            </a:r>
            <a:endParaRPr lang="fr-FR" dirty="0"/>
          </a:p>
        </p:txBody>
      </p:sp>
      <p:sp>
        <p:nvSpPr>
          <p:cNvPr id="4" name="Espace réservé du numéro de diapositive 3">
            <a:extLst>
              <a:ext uri="{FF2B5EF4-FFF2-40B4-BE49-F238E27FC236}">
                <a16:creationId xmlns:a16="http://schemas.microsoft.com/office/drawing/2014/main" id="{25B99213-8A0F-F4BA-DDA5-C4C4E0114043}"/>
              </a:ext>
            </a:extLst>
          </p:cNvPr>
          <p:cNvSpPr>
            <a:spLocks noGrp="1"/>
          </p:cNvSpPr>
          <p:nvPr>
            <p:ph type="sldNum" sz="quarter" idx="11"/>
          </p:nvPr>
        </p:nvSpPr>
        <p:spPr/>
        <p:txBody>
          <a:bodyPr/>
          <a:lstStyle/>
          <a:p>
            <a:fld id="{5FE832C7-580F-4527-9E2C-46AEE9BAF770}" type="slidenum">
              <a:rPr lang="fr-FR" smtClean="0"/>
              <a:t>‹N°›</a:t>
            </a:fld>
            <a:endParaRPr lang="fr-FR" dirty="0"/>
          </a:p>
        </p:txBody>
      </p:sp>
    </p:spTree>
    <p:extLst>
      <p:ext uri="{BB962C8B-B14F-4D97-AF65-F5344CB8AC3E}">
        <p14:creationId xmlns:p14="http://schemas.microsoft.com/office/powerpoint/2010/main" val="2704305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33F8AB34-E1EE-4AFB-8690-D5F760CD1F92}"/>
              </a:ext>
            </a:extLst>
          </p:cNvPr>
          <p:cNvSpPr>
            <a:spLocks noGrp="1"/>
          </p:cNvSpPr>
          <p:nvPr>
            <p:ph type="ftr" sz="quarter" idx="3"/>
          </p:nvPr>
        </p:nvSpPr>
        <p:spPr>
          <a:xfrm>
            <a:off x="4038600" y="6607175"/>
            <a:ext cx="4114800" cy="2508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dirty="0"/>
              <a:t>26/02/2026 - Soutenance TN09 MoCapIA</a:t>
            </a:r>
          </a:p>
        </p:txBody>
      </p:sp>
      <p:sp>
        <p:nvSpPr>
          <p:cNvPr id="6" name="Espace réservé du numéro de diapositive 5">
            <a:extLst>
              <a:ext uri="{FF2B5EF4-FFF2-40B4-BE49-F238E27FC236}">
                <a16:creationId xmlns:a16="http://schemas.microsoft.com/office/drawing/2014/main" id="{D69EA984-98F7-4BB2-99C1-E08AB82CAD2F}"/>
              </a:ext>
            </a:extLst>
          </p:cNvPr>
          <p:cNvSpPr>
            <a:spLocks noGrp="1"/>
          </p:cNvSpPr>
          <p:nvPr>
            <p:ph type="sldNum" sz="quarter" idx="4"/>
          </p:nvPr>
        </p:nvSpPr>
        <p:spPr>
          <a:xfrm>
            <a:off x="9258947" y="18429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E832C7-580F-4527-9E2C-46AEE9BAF770}" type="slidenum">
              <a:rPr lang="fr-FR" smtClean="0"/>
              <a:t>‹N°›</a:t>
            </a:fld>
            <a:endParaRPr lang="fr-FR" dirty="0"/>
          </a:p>
        </p:txBody>
      </p:sp>
      <p:pic>
        <p:nvPicPr>
          <p:cNvPr id="14" name="Image 13">
            <a:extLst>
              <a:ext uri="{FF2B5EF4-FFF2-40B4-BE49-F238E27FC236}">
                <a16:creationId xmlns:a16="http://schemas.microsoft.com/office/drawing/2014/main" id="{B3FCF658-FC6D-4F66-A32A-E5407F63F85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7350" y="-679289"/>
            <a:ext cx="2052866" cy="2052866"/>
          </a:xfrm>
          <a:prstGeom prst="rect">
            <a:avLst/>
          </a:prstGeom>
        </p:spPr>
      </p:pic>
    </p:spTree>
    <p:extLst>
      <p:ext uri="{BB962C8B-B14F-4D97-AF65-F5344CB8AC3E}">
        <p14:creationId xmlns:p14="http://schemas.microsoft.com/office/powerpoint/2010/main" val="1779713228"/>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jp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jpeg"/><Relationship Id="rId4" Type="http://schemas.openxmlformats.org/officeDocument/2006/relationships/image" Target="../media/image27.jpeg"/></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pied de page 6">
            <a:extLst>
              <a:ext uri="{FF2B5EF4-FFF2-40B4-BE49-F238E27FC236}">
                <a16:creationId xmlns:a16="http://schemas.microsoft.com/office/drawing/2014/main" id="{D8D86844-D093-43BC-939D-E52BD571EB0B}"/>
              </a:ext>
            </a:extLst>
          </p:cNvPr>
          <p:cNvSpPr>
            <a:spLocks noGrp="1"/>
          </p:cNvSpPr>
          <p:nvPr>
            <p:ph type="ftr" sz="quarter" idx="11"/>
          </p:nvPr>
        </p:nvSpPr>
        <p:spPr/>
        <p:txBody>
          <a:bodyPr/>
          <a:lstStyle/>
          <a:p>
            <a:r>
              <a:rPr lang="fr-FR" dirty="0"/>
              <a:t>26/02/2026 - Soutenance TN09 MoCapIA</a:t>
            </a:r>
          </a:p>
        </p:txBody>
      </p:sp>
      <p:sp>
        <p:nvSpPr>
          <p:cNvPr id="8" name="Espace réservé du numéro de diapositive 7">
            <a:extLst>
              <a:ext uri="{FF2B5EF4-FFF2-40B4-BE49-F238E27FC236}">
                <a16:creationId xmlns:a16="http://schemas.microsoft.com/office/drawing/2014/main" id="{9FF48A44-325C-4A9B-96FC-BA8723482B9B}"/>
              </a:ext>
            </a:extLst>
          </p:cNvPr>
          <p:cNvSpPr>
            <a:spLocks noGrp="1"/>
          </p:cNvSpPr>
          <p:nvPr>
            <p:ph type="sldNum" sz="quarter" idx="12"/>
          </p:nvPr>
        </p:nvSpPr>
        <p:spPr/>
        <p:txBody>
          <a:bodyPr/>
          <a:lstStyle/>
          <a:p>
            <a:fld id="{5FE832C7-580F-4527-9E2C-46AEE9BAF770}" type="slidenum">
              <a:rPr lang="fr-FR" smtClean="0"/>
              <a:t>1</a:t>
            </a:fld>
            <a:endParaRPr lang="fr-FR" dirty="0"/>
          </a:p>
        </p:txBody>
      </p:sp>
      <p:cxnSp>
        <p:nvCxnSpPr>
          <p:cNvPr id="10" name="Connecteur droit 9">
            <a:extLst>
              <a:ext uri="{FF2B5EF4-FFF2-40B4-BE49-F238E27FC236}">
                <a16:creationId xmlns:a16="http://schemas.microsoft.com/office/drawing/2014/main" id="{3C04F2ED-7C44-4EB3-BA39-B2CC5EB13676}"/>
              </a:ext>
            </a:extLst>
          </p:cNvPr>
          <p:cNvCxnSpPr/>
          <p:nvPr/>
        </p:nvCxnSpPr>
        <p:spPr>
          <a:xfrm>
            <a:off x="1809750" y="1695450"/>
            <a:ext cx="9182100" cy="0"/>
          </a:xfrm>
          <a:prstGeom prst="line">
            <a:avLst/>
          </a:prstGeom>
          <a:ln w="38100">
            <a:solidFill>
              <a:srgbClr val="F4DC16"/>
            </a:solidFill>
          </a:ln>
        </p:spPr>
        <p:style>
          <a:lnRef idx="1">
            <a:schemeClr val="accent4"/>
          </a:lnRef>
          <a:fillRef idx="0">
            <a:schemeClr val="accent4"/>
          </a:fillRef>
          <a:effectRef idx="0">
            <a:schemeClr val="accent4"/>
          </a:effectRef>
          <a:fontRef idx="minor">
            <a:schemeClr val="tx1"/>
          </a:fontRef>
        </p:style>
      </p:cxnSp>
      <p:cxnSp>
        <p:nvCxnSpPr>
          <p:cNvPr id="11" name="Connecteur droit 10">
            <a:extLst>
              <a:ext uri="{FF2B5EF4-FFF2-40B4-BE49-F238E27FC236}">
                <a16:creationId xmlns:a16="http://schemas.microsoft.com/office/drawing/2014/main" id="{982D9FC7-833F-4013-B91D-398F6B1C9459}"/>
              </a:ext>
            </a:extLst>
          </p:cNvPr>
          <p:cNvCxnSpPr>
            <a:cxnSpLocks/>
          </p:cNvCxnSpPr>
          <p:nvPr/>
        </p:nvCxnSpPr>
        <p:spPr>
          <a:xfrm>
            <a:off x="1809750" y="4133850"/>
            <a:ext cx="9182100" cy="0"/>
          </a:xfrm>
          <a:prstGeom prst="line">
            <a:avLst/>
          </a:prstGeom>
          <a:ln w="28575">
            <a:solidFill>
              <a:srgbClr val="F4DC16"/>
            </a:solidFill>
          </a:ln>
        </p:spPr>
        <p:style>
          <a:lnRef idx="1">
            <a:schemeClr val="accent4"/>
          </a:lnRef>
          <a:fillRef idx="0">
            <a:schemeClr val="accent4"/>
          </a:fillRef>
          <a:effectRef idx="0">
            <a:schemeClr val="accent4"/>
          </a:effectRef>
          <a:fontRef idx="minor">
            <a:schemeClr val="tx1"/>
          </a:fontRef>
        </p:style>
      </p:cxnSp>
      <p:sp>
        <p:nvSpPr>
          <p:cNvPr id="13" name="ZoneTexte 12">
            <a:extLst>
              <a:ext uri="{FF2B5EF4-FFF2-40B4-BE49-F238E27FC236}">
                <a16:creationId xmlns:a16="http://schemas.microsoft.com/office/drawing/2014/main" id="{33AB2F5B-29F5-4B15-BC12-E210B00BA0AC}"/>
              </a:ext>
            </a:extLst>
          </p:cNvPr>
          <p:cNvSpPr txBox="1"/>
          <p:nvPr/>
        </p:nvSpPr>
        <p:spPr>
          <a:xfrm>
            <a:off x="3529012" y="933450"/>
            <a:ext cx="5133975" cy="630942"/>
          </a:xfrm>
          <a:prstGeom prst="rect">
            <a:avLst/>
          </a:prstGeom>
          <a:noFill/>
        </p:spPr>
        <p:txBody>
          <a:bodyPr wrap="square" rtlCol="0">
            <a:spAutoFit/>
          </a:bodyPr>
          <a:lstStyle/>
          <a:p>
            <a:pPr algn="ctr"/>
            <a:r>
              <a:rPr lang="fr-FR" sz="3500" b="1" dirty="0"/>
              <a:t>Soutenance de stage TN09</a:t>
            </a:r>
          </a:p>
        </p:txBody>
      </p:sp>
      <p:sp>
        <p:nvSpPr>
          <p:cNvPr id="14" name="ZoneTexte 13">
            <a:extLst>
              <a:ext uri="{FF2B5EF4-FFF2-40B4-BE49-F238E27FC236}">
                <a16:creationId xmlns:a16="http://schemas.microsoft.com/office/drawing/2014/main" id="{688A74AD-452D-491D-84CC-555BE4C1C9C9}"/>
              </a:ext>
            </a:extLst>
          </p:cNvPr>
          <p:cNvSpPr txBox="1"/>
          <p:nvPr/>
        </p:nvSpPr>
        <p:spPr>
          <a:xfrm>
            <a:off x="2669380" y="1822172"/>
            <a:ext cx="6853237" cy="2092881"/>
          </a:xfrm>
          <a:prstGeom prst="rect">
            <a:avLst/>
          </a:prstGeom>
          <a:noFill/>
        </p:spPr>
        <p:txBody>
          <a:bodyPr wrap="square" rtlCol="0">
            <a:spAutoFit/>
          </a:bodyPr>
          <a:lstStyle/>
          <a:p>
            <a:pPr algn="ctr"/>
            <a:r>
              <a:rPr lang="fr-FR" sz="4500" dirty="0"/>
              <a:t>MoCapIA</a:t>
            </a:r>
          </a:p>
          <a:p>
            <a:pPr algn="ctr"/>
            <a:r>
              <a:rPr lang="fr-FR" sz="4500" dirty="0"/>
              <a:t>-</a:t>
            </a:r>
          </a:p>
          <a:p>
            <a:pPr algn="ctr"/>
            <a:r>
              <a:rPr lang="fr-FR" sz="2000" dirty="0"/>
              <a:t>Amélioration d’une solution de capture du mouvement par IA sans marqueurs</a:t>
            </a:r>
          </a:p>
        </p:txBody>
      </p:sp>
      <p:sp>
        <p:nvSpPr>
          <p:cNvPr id="15" name="ZoneTexte 14">
            <a:extLst>
              <a:ext uri="{FF2B5EF4-FFF2-40B4-BE49-F238E27FC236}">
                <a16:creationId xmlns:a16="http://schemas.microsoft.com/office/drawing/2014/main" id="{93256DC6-6018-45A7-82DD-2FE9C0371AB2}"/>
              </a:ext>
            </a:extLst>
          </p:cNvPr>
          <p:cNvSpPr txBox="1"/>
          <p:nvPr/>
        </p:nvSpPr>
        <p:spPr>
          <a:xfrm>
            <a:off x="4933948" y="149307"/>
            <a:ext cx="2324100" cy="400110"/>
          </a:xfrm>
          <a:prstGeom prst="rect">
            <a:avLst/>
          </a:prstGeom>
          <a:noFill/>
        </p:spPr>
        <p:txBody>
          <a:bodyPr wrap="square" rtlCol="0">
            <a:spAutoFit/>
          </a:bodyPr>
          <a:lstStyle/>
          <a:p>
            <a:pPr algn="ctr"/>
            <a:r>
              <a:rPr lang="fr-FR" sz="2000" dirty="0">
                <a:solidFill>
                  <a:schemeClr val="bg2">
                    <a:lumMod val="50000"/>
                  </a:schemeClr>
                </a:solidFill>
              </a:rPr>
              <a:t>Macéo Narbonnet</a:t>
            </a:r>
          </a:p>
        </p:txBody>
      </p:sp>
      <p:sp>
        <p:nvSpPr>
          <p:cNvPr id="16" name="ZoneTexte 15">
            <a:extLst>
              <a:ext uri="{FF2B5EF4-FFF2-40B4-BE49-F238E27FC236}">
                <a16:creationId xmlns:a16="http://schemas.microsoft.com/office/drawing/2014/main" id="{815E274C-6F2C-4A4B-B130-7E86F8185327}"/>
              </a:ext>
            </a:extLst>
          </p:cNvPr>
          <p:cNvSpPr txBox="1"/>
          <p:nvPr/>
        </p:nvSpPr>
        <p:spPr>
          <a:xfrm>
            <a:off x="3933498" y="4580383"/>
            <a:ext cx="4325000" cy="1015663"/>
          </a:xfrm>
          <a:prstGeom prst="rect">
            <a:avLst/>
          </a:prstGeom>
          <a:noFill/>
          <a:ln w="6350">
            <a:solidFill>
              <a:schemeClr val="bg2">
                <a:lumMod val="50000"/>
              </a:schemeClr>
            </a:solidFill>
          </a:ln>
        </p:spPr>
        <p:txBody>
          <a:bodyPr wrap="square" rtlCol="0">
            <a:spAutoFit/>
          </a:bodyPr>
          <a:lstStyle/>
          <a:p>
            <a:pPr algn="ctr"/>
            <a:r>
              <a:rPr lang="fr-FR" sz="2000" dirty="0">
                <a:solidFill>
                  <a:schemeClr val="bg2">
                    <a:lumMod val="50000"/>
                  </a:schemeClr>
                </a:solidFill>
              </a:rPr>
              <a:t>Equipe BioMov-E</a:t>
            </a:r>
          </a:p>
          <a:p>
            <a:pPr algn="ctr"/>
            <a:r>
              <a:rPr lang="fr-FR" sz="2000" dirty="0">
                <a:solidFill>
                  <a:schemeClr val="bg2">
                    <a:lumMod val="50000"/>
                  </a:schemeClr>
                </a:solidFill>
              </a:rPr>
              <a:t>Laboratoire de recherche BMBI</a:t>
            </a:r>
          </a:p>
          <a:p>
            <a:pPr algn="ctr"/>
            <a:r>
              <a:rPr lang="fr-FR" sz="2000" dirty="0">
                <a:solidFill>
                  <a:schemeClr val="bg2">
                    <a:lumMod val="50000"/>
                  </a:schemeClr>
                </a:solidFill>
              </a:rPr>
              <a:t>Compiègne 60200, Centre d’Innovation</a:t>
            </a:r>
          </a:p>
        </p:txBody>
      </p:sp>
      <p:sp>
        <p:nvSpPr>
          <p:cNvPr id="2" name="ZoneTexte 1">
            <a:extLst>
              <a:ext uri="{FF2B5EF4-FFF2-40B4-BE49-F238E27FC236}">
                <a16:creationId xmlns:a16="http://schemas.microsoft.com/office/drawing/2014/main" id="{F14E8CA3-90A5-42A8-B8B7-8043378F57C1}"/>
              </a:ext>
            </a:extLst>
          </p:cNvPr>
          <p:cNvSpPr txBox="1"/>
          <p:nvPr/>
        </p:nvSpPr>
        <p:spPr>
          <a:xfrm>
            <a:off x="672353" y="6149788"/>
            <a:ext cx="2357718" cy="369332"/>
          </a:xfrm>
          <a:prstGeom prst="rect">
            <a:avLst/>
          </a:prstGeom>
          <a:noFill/>
        </p:spPr>
        <p:txBody>
          <a:bodyPr wrap="square" rtlCol="0">
            <a:spAutoFit/>
          </a:bodyPr>
          <a:lstStyle/>
          <a:p>
            <a:r>
              <a:rPr lang="fr-FR" dirty="0"/>
              <a:t>M. Trigano</a:t>
            </a:r>
          </a:p>
        </p:txBody>
      </p:sp>
      <p:sp>
        <p:nvSpPr>
          <p:cNvPr id="12" name="ZoneTexte 11">
            <a:extLst>
              <a:ext uri="{FF2B5EF4-FFF2-40B4-BE49-F238E27FC236}">
                <a16:creationId xmlns:a16="http://schemas.microsoft.com/office/drawing/2014/main" id="{1ADCE971-8B17-4771-AB9B-BA16579FD0B2}"/>
              </a:ext>
            </a:extLst>
          </p:cNvPr>
          <p:cNvSpPr txBox="1"/>
          <p:nvPr/>
        </p:nvSpPr>
        <p:spPr>
          <a:xfrm>
            <a:off x="9834282" y="6202918"/>
            <a:ext cx="2357718" cy="369332"/>
          </a:xfrm>
          <a:prstGeom prst="rect">
            <a:avLst/>
          </a:prstGeom>
          <a:noFill/>
        </p:spPr>
        <p:txBody>
          <a:bodyPr wrap="square" rtlCol="0">
            <a:spAutoFit/>
          </a:bodyPr>
          <a:lstStyle/>
          <a:p>
            <a:r>
              <a:rPr lang="fr-FR" dirty="0"/>
              <a:t>M. Ben Mansour</a:t>
            </a:r>
          </a:p>
        </p:txBody>
      </p:sp>
      <p:sp>
        <p:nvSpPr>
          <p:cNvPr id="18" name="ZoneTexte 17">
            <a:extLst>
              <a:ext uri="{FF2B5EF4-FFF2-40B4-BE49-F238E27FC236}">
                <a16:creationId xmlns:a16="http://schemas.microsoft.com/office/drawing/2014/main" id="{2D7835FC-5130-4EFD-BCC0-F4CFEF3B2E86}"/>
              </a:ext>
            </a:extLst>
          </p:cNvPr>
          <p:cNvSpPr txBox="1"/>
          <p:nvPr/>
        </p:nvSpPr>
        <p:spPr>
          <a:xfrm>
            <a:off x="9818643" y="5895141"/>
            <a:ext cx="1623807" cy="307777"/>
          </a:xfrm>
          <a:prstGeom prst="rect">
            <a:avLst/>
          </a:prstGeom>
          <a:noFill/>
        </p:spPr>
        <p:txBody>
          <a:bodyPr wrap="square" rtlCol="0">
            <a:spAutoFit/>
          </a:bodyPr>
          <a:lstStyle/>
          <a:p>
            <a:pPr algn="ctr"/>
            <a:r>
              <a:rPr lang="fr-FR" sz="1400" dirty="0">
                <a:solidFill>
                  <a:schemeClr val="bg2">
                    <a:lumMod val="25000"/>
                  </a:schemeClr>
                </a:solidFill>
              </a:rPr>
              <a:t>Tuteur de stage</a:t>
            </a:r>
          </a:p>
        </p:txBody>
      </p:sp>
      <p:sp>
        <p:nvSpPr>
          <p:cNvPr id="19" name="ZoneTexte 18">
            <a:extLst>
              <a:ext uri="{FF2B5EF4-FFF2-40B4-BE49-F238E27FC236}">
                <a16:creationId xmlns:a16="http://schemas.microsoft.com/office/drawing/2014/main" id="{57766216-AA39-4A33-8E54-5FFCE362F97D}"/>
              </a:ext>
            </a:extLst>
          </p:cNvPr>
          <p:cNvSpPr txBox="1"/>
          <p:nvPr/>
        </p:nvSpPr>
        <p:spPr>
          <a:xfrm>
            <a:off x="386080" y="5843281"/>
            <a:ext cx="1746325" cy="307777"/>
          </a:xfrm>
          <a:prstGeom prst="rect">
            <a:avLst/>
          </a:prstGeom>
          <a:noFill/>
        </p:spPr>
        <p:txBody>
          <a:bodyPr wrap="square" rtlCol="0">
            <a:spAutoFit/>
          </a:bodyPr>
          <a:lstStyle/>
          <a:p>
            <a:pPr algn="ctr"/>
            <a:r>
              <a:rPr lang="fr-FR" sz="1400" dirty="0">
                <a:solidFill>
                  <a:schemeClr val="bg2">
                    <a:lumMod val="25000"/>
                  </a:schemeClr>
                </a:solidFill>
              </a:rPr>
              <a:t>Suiveur de stage UTC</a:t>
            </a:r>
          </a:p>
        </p:txBody>
      </p:sp>
      <p:pic>
        <p:nvPicPr>
          <p:cNvPr id="5" name="Image 4">
            <a:extLst>
              <a:ext uri="{FF2B5EF4-FFF2-40B4-BE49-F238E27FC236}">
                <a16:creationId xmlns:a16="http://schemas.microsoft.com/office/drawing/2014/main" id="{E834C2FF-4248-4FFD-B2FA-6C55C1EF38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0243" y="60882"/>
            <a:ext cx="602806" cy="602806"/>
          </a:xfrm>
          <a:prstGeom prst="rect">
            <a:avLst/>
          </a:prstGeom>
        </p:spPr>
      </p:pic>
    </p:spTree>
    <p:extLst>
      <p:ext uri="{BB962C8B-B14F-4D97-AF65-F5344CB8AC3E}">
        <p14:creationId xmlns:p14="http://schemas.microsoft.com/office/powerpoint/2010/main" val="2597910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ZoneTexte 77">
            <a:extLst>
              <a:ext uri="{FF2B5EF4-FFF2-40B4-BE49-F238E27FC236}">
                <a16:creationId xmlns:a16="http://schemas.microsoft.com/office/drawing/2014/main" id="{40D6A0D7-9B30-476B-4A7D-4B991B3DFC87}"/>
              </a:ext>
            </a:extLst>
          </p:cNvPr>
          <p:cNvSpPr txBox="1"/>
          <p:nvPr/>
        </p:nvSpPr>
        <p:spPr>
          <a:xfrm>
            <a:off x="58793" y="2470499"/>
            <a:ext cx="3083213" cy="1200329"/>
          </a:xfrm>
          <a:prstGeom prst="rect">
            <a:avLst/>
          </a:prstGeom>
          <a:noFill/>
          <a:ln>
            <a:solidFill>
              <a:schemeClr val="tx1"/>
            </a:solidFill>
          </a:ln>
        </p:spPr>
        <p:txBody>
          <a:bodyPr wrap="square" rtlCol="0">
            <a:spAutoFit/>
          </a:bodyPr>
          <a:lstStyle/>
          <a:p>
            <a:r>
              <a:rPr lang="fr-FR" dirty="0"/>
              <a:t>développement de solutions permettant de </a:t>
            </a:r>
            <a:r>
              <a:rPr lang="fr-FR" dirty="0">
                <a:solidFill>
                  <a:srgbClr val="FF0000"/>
                </a:solidFill>
              </a:rPr>
              <a:t>suivre</a:t>
            </a:r>
            <a:r>
              <a:rPr lang="fr-FR" dirty="0"/>
              <a:t> et </a:t>
            </a:r>
            <a:r>
              <a:rPr lang="fr-FR" dirty="0">
                <a:solidFill>
                  <a:srgbClr val="FF0000"/>
                </a:solidFill>
              </a:rPr>
              <a:t>d’analyser l’état de santé de l’Homme</a:t>
            </a:r>
            <a:r>
              <a:rPr lang="fr-FR" dirty="0"/>
              <a:t> et de l’animal</a:t>
            </a:r>
          </a:p>
        </p:txBody>
      </p:sp>
      <p:sp>
        <p:nvSpPr>
          <p:cNvPr id="2" name="Espace réservé du pied de page 1">
            <a:extLst>
              <a:ext uri="{FF2B5EF4-FFF2-40B4-BE49-F238E27FC236}">
                <a16:creationId xmlns:a16="http://schemas.microsoft.com/office/drawing/2014/main" id="{619FA6AB-FE95-408A-BA41-5BD833FFF463}"/>
              </a:ext>
            </a:extLst>
          </p:cNvPr>
          <p:cNvSpPr>
            <a:spLocks noGrp="1"/>
          </p:cNvSpPr>
          <p:nvPr>
            <p:ph type="ftr" sz="quarter" idx="10"/>
          </p:nvPr>
        </p:nvSpPr>
        <p:spPr>
          <a:xfrm>
            <a:off x="4038600" y="6337300"/>
            <a:ext cx="4114800" cy="365125"/>
          </a:xfrm>
        </p:spPr>
        <p:txBody>
          <a:bodyPr/>
          <a:lstStyle/>
          <a:p>
            <a:r>
              <a:rPr lang="fr-FR" dirty="0"/>
              <a:t>26/02/2026 - Soutenance TN09 MoCapIA</a:t>
            </a:r>
          </a:p>
        </p:txBody>
      </p:sp>
      <p:sp>
        <p:nvSpPr>
          <p:cNvPr id="3" name="Espace réservé du numéro de diapositive 2">
            <a:extLst>
              <a:ext uri="{FF2B5EF4-FFF2-40B4-BE49-F238E27FC236}">
                <a16:creationId xmlns:a16="http://schemas.microsoft.com/office/drawing/2014/main" id="{84C4396A-D923-420D-BFD8-454927304C55}"/>
              </a:ext>
            </a:extLst>
          </p:cNvPr>
          <p:cNvSpPr>
            <a:spLocks noGrp="1"/>
          </p:cNvSpPr>
          <p:nvPr>
            <p:ph type="sldNum" sz="quarter" idx="11"/>
          </p:nvPr>
        </p:nvSpPr>
        <p:spPr>
          <a:xfrm>
            <a:off x="9258947" y="184292"/>
            <a:ext cx="2743200" cy="365125"/>
          </a:xfrm>
        </p:spPr>
        <p:txBody>
          <a:bodyPr/>
          <a:lstStyle/>
          <a:p>
            <a:fld id="{5FE832C7-580F-4527-9E2C-46AEE9BAF770}" type="slidenum">
              <a:rPr lang="fr-FR" smtClean="0"/>
              <a:pPr/>
              <a:t>2</a:t>
            </a:fld>
            <a:endParaRPr lang="fr-FR" dirty="0"/>
          </a:p>
        </p:txBody>
      </p:sp>
      <p:sp>
        <p:nvSpPr>
          <p:cNvPr id="19" name="ZoneTexte 18">
            <a:extLst>
              <a:ext uri="{FF2B5EF4-FFF2-40B4-BE49-F238E27FC236}">
                <a16:creationId xmlns:a16="http://schemas.microsoft.com/office/drawing/2014/main" id="{F2649B88-B8AC-41E8-B8EF-7DF834D17594}"/>
              </a:ext>
            </a:extLst>
          </p:cNvPr>
          <p:cNvSpPr txBox="1"/>
          <p:nvPr/>
        </p:nvSpPr>
        <p:spPr>
          <a:xfrm>
            <a:off x="2341032" y="-12505"/>
            <a:ext cx="7862359" cy="553998"/>
          </a:xfrm>
          <a:prstGeom prst="rect">
            <a:avLst/>
          </a:prstGeom>
          <a:noFill/>
        </p:spPr>
        <p:txBody>
          <a:bodyPr wrap="square" rtlCol="0">
            <a:spAutoFit/>
          </a:bodyPr>
          <a:lstStyle/>
          <a:p>
            <a:r>
              <a:rPr lang="fr-FR" sz="3000" dirty="0"/>
              <a:t>I – Introduction à BioMov-E &amp; Contexte</a:t>
            </a:r>
          </a:p>
        </p:txBody>
      </p:sp>
      <p:sp>
        <p:nvSpPr>
          <p:cNvPr id="20" name="ZoneTexte 19">
            <a:extLst>
              <a:ext uri="{FF2B5EF4-FFF2-40B4-BE49-F238E27FC236}">
                <a16:creationId xmlns:a16="http://schemas.microsoft.com/office/drawing/2014/main" id="{B800D53F-F7C6-4725-B89C-CDEF9528BA92}"/>
              </a:ext>
            </a:extLst>
          </p:cNvPr>
          <p:cNvSpPr txBox="1"/>
          <p:nvPr/>
        </p:nvSpPr>
        <p:spPr>
          <a:xfrm>
            <a:off x="374212" y="1211024"/>
            <a:ext cx="4682067" cy="477054"/>
          </a:xfrm>
          <a:prstGeom prst="rect">
            <a:avLst/>
          </a:prstGeom>
          <a:noFill/>
          <a:ln w="9525">
            <a:noFill/>
          </a:ln>
        </p:spPr>
        <p:txBody>
          <a:bodyPr wrap="square" rtlCol="0">
            <a:spAutoFit/>
          </a:bodyPr>
          <a:lstStyle/>
          <a:p>
            <a:r>
              <a:rPr lang="fr-FR" sz="2500" u="sng" dirty="0"/>
              <a:t>Thématique de l’Equipe </a:t>
            </a:r>
            <a:r>
              <a:rPr lang="fr-FR" sz="2500" u="sng" dirty="0" err="1"/>
              <a:t>BioMov</a:t>
            </a:r>
            <a:r>
              <a:rPr lang="fr-FR" sz="2500" u="sng" dirty="0"/>
              <a:t>-E</a:t>
            </a:r>
          </a:p>
        </p:txBody>
      </p:sp>
      <p:sp>
        <p:nvSpPr>
          <p:cNvPr id="5" name="Flèche : droite à entaille 4">
            <a:extLst>
              <a:ext uri="{FF2B5EF4-FFF2-40B4-BE49-F238E27FC236}">
                <a16:creationId xmlns:a16="http://schemas.microsoft.com/office/drawing/2014/main" id="{D29D4B73-8E1D-43E2-935C-A67CA3EBC934}"/>
              </a:ext>
            </a:extLst>
          </p:cNvPr>
          <p:cNvSpPr/>
          <p:nvPr/>
        </p:nvSpPr>
        <p:spPr>
          <a:xfrm rot="7026064">
            <a:off x="1068825" y="1892964"/>
            <a:ext cx="546295" cy="301035"/>
          </a:xfrm>
          <a:prstGeom prst="notchedRightArrow">
            <a:avLst/>
          </a:prstGeom>
          <a:solidFill>
            <a:schemeClr val="bg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5B290E67-1485-43F4-A5BD-6EDAB8C8B51D}"/>
              </a:ext>
            </a:extLst>
          </p:cNvPr>
          <p:cNvSpPr txBox="1"/>
          <p:nvPr/>
        </p:nvSpPr>
        <p:spPr>
          <a:xfrm>
            <a:off x="1400731" y="5148413"/>
            <a:ext cx="3458633" cy="1200329"/>
          </a:xfrm>
          <a:prstGeom prst="rect">
            <a:avLst/>
          </a:prstGeom>
          <a:solidFill>
            <a:srgbClr val="C00000">
              <a:alpha val="30980"/>
            </a:srgbClr>
          </a:solidFill>
          <a:ln w="57150">
            <a:noFill/>
          </a:ln>
        </p:spPr>
        <p:txBody>
          <a:bodyPr wrap="square" rtlCol="0">
            <a:spAutoFit/>
          </a:bodyPr>
          <a:lstStyle/>
          <a:p>
            <a:r>
              <a:rPr lang="fr-FR" u="sng" dirty="0"/>
              <a:t>Analyse du mouvement</a:t>
            </a:r>
            <a:r>
              <a:rPr lang="fr-FR" dirty="0"/>
              <a:t> pour :</a:t>
            </a:r>
          </a:p>
          <a:p>
            <a:pPr marL="285750" indent="-285750">
              <a:buFont typeface="Arial" panose="020B0604020202020204" pitchFamily="34" charset="0"/>
              <a:buChar char="•"/>
            </a:pPr>
            <a:r>
              <a:rPr lang="fr-FR" dirty="0"/>
              <a:t>Application médicale</a:t>
            </a:r>
          </a:p>
          <a:p>
            <a:pPr marL="285750" indent="-285750">
              <a:buFont typeface="Arial" panose="020B0604020202020204" pitchFamily="34" charset="0"/>
              <a:buChar char="•"/>
            </a:pPr>
            <a:r>
              <a:rPr lang="fr-FR" dirty="0"/>
              <a:t>Ergonomie</a:t>
            </a:r>
          </a:p>
          <a:p>
            <a:pPr marL="285750" indent="-285750">
              <a:buFont typeface="Arial" panose="020B0604020202020204" pitchFamily="34" charset="0"/>
              <a:buChar char="•"/>
            </a:pPr>
            <a:r>
              <a:rPr lang="fr-FR" dirty="0"/>
              <a:t>Le </a:t>
            </a:r>
            <a:r>
              <a:rPr lang="fr-FR" dirty="0">
                <a:solidFill>
                  <a:srgbClr val="D74839"/>
                </a:solidFill>
              </a:rPr>
              <a:t>sport</a:t>
            </a:r>
          </a:p>
        </p:txBody>
      </p:sp>
      <p:grpSp>
        <p:nvGrpSpPr>
          <p:cNvPr id="60" name="Groupe 59">
            <a:extLst>
              <a:ext uri="{FF2B5EF4-FFF2-40B4-BE49-F238E27FC236}">
                <a16:creationId xmlns:a16="http://schemas.microsoft.com/office/drawing/2014/main" id="{D7357B3F-8B6D-6B5C-F763-D71CED96E703}"/>
              </a:ext>
            </a:extLst>
          </p:cNvPr>
          <p:cNvGrpSpPr/>
          <p:nvPr/>
        </p:nvGrpSpPr>
        <p:grpSpPr>
          <a:xfrm>
            <a:off x="5139775" y="580916"/>
            <a:ext cx="6736164" cy="3336141"/>
            <a:chOff x="3267293" y="1424208"/>
            <a:chExt cx="6736164" cy="3336141"/>
          </a:xfrm>
        </p:grpSpPr>
        <p:sp>
          <p:nvSpPr>
            <p:cNvPr id="11" name="Rectangle : coins arrondis 10">
              <a:extLst>
                <a:ext uri="{FF2B5EF4-FFF2-40B4-BE49-F238E27FC236}">
                  <a16:creationId xmlns:a16="http://schemas.microsoft.com/office/drawing/2014/main" id="{74C55E08-DBB3-4379-9F45-A8CFB8723C41}"/>
                </a:ext>
              </a:extLst>
            </p:cNvPr>
            <p:cNvSpPr/>
            <p:nvPr/>
          </p:nvSpPr>
          <p:spPr>
            <a:xfrm>
              <a:off x="3267293" y="1424208"/>
              <a:ext cx="6736164" cy="3336141"/>
            </a:xfrm>
            <a:prstGeom prst="roundRect">
              <a:avLst>
                <a:gd name="adj" fmla="val 7380"/>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u="sng" dirty="0">
                  <a:solidFill>
                    <a:schemeClr val="tx1"/>
                  </a:solidFill>
                </a:rPr>
                <a:t>Système de référence Vicon</a:t>
              </a:r>
            </a:p>
          </p:txBody>
        </p:sp>
        <p:sp>
          <p:nvSpPr>
            <p:cNvPr id="15" name="ZoneTexte 14">
              <a:extLst>
                <a:ext uri="{FF2B5EF4-FFF2-40B4-BE49-F238E27FC236}">
                  <a16:creationId xmlns:a16="http://schemas.microsoft.com/office/drawing/2014/main" id="{AE60D3F7-ABFC-4605-94F5-1392F0FBD37E}"/>
                </a:ext>
              </a:extLst>
            </p:cNvPr>
            <p:cNvSpPr txBox="1"/>
            <p:nvPr/>
          </p:nvSpPr>
          <p:spPr>
            <a:xfrm>
              <a:off x="3287559" y="1811248"/>
              <a:ext cx="4613561" cy="646331"/>
            </a:xfrm>
            <a:prstGeom prst="rect">
              <a:avLst/>
            </a:prstGeom>
            <a:noFill/>
          </p:spPr>
          <p:txBody>
            <a:bodyPr wrap="square" rtlCol="0">
              <a:spAutoFit/>
            </a:bodyPr>
            <a:lstStyle/>
            <a:p>
              <a:pPr marL="285750" indent="-285750">
                <a:buFont typeface="Wingdings" panose="05000000000000000000" pitchFamily="2" charset="2"/>
                <a:buChar char="à"/>
              </a:pPr>
              <a:r>
                <a:rPr lang="fr-FR" dirty="0">
                  <a:solidFill>
                    <a:srgbClr val="FF0000"/>
                  </a:solidFill>
                  <a:sym typeface="Wingdings" panose="05000000000000000000" pitchFamily="2" charset="2"/>
                </a:rPr>
                <a:t>Marqueurs physiques</a:t>
              </a:r>
            </a:p>
            <a:p>
              <a:pPr marL="285750" indent="-285750">
                <a:buFont typeface="Wingdings" panose="05000000000000000000" pitchFamily="2" charset="2"/>
                <a:buChar char="à"/>
              </a:pPr>
              <a:r>
                <a:rPr lang="fr-FR" dirty="0"/>
                <a:t>+ de 30 caméras</a:t>
              </a:r>
            </a:p>
          </p:txBody>
        </p:sp>
        <p:grpSp>
          <p:nvGrpSpPr>
            <p:cNvPr id="57" name="Groupe 56">
              <a:extLst>
                <a:ext uri="{FF2B5EF4-FFF2-40B4-BE49-F238E27FC236}">
                  <a16:creationId xmlns:a16="http://schemas.microsoft.com/office/drawing/2014/main" id="{A7061640-DAF9-6811-146B-02CFAACDFE08}"/>
                </a:ext>
              </a:extLst>
            </p:cNvPr>
            <p:cNvGrpSpPr/>
            <p:nvPr/>
          </p:nvGrpSpPr>
          <p:grpSpPr>
            <a:xfrm>
              <a:off x="5469837" y="3562009"/>
              <a:ext cx="780024" cy="790195"/>
              <a:chOff x="2321239" y="4610524"/>
              <a:chExt cx="780024" cy="790195"/>
            </a:xfrm>
          </p:grpSpPr>
          <p:sp>
            <p:nvSpPr>
              <p:cNvPr id="22" name="Rectangle : coins arrondis 21">
                <a:extLst>
                  <a:ext uri="{FF2B5EF4-FFF2-40B4-BE49-F238E27FC236}">
                    <a16:creationId xmlns:a16="http://schemas.microsoft.com/office/drawing/2014/main" id="{9DC26EAB-6265-47A0-A443-9C620296FE7C}"/>
                  </a:ext>
                </a:extLst>
              </p:cNvPr>
              <p:cNvSpPr/>
              <p:nvPr/>
            </p:nvSpPr>
            <p:spPr>
              <a:xfrm>
                <a:off x="2321239" y="4708578"/>
                <a:ext cx="693824" cy="692141"/>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ysClr val="windowText" lastClr="000000"/>
                  </a:solidFill>
                </a:endParaRPr>
              </a:p>
            </p:txBody>
          </p:sp>
          <p:pic>
            <p:nvPicPr>
              <p:cNvPr id="10" name="Image 9">
                <a:extLst>
                  <a:ext uri="{FF2B5EF4-FFF2-40B4-BE49-F238E27FC236}">
                    <a16:creationId xmlns:a16="http://schemas.microsoft.com/office/drawing/2014/main" id="{0C2987D3-B8FB-F47B-CAD6-A45B819EE6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7407" y="4721449"/>
                <a:ext cx="607656" cy="607656"/>
              </a:xfrm>
              <a:prstGeom prst="rect">
                <a:avLst/>
              </a:prstGeom>
            </p:spPr>
          </p:pic>
          <p:pic>
            <p:nvPicPr>
              <p:cNvPr id="18" name="Image 17">
                <a:extLst>
                  <a:ext uri="{FF2B5EF4-FFF2-40B4-BE49-F238E27FC236}">
                    <a16:creationId xmlns:a16="http://schemas.microsoft.com/office/drawing/2014/main" id="{D4545C4F-BAB2-7013-7028-C851AA8B64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5515" y="4610524"/>
                <a:ext cx="255748" cy="255748"/>
              </a:xfrm>
              <a:prstGeom prst="rect">
                <a:avLst/>
              </a:prstGeom>
            </p:spPr>
          </p:pic>
        </p:grpSp>
        <p:grpSp>
          <p:nvGrpSpPr>
            <p:cNvPr id="56" name="Groupe 55">
              <a:extLst>
                <a:ext uri="{FF2B5EF4-FFF2-40B4-BE49-F238E27FC236}">
                  <a16:creationId xmlns:a16="http://schemas.microsoft.com/office/drawing/2014/main" id="{A0372824-EF53-B1F9-4C2F-833E9EB1C892}"/>
                </a:ext>
              </a:extLst>
            </p:cNvPr>
            <p:cNvGrpSpPr/>
            <p:nvPr/>
          </p:nvGrpSpPr>
          <p:grpSpPr>
            <a:xfrm>
              <a:off x="3507408" y="2481932"/>
              <a:ext cx="1062383" cy="739915"/>
              <a:chOff x="3589755" y="2520047"/>
              <a:chExt cx="1062383" cy="739915"/>
            </a:xfrm>
          </p:grpSpPr>
          <p:grpSp>
            <p:nvGrpSpPr>
              <p:cNvPr id="30" name="Groupe 29">
                <a:extLst>
                  <a:ext uri="{FF2B5EF4-FFF2-40B4-BE49-F238E27FC236}">
                    <a16:creationId xmlns:a16="http://schemas.microsoft.com/office/drawing/2014/main" id="{7E553726-889D-BA5D-F9FC-82A0853A1D25}"/>
                  </a:ext>
                </a:extLst>
              </p:cNvPr>
              <p:cNvGrpSpPr/>
              <p:nvPr/>
            </p:nvGrpSpPr>
            <p:grpSpPr>
              <a:xfrm>
                <a:off x="3589755" y="2611017"/>
                <a:ext cx="934509" cy="648945"/>
                <a:chOff x="2824722" y="3869348"/>
                <a:chExt cx="934509" cy="648945"/>
              </a:xfrm>
            </p:grpSpPr>
            <p:sp>
              <p:nvSpPr>
                <p:cNvPr id="14" name="Rectangle : coins arrondis 13">
                  <a:extLst>
                    <a:ext uri="{FF2B5EF4-FFF2-40B4-BE49-F238E27FC236}">
                      <a16:creationId xmlns:a16="http://schemas.microsoft.com/office/drawing/2014/main" id="{5313294A-BD18-4776-BAA1-FD1683B16256}"/>
                    </a:ext>
                  </a:extLst>
                </p:cNvPr>
                <p:cNvSpPr/>
                <p:nvPr/>
              </p:nvSpPr>
              <p:spPr>
                <a:xfrm>
                  <a:off x="2824722" y="3871962"/>
                  <a:ext cx="934509" cy="646331"/>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ysClr val="windowText" lastClr="000000"/>
                    </a:solidFill>
                  </a:endParaRPr>
                </a:p>
              </p:txBody>
            </p:sp>
            <p:pic>
              <p:nvPicPr>
                <p:cNvPr id="8" name="Image 7">
                  <a:extLst>
                    <a:ext uri="{FF2B5EF4-FFF2-40B4-BE49-F238E27FC236}">
                      <a16:creationId xmlns:a16="http://schemas.microsoft.com/office/drawing/2014/main" id="{08121CEC-0EAF-DC62-642C-FBB40FCFC7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14641" y="3869348"/>
                  <a:ext cx="605539" cy="605539"/>
                </a:xfrm>
                <a:prstGeom prst="rect">
                  <a:avLst/>
                </a:prstGeom>
              </p:spPr>
            </p:pic>
          </p:grpSp>
          <p:pic>
            <p:nvPicPr>
              <p:cNvPr id="42" name="Image 41">
                <a:extLst>
                  <a:ext uri="{FF2B5EF4-FFF2-40B4-BE49-F238E27FC236}">
                    <a16:creationId xmlns:a16="http://schemas.microsoft.com/office/drawing/2014/main" id="{BA03F4F4-36F9-9945-D219-CEDF94B045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6390" y="2520047"/>
                <a:ext cx="255748" cy="255748"/>
              </a:xfrm>
              <a:prstGeom prst="rect">
                <a:avLst/>
              </a:prstGeom>
            </p:spPr>
          </p:pic>
        </p:grpSp>
        <p:grpSp>
          <p:nvGrpSpPr>
            <p:cNvPr id="59" name="Groupe 58">
              <a:extLst>
                <a:ext uri="{FF2B5EF4-FFF2-40B4-BE49-F238E27FC236}">
                  <a16:creationId xmlns:a16="http://schemas.microsoft.com/office/drawing/2014/main" id="{00CE73E7-EB86-3E93-9E6F-71C4FA873DAC}"/>
                </a:ext>
              </a:extLst>
            </p:cNvPr>
            <p:cNvGrpSpPr/>
            <p:nvPr/>
          </p:nvGrpSpPr>
          <p:grpSpPr>
            <a:xfrm>
              <a:off x="4859836" y="2495697"/>
              <a:ext cx="1290808" cy="702804"/>
              <a:chOff x="4859836" y="2495697"/>
              <a:chExt cx="1290808" cy="702804"/>
            </a:xfrm>
          </p:grpSpPr>
          <p:sp>
            <p:nvSpPr>
              <p:cNvPr id="21" name="Rectangle : coins arrondis 20">
                <a:extLst>
                  <a:ext uri="{FF2B5EF4-FFF2-40B4-BE49-F238E27FC236}">
                    <a16:creationId xmlns:a16="http://schemas.microsoft.com/office/drawing/2014/main" id="{E32F9DE9-B59A-41C5-9FCD-B1E3DA93DAD5}"/>
                  </a:ext>
                </a:extLst>
              </p:cNvPr>
              <p:cNvSpPr/>
              <p:nvPr/>
            </p:nvSpPr>
            <p:spPr>
              <a:xfrm>
                <a:off x="4859836" y="2631234"/>
                <a:ext cx="1176867" cy="567267"/>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ysClr val="windowText" lastClr="000000"/>
                    </a:solidFill>
                  </a:rPr>
                  <a:t>Expertise</a:t>
                </a:r>
              </a:p>
            </p:txBody>
          </p:sp>
          <p:pic>
            <p:nvPicPr>
              <p:cNvPr id="43" name="Image 42">
                <a:extLst>
                  <a:ext uri="{FF2B5EF4-FFF2-40B4-BE49-F238E27FC236}">
                    <a16:creationId xmlns:a16="http://schemas.microsoft.com/office/drawing/2014/main" id="{51465C6E-936F-89C4-7C91-73D9A9D1EA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4896" y="2495697"/>
                <a:ext cx="255748" cy="255748"/>
              </a:xfrm>
              <a:prstGeom prst="rect">
                <a:avLst/>
              </a:prstGeom>
            </p:spPr>
          </p:pic>
        </p:grpSp>
        <p:grpSp>
          <p:nvGrpSpPr>
            <p:cNvPr id="58" name="Groupe 57">
              <a:extLst>
                <a:ext uri="{FF2B5EF4-FFF2-40B4-BE49-F238E27FC236}">
                  <a16:creationId xmlns:a16="http://schemas.microsoft.com/office/drawing/2014/main" id="{3C0E3A16-5CFD-C91E-D365-F26E821EC455}"/>
                </a:ext>
              </a:extLst>
            </p:cNvPr>
            <p:cNvGrpSpPr/>
            <p:nvPr/>
          </p:nvGrpSpPr>
          <p:grpSpPr>
            <a:xfrm>
              <a:off x="3374495" y="3380048"/>
              <a:ext cx="1942909" cy="1229975"/>
              <a:chOff x="367266" y="4508463"/>
              <a:chExt cx="1942909" cy="1229975"/>
            </a:xfrm>
          </p:grpSpPr>
          <p:sp>
            <p:nvSpPr>
              <p:cNvPr id="23" name="Rectangle : coins arrondis 22">
                <a:extLst>
                  <a:ext uri="{FF2B5EF4-FFF2-40B4-BE49-F238E27FC236}">
                    <a16:creationId xmlns:a16="http://schemas.microsoft.com/office/drawing/2014/main" id="{EE054E03-9158-48D3-B17F-6C66064F635B}"/>
                  </a:ext>
                </a:extLst>
              </p:cNvPr>
              <p:cNvSpPr/>
              <p:nvPr/>
            </p:nvSpPr>
            <p:spPr>
              <a:xfrm>
                <a:off x="367266" y="4626272"/>
                <a:ext cx="1856741" cy="1112166"/>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ysClr val="windowText" lastClr="000000"/>
                    </a:solidFill>
                  </a:rPr>
                  <a:t>Contraintes des </a:t>
                </a:r>
                <a:r>
                  <a:rPr lang="fr-FR" dirty="0">
                    <a:solidFill>
                      <a:srgbClr val="FFCC00"/>
                    </a:solidFill>
                  </a:rPr>
                  <a:t>marqueurs physiques</a:t>
                </a:r>
              </a:p>
            </p:txBody>
          </p:sp>
          <p:pic>
            <p:nvPicPr>
              <p:cNvPr id="44" name="Image 43">
                <a:extLst>
                  <a:ext uri="{FF2B5EF4-FFF2-40B4-BE49-F238E27FC236}">
                    <a16:creationId xmlns:a16="http://schemas.microsoft.com/office/drawing/2014/main" id="{DBFBBCBD-76C5-E376-7689-BE34479787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4427" y="4508463"/>
                <a:ext cx="255748" cy="255748"/>
              </a:xfrm>
              <a:prstGeom prst="rect">
                <a:avLst/>
              </a:prstGeom>
            </p:spPr>
          </p:pic>
        </p:grpSp>
      </p:grpSp>
      <p:grpSp>
        <p:nvGrpSpPr>
          <p:cNvPr id="55" name="Groupe 54">
            <a:extLst>
              <a:ext uri="{FF2B5EF4-FFF2-40B4-BE49-F238E27FC236}">
                <a16:creationId xmlns:a16="http://schemas.microsoft.com/office/drawing/2014/main" id="{191477B7-FA4D-B8EF-5AAD-01F780B3F94E}"/>
              </a:ext>
            </a:extLst>
          </p:cNvPr>
          <p:cNvGrpSpPr/>
          <p:nvPr/>
        </p:nvGrpSpPr>
        <p:grpSpPr>
          <a:xfrm>
            <a:off x="6864066" y="3969476"/>
            <a:ext cx="5162966" cy="2426779"/>
            <a:chOff x="6749924" y="2233357"/>
            <a:chExt cx="5162966" cy="2426779"/>
          </a:xfrm>
        </p:grpSpPr>
        <p:sp>
          <p:nvSpPr>
            <p:cNvPr id="16" name="Rectangle : coins arrondis 15">
              <a:extLst>
                <a:ext uri="{FF2B5EF4-FFF2-40B4-BE49-F238E27FC236}">
                  <a16:creationId xmlns:a16="http://schemas.microsoft.com/office/drawing/2014/main" id="{E51D8F9A-595B-41EA-BA3B-70EB6574B770}"/>
                </a:ext>
              </a:extLst>
            </p:cNvPr>
            <p:cNvSpPr/>
            <p:nvPr/>
          </p:nvSpPr>
          <p:spPr>
            <a:xfrm>
              <a:off x="6749924" y="2237653"/>
              <a:ext cx="4950344" cy="2422483"/>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u="sng" dirty="0">
                  <a:solidFill>
                    <a:schemeClr val="bg1"/>
                  </a:solidFill>
                </a:rPr>
                <a:t>Solution : MoCapIA</a:t>
              </a:r>
            </a:p>
          </p:txBody>
        </p:sp>
        <p:sp>
          <p:nvSpPr>
            <p:cNvPr id="24" name="ZoneTexte 23">
              <a:extLst>
                <a:ext uri="{FF2B5EF4-FFF2-40B4-BE49-F238E27FC236}">
                  <a16:creationId xmlns:a16="http://schemas.microsoft.com/office/drawing/2014/main" id="{851EE15F-6302-4D93-B956-DB8D9D743080}"/>
                </a:ext>
              </a:extLst>
            </p:cNvPr>
            <p:cNvSpPr txBox="1"/>
            <p:nvPr/>
          </p:nvSpPr>
          <p:spPr>
            <a:xfrm>
              <a:off x="6995723" y="2850420"/>
              <a:ext cx="4148527" cy="646331"/>
            </a:xfrm>
            <a:prstGeom prst="rect">
              <a:avLst/>
            </a:prstGeom>
            <a:noFill/>
          </p:spPr>
          <p:txBody>
            <a:bodyPr wrap="square" rtlCol="0">
              <a:spAutoFit/>
            </a:bodyPr>
            <a:lstStyle/>
            <a:p>
              <a:pPr marL="285750" indent="-285750">
                <a:buFont typeface="Wingdings" panose="05000000000000000000" pitchFamily="2" charset="2"/>
                <a:buChar char="à"/>
              </a:pPr>
              <a:r>
                <a:rPr lang="fr-FR" dirty="0">
                  <a:solidFill>
                    <a:schemeClr val="bg1"/>
                  </a:solidFill>
                  <a:sym typeface="Wingdings" panose="05000000000000000000" pitchFamily="2" charset="2"/>
                </a:rPr>
                <a:t>Sans marqueurs (basée sur l’</a:t>
              </a:r>
              <a:r>
                <a:rPr lang="fr-FR" dirty="0">
                  <a:solidFill>
                    <a:srgbClr val="FF0000"/>
                  </a:solidFill>
                  <a:sym typeface="Wingdings" panose="05000000000000000000" pitchFamily="2" charset="2"/>
                </a:rPr>
                <a:t>IA</a:t>
              </a:r>
              <a:r>
                <a:rPr lang="fr-FR" dirty="0">
                  <a:solidFill>
                    <a:schemeClr val="bg1"/>
                  </a:solidFill>
                  <a:sym typeface="Wingdings" panose="05000000000000000000" pitchFamily="2" charset="2"/>
                </a:rPr>
                <a:t>)</a:t>
              </a:r>
            </a:p>
            <a:p>
              <a:pPr marL="285750" indent="-285750">
                <a:buFont typeface="Wingdings" panose="05000000000000000000" pitchFamily="2" charset="2"/>
                <a:buChar char="à"/>
              </a:pPr>
              <a:r>
                <a:rPr lang="fr-FR" dirty="0">
                  <a:solidFill>
                    <a:schemeClr val="bg1"/>
                  </a:solidFill>
                  <a:sym typeface="Wingdings" panose="05000000000000000000" pitchFamily="2" charset="2"/>
                </a:rPr>
                <a:t>2-4 caméras bas de gammes suffisent </a:t>
              </a:r>
              <a:endParaRPr lang="fr-FR" dirty="0">
                <a:solidFill>
                  <a:schemeClr val="bg1"/>
                </a:solidFill>
              </a:endParaRPr>
            </a:p>
          </p:txBody>
        </p:sp>
        <p:sp>
          <p:nvSpPr>
            <p:cNvPr id="32" name="Forme libre : forme 31">
              <a:extLst>
                <a:ext uri="{FF2B5EF4-FFF2-40B4-BE49-F238E27FC236}">
                  <a16:creationId xmlns:a16="http://schemas.microsoft.com/office/drawing/2014/main" id="{9F65D56F-A25D-4F41-893D-44827A6F32A5}"/>
                </a:ext>
              </a:extLst>
            </p:cNvPr>
            <p:cNvSpPr/>
            <p:nvPr/>
          </p:nvSpPr>
          <p:spPr>
            <a:xfrm>
              <a:off x="10931628" y="2233357"/>
              <a:ext cx="981262" cy="786670"/>
            </a:xfrm>
            <a:custGeom>
              <a:avLst/>
              <a:gdLst>
                <a:gd name="connsiteX0" fmla="*/ 0 w 1088231"/>
                <a:gd name="connsiteY0" fmla="*/ 414338 h 838200"/>
                <a:gd name="connsiteX1" fmla="*/ 166687 w 1088231"/>
                <a:gd name="connsiteY1" fmla="*/ 250032 h 838200"/>
                <a:gd name="connsiteX2" fmla="*/ 419100 w 1088231"/>
                <a:gd name="connsiteY2" fmla="*/ 504825 h 838200"/>
                <a:gd name="connsiteX3" fmla="*/ 914400 w 1088231"/>
                <a:gd name="connsiteY3" fmla="*/ 0 h 838200"/>
                <a:gd name="connsiteX4" fmla="*/ 1088231 w 1088231"/>
                <a:gd name="connsiteY4" fmla="*/ 176213 h 838200"/>
                <a:gd name="connsiteX5" fmla="*/ 423862 w 1088231"/>
                <a:gd name="connsiteY5" fmla="*/ 838200 h 838200"/>
                <a:gd name="connsiteX6" fmla="*/ 0 w 1088231"/>
                <a:gd name="connsiteY6" fmla="*/ 414338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8231" h="838200">
                  <a:moveTo>
                    <a:pt x="0" y="414338"/>
                  </a:moveTo>
                  <a:lnTo>
                    <a:pt x="166687" y="250032"/>
                  </a:lnTo>
                  <a:lnTo>
                    <a:pt x="419100" y="504825"/>
                  </a:lnTo>
                  <a:lnTo>
                    <a:pt x="914400" y="0"/>
                  </a:lnTo>
                  <a:lnTo>
                    <a:pt x="1088231" y="176213"/>
                  </a:lnTo>
                  <a:lnTo>
                    <a:pt x="423862" y="838200"/>
                  </a:lnTo>
                  <a:lnTo>
                    <a:pt x="0" y="414338"/>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54" name="Groupe 53">
              <a:extLst>
                <a:ext uri="{FF2B5EF4-FFF2-40B4-BE49-F238E27FC236}">
                  <a16:creationId xmlns:a16="http://schemas.microsoft.com/office/drawing/2014/main" id="{91B96520-CE1C-98E8-5F83-E168837D32C0}"/>
                </a:ext>
              </a:extLst>
            </p:cNvPr>
            <p:cNvGrpSpPr/>
            <p:nvPr/>
          </p:nvGrpSpPr>
          <p:grpSpPr>
            <a:xfrm>
              <a:off x="8369737" y="3609492"/>
              <a:ext cx="806354" cy="827621"/>
              <a:chOff x="8880372" y="5065178"/>
              <a:chExt cx="806354" cy="827621"/>
            </a:xfrm>
          </p:grpSpPr>
          <p:sp>
            <p:nvSpPr>
              <p:cNvPr id="27" name="Rectangle : coins arrondis 26">
                <a:extLst>
                  <a:ext uri="{FF2B5EF4-FFF2-40B4-BE49-F238E27FC236}">
                    <a16:creationId xmlns:a16="http://schemas.microsoft.com/office/drawing/2014/main" id="{51261CAB-4973-4592-9AB2-41CA654BECF7}"/>
                  </a:ext>
                </a:extLst>
              </p:cNvPr>
              <p:cNvSpPr/>
              <p:nvPr/>
            </p:nvSpPr>
            <p:spPr>
              <a:xfrm>
                <a:off x="8880372" y="5176164"/>
                <a:ext cx="707979" cy="7166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37" name="Image 36">
                <a:extLst>
                  <a:ext uri="{FF2B5EF4-FFF2-40B4-BE49-F238E27FC236}">
                    <a16:creationId xmlns:a16="http://schemas.microsoft.com/office/drawing/2014/main" id="{4326CDAF-2153-6D59-FB08-25ABE6E73C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7150" y="5227072"/>
                <a:ext cx="641201" cy="641201"/>
              </a:xfrm>
              <a:prstGeom prst="rect">
                <a:avLst/>
              </a:prstGeom>
            </p:spPr>
          </p:pic>
          <p:pic>
            <p:nvPicPr>
              <p:cNvPr id="41" name="Image 40">
                <a:extLst>
                  <a:ext uri="{FF2B5EF4-FFF2-40B4-BE49-F238E27FC236}">
                    <a16:creationId xmlns:a16="http://schemas.microsoft.com/office/drawing/2014/main" id="{48B36A93-AD35-33C9-496E-5E0DEE18A00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03291" y="5065178"/>
                <a:ext cx="283435" cy="283435"/>
              </a:xfrm>
              <a:prstGeom prst="rect">
                <a:avLst/>
              </a:prstGeom>
            </p:spPr>
          </p:pic>
        </p:grpSp>
        <p:grpSp>
          <p:nvGrpSpPr>
            <p:cNvPr id="49" name="Groupe 48">
              <a:extLst>
                <a:ext uri="{FF2B5EF4-FFF2-40B4-BE49-F238E27FC236}">
                  <a16:creationId xmlns:a16="http://schemas.microsoft.com/office/drawing/2014/main" id="{15C7D7CE-8AA2-FC75-0AEE-AABFAD61EB99}"/>
                </a:ext>
              </a:extLst>
            </p:cNvPr>
            <p:cNvGrpSpPr/>
            <p:nvPr/>
          </p:nvGrpSpPr>
          <p:grpSpPr>
            <a:xfrm>
              <a:off x="9665091" y="3680976"/>
              <a:ext cx="1447801" cy="781628"/>
              <a:chOff x="10298539" y="4439169"/>
              <a:chExt cx="1447801" cy="781628"/>
            </a:xfrm>
          </p:grpSpPr>
          <p:sp>
            <p:nvSpPr>
              <p:cNvPr id="26" name="Rectangle : coins arrondis 25">
                <a:extLst>
                  <a:ext uri="{FF2B5EF4-FFF2-40B4-BE49-F238E27FC236}">
                    <a16:creationId xmlns:a16="http://schemas.microsoft.com/office/drawing/2014/main" id="{177E58A3-858C-401B-A8F4-78579A7BFD91}"/>
                  </a:ext>
                </a:extLst>
              </p:cNvPr>
              <p:cNvSpPr/>
              <p:nvPr/>
            </p:nvSpPr>
            <p:spPr>
              <a:xfrm>
                <a:off x="10298539" y="4504162"/>
                <a:ext cx="1354667" cy="7166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Simple d’utilisation</a:t>
                </a:r>
              </a:p>
            </p:txBody>
          </p:sp>
          <p:pic>
            <p:nvPicPr>
              <p:cNvPr id="45" name="Image 44">
                <a:extLst>
                  <a:ext uri="{FF2B5EF4-FFF2-40B4-BE49-F238E27FC236}">
                    <a16:creationId xmlns:a16="http://schemas.microsoft.com/office/drawing/2014/main" id="{4AA7F854-7B7E-5133-56C2-B8C4E2807A1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62905" y="4439169"/>
                <a:ext cx="283435" cy="283435"/>
              </a:xfrm>
              <a:prstGeom prst="rect">
                <a:avLst/>
              </a:prstGeom>
            </p:spPr>
          </p:pic>
        </p:grpSp>
        <p:grpSp>
          <p:nvGrpSpPr>
            <p:cNvPr id="53" name="Groupe 52">
              <a:extLst>
                <a:ext uri="{FF2B5EF4-FFF2-40B4-BE49-F238E27FC236}">
                  <a16:creationId xmlns:a16="http://schemas.microsoft.com/office/drawing/2014/main" id="{8AB409B4-6859-994B-B1DC-7A734DFCE2C7}"/>
                </a:ext>
              </a:extLst>
            </p:cNvPr>
            <p:cNvGrpSpPr/>
            <p:nvPr/>
          </p:nvGrpSpPr>
          <p:grpSpPr>
            <a:xfrm>
              <a:off x="6995723" y="3621067"/>
              <a:ext cx="1010215" cy="816047"/>
              <a:chOff x="8681406" y="4076067"/>
              <a:chExt cx="1010215" cy="816047"/>
            </a:xfrm>
          </p:grpSpPr>
          <p:sp>
            <p:nvSpPr>
              <p:cNvPr id="25" name="Rectangle : coins arrondis 24">
                <a:extLst>
                  <a:ext uri="{FF2B5EF4-FFF2-40B4-BE49-F238E27FC236}">
                    <a16:creationId xmlns:a16="http://schemas.microsoft.com/office/drawing/2014/main" id="{BCC0C1B0-D962-40B4-B96F-A50F59501862}"/>
                  </a:ext>
                </a:extLst>
              </p:cNvPr>
              <p:cNvSpPr/>
              <p:nvPr/>
            </p:nvSpPr>
            <p:spPr>
              <a:xfrm>
                <a:off x="8681406" y="4175479"/>
                <a:ext cx="906945" cy="7166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46" name="Image 45">
                <a:extLst>
                  <a:ext uri="{FF2B5EF4-FFF2-40B4-BE49-F238E27FC236}">
                    <a16:creationId xmlns:a16="http://schemas.microsoft.com/office/drawing/2014/main" id="{55772B7A-5F66-7B39-477F-22B6B3AEA7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08186" y="4076067"/>
                <a:ext cx="283435" cy="283435"/>
              </a:xfrm>
              <a:prstGeom prst="rect">
                <a:avLst/>
              </a:prstGeom>
            </p:spPr>
          </p:pic>
          <p:pic>
            <p:nvPicPr>
              <p:cNvPr id="48" name="Image 47">
                <a:extLst>
                  <a:ext uri="{FF2B5EF4-FFF2-40B4-BE49-F238E27FC236}">
                    <a16:creationId xmlns:a16="http://schemas.microsoft.com/office/drawing/2014/main" id="{521865A7-478C-3B63-49B0-7C6E6CC7FA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57414" y="4271992"/>
                <a:ext cx="578190" cy="578190"/>
              </a:xfrm>
              <a:prstGeom prst="rect">
                <a:avLst/>
              </a:prstGeom>
            </p:spPr>
          </p:pic>
        </p:grpSp>
      </p:grpSp>
      <p:pic>
        <p:nvPicPr>
          <p:cNvPr id="64" name="Image 63">
            <a:extLst>
              <a:ext uri="{FF2B5EF4-FFF2-40B4-BE49-F238E27FC236}">
                <a16:creationId xmlns:a16="http://schemas.microsoft.com/office/drawing/2014/main" id="{08478923-7DA1-7270-A992-7B2657563B3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65691" y="1260905"/>
            <a:ext cx="3437848" cy="2401690"/>
          </a:xfrm>
          <a:prstGeom prst="roundRect">
            <a:avLst>
              <a:gd name="adj" fmla="val 2654"/>
            </a:avLst>
          </a:prstGeom>
        </p:spPr>
      </p:pic>
      <p:cxnSp>
        <p:nvCxnSpPr>
          <p:cNvPr id="66" name="Connecteur droit avec flèche 65">
            <a:extLst>
              <a:ext uri="{FF2B5EF4-FFF2-40B4-BE49-F238E27FC236}">
                <a16:creationId xmlns:a16="http://schemas.microsoft.com/office/drawing/2014/main" id="{EF4ACD62-6591-19DA-FE79-50D842C368AA}"/>
              </a:ext>
            </a:extLst>
          </p:cNvPr>
          <p:cNvCxnSpPr>
            <a:cxnSpLocks/>
          </p:cNvCxnSpPr>
          <p:nvPr/>
        </p:nvCxnSpPr>
        <p:spPr>
          <a:xfrm flipH="1">
            <a:off x="11002152" y="1136589"/>
            <a:ext cx="156789" cy="29085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necteur droit avec flèche 66">
            <a:extLst>
              <a:ext uri="{FF2B5EF4-FFF2-40B4-BE49-F238E27FC236}">
                <a16:creationId xmlns:a16="http://schemas.microsoft.com/office/drawing/2014/main" id="{D5D46A19-68E2-29BA-7E53-5ACB2576036D}"/>
              </a:ext>
            </a:extLst>
          </p:cNvPr>
          <p:cNvCxnSpPr>
            <a:cxnSpLocks/>
          </p:cNvCxnSpPr>
          <p:nvPr/>
        </p:nvCxnSpPr>
        <p:spPr>
          <a:xfrm>
            <a:off x="9850221" y="1101697"/>
            <a:ext cx="83151" cy="36080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eur droit avec flèche 67">
            <a:extLst>
              <a:ext uri="{FF2B5EF4-FFF2-40B4-BE49-F238E27FC236}">
                <a16:creationId xmlns:a16="http://schemas.microsoft.com/office/drawing/2014/main" id="{608D7EA7-3427-9B83-68D3-A73661880E86}"/>
              </a:ext>
            </a:extLst>
          </p:cNvPr>
          <p:cNvCxnSpPr>
            <a:cxnSpLocks/>
          </p:cNvCxnSpPr>
          <p:nvPr/>
        </p:nvCxnSpPr>
        <p:spPr>
          <a:xfrm flipH="1">
            <a:off x="10457554" y="1076680"/>
            <a:ext cx="32972" cy="38582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eur droit avec flèche 68">
            <a:extLst>
              <a:ext uri="{FF2B5EF4-FFF2-40B4-BE49-F238E27FC236}">
                <a16:creationId xmlns:a16="http://schemas.microsoft.com/office/drawing/2014/main" id="{5B5E6117-DFD9-10FF-38E5-DA85801EFB5C}"/>
              </a:ext>
            </a:extLst>
          </p:cNvPr>
          <p:cNvCxnSpPr>
            <a:cxnSpLocks/>
          </p:cNvCxnSpPr>
          <p:nvPr/>
        </p:nvCxnSpPr>
        <p:spPr>
          <a:xfrm flipH="1">
            <a:off x="9621141" y="1861549"/>
            <a:ext cx="458160" cy="9747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eur droit avec flèche 69">
            <a:extLst>
              <a:ext uri="{FF2B5EF4-FFF2-40B4-BE49-F238E27FC236}">
                <a16:creationId xmlns:a16="http://schemas.microsoft.com/office/drawing/2014/main" id="{611FA8DD-A21F-E555-0EC4-DE15518A3D2C}"/>
              </a:ext>
            </a:extLst>
          </p:cNvPr>
          <p:cNvCxnSpPr/>
          <p:nvPr/>
        </p:nvCxnSpPr>
        <p:spPr>
          <a:xfrm flipH="1">
            <a:off x="9352415" y="1101697"/>
            <a:ext cx="93134" cy="3873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Signe de multiplication 27">
            <a:extLst>
              <a:ext uri="{FF2B5EF4-FFF2-40B4-BE49-F238E27FC236}">
                <a16:creationId xmlns:a16="http://schemas.microsoft.com/office/drawing/2014/main" id="{3B21F3CA-D683-4CD6-B90A-3DEEFF5683F2}"/>
              </a:ext>
            </a:extLst>
          </p:cNvPr>
          <p:cNvSpPr/>
          <p:nvPr/>
        </p:nvSpPr>
        <p:spPr>
          <a:xfrm>
            <a:off x="11325932" y="237622"/>
            <a:ext cx="1034714" cy="1007533"/>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4" name="Flèche : droite rayée 33">
            <a:extLst>
              <a:ext uri="{FF2B5EF4-FFF2-40B4-BE49-F238E27FC236}">
                <a16:creationId xmlns:a16="http://schemas.microsoft.com/office/drawing/2014/main" id="{7EEB6B7B-B26C-4C37-A70D-AEEAFB57ED27}"/>
              </a:ext>
            </a:extLst>
          </p:cNvPr>
          <p:cNvSpPr/>
          <p:nvPr/>
        </p:nvSpPr>
        <p:spPr>
          <a:xfrm rot="5400000">
            <a:off x="7306830" y="3801146"/>
            <a:ext cx="607658" cy="549614"/>
          </a:xfrm>
          <a:prstGeom prst="stripedRight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ZoneTexte 78">
            <a:extLst>
              <a:ext uri="{FF2B5EF4-FFF2-40B4-BE49-F238E27FC236}">
                <a16:creationId xmlns:a16="http://schemas.microsoft.com/office/drawing/2014/main" id="{87E2B7CC-0B13-BA97-7C5E-BDE01B698753}"/>
              </a:ext>
            </a:extLst>
          </p:cNvPr>
          <p:cNvSpPr txBox="1"/>
          <p:nvPr/>
        </p:nvSpPr>
        <p:spPr>
          <a:xfrm>
            <a:off x="2421572" y="3429000"/>
            <a:ext cx="2622717" cy="1477328"/>
          </a:xfrm>
          <a:prstGeom prst="rect">
            <a:avLst/>
          </a:prstGeom>
          <a:solidFill>
            <a:schemeClr val="bg1"/>
          </a:solidFill>
          <a:ln>
            <a:solidFill>
              <a:schemeClr val="tx1"/>
            </a:solidFill>
          </a:ln>
        </p:spPr>
        <p:txBody>
          <a:bodyPr wrap="square" rtlCol="0">
            <a:spAutoFit/>
          </a:bodyPr>
          <a:lstStyle/>
          <a:p>
            <a:r>
              <a:rPr lang="fr-FR" dirty="0"/>
              <a:t>d’évaluer sa </a:t>
            </a:r>
            <a:r>
              <a:rPr lang="fr-FR" dirty="0">
                <a:solidFill>
                  <a:srgbClr val="FF0000"/>
                </a:solidFill>
              </a:rPr>
              <a:t>performance</a:t>
            </a:r>
            <a:r>
              <a:rPr lang="fr-FR" dirty="0"/>
              <a:t> et de prévenir les </a:t>
            </a:r>
            <a:r>
              <a:rPr lang="fr-FR" dirty="0">
                <a:solidFill>
                  <a:srgbClr val="FF0000"/>
                </a:solidFill>
              </a:rPr>
              <a:t>accidents</a:t>
            </a:r>
            <a:r>
              <a:rPr lang="fr-FR" dirty="0"/>
              <a:t> ou le développement de pathologies</a:t>
            </a:r>
          </a:p>
        </p:txBody>
      </p:sp>
      <p:sp>
        <p:nvSpPr>
          <p:cNvPr id="80" name="Flèche : droite à entaille 79">
            <a:extLst>
              <a:ext uri="{FF2B5EF4-FFF2-40B4-BE49-F238E27FC236}">
                <a16:creationId xmlns:a16="http://schemas.microsoft.com/office/drawing/2014/main" id="{256D930E-6A1C-3C78-FF51-CADE38686D73}"/>
              </a:ext>
            </a:extLst>
          </p:cNvPr>
          <p:cNvSpPr/>
          <p:nvPr/>
        </p:nvSpPr>
        <p:spPr>
          <a:xfrm rot="4284145">
            <a:off x="2673664" y="2363513"/>
            <a:ext cx="1596233" cy="301035"/>
          </a:xfrm>
          <a:prstGeom prst="notchedRightArrow">
            <a:avLst>
              <a:gd name="adj1" fmla="val 50000"/>
              <a:gd name="adj2" fmla="val 49542"/>
            </a:avLst>
          </a:prstGeom>
          <a:solidFill>
            <a:schemeClr val="bg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63368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D7E158FD-0758-4106-8467-E4D284F089ED}"/>
              </a:ext>
            </a:extLst>
          </p:cNvPr>
          <p:cNvSpPr>
            <a:spLocks noGrp="1"/>
          </p:cNvSpPr>
          <p:nvPr>
            <p:ph type="ftr" sz="quarter" idx="10"/>
          </p:nvPr>
        </p:nvSpPr>
        <p:spPr>
          <a:xfrm>
            <a:off x="4038600" y="6337300"/>
            <a:ext cx="4114800" cy="365125"/>
          </a:xfrm>
        </p:spPr>
        <p:txBody>
          <a:bodyPr/>
          <a:lstStyle/>
          <a:p>
            <a:r>
              <a:rPr lang="fr-FR" dirty="0"/>
              <a:t>26/02/2026 - Soutenance TN09 MoCapIA</a:t>
            </a:r>
          </a:p>
        </p:txBody>
      </p:sp>
      <p:sp>
        <p:nvSpPr>
          <p:cNvPr id="3" name="Espace réservé du numéro de diapositive 2">
            <a:extLst>
              <a:ext uri="{FF2B5EF4-FFF2-40B4-BE49-F238E27FC236}">
                <a16:creationId xmlns:a16="http://schemas.microsoft.com/office/drawing/2014/main" id="{0B71B049-FCF9-4436-9811-FA859A892464}"/>
              </a:ext>
            </a:extLst>
          </p:cNvPr>
          <p:cNvSpPr>
            <a:spLocks noGrp="1"/>
          </p:cNvSpPr>
          <p:nvPr>
            <p:ph type="sldNum" sz="quarter" idx="11"/>
          </p:nvPr>
        </p:nvSpPr>
        <p:spPr>
          <a:xfrm>
            <a:off x="9258947" y="184292"/>
            <a:ext cx="2743200" cy="365125"/>
          </a:xfrm>
        </p:spPr>
        <p:txBody>
          <a:bodyPr/>
          <a:lstStyle/>
          <a:p>
            <a:fld id="{5FE832C7-580F-4527-9E2C-46AEE9BAF770}" type="slidenum">
              <a:rPr lang="fr-FR" smtClean="0"/>
              <a:pPr/>
              <a:t>3</a:t>
            </a:fld>
            <a:endParaRPr lang="fr-FR" dirty="0"/>
          </a:p>
        </p:txBody>
      </p:sp>
      <p:sp>
        <p:nvSpPr>
          <p:cNvPr id="5" name="ZoneTexte 4">
            <a:extLst>
              <a:ext uri="{FF2B5EF4-FFF2-40B4-BE49-F238E27FC236}">
                <a16:creationId xmlns:a16="http://schemas.microsoft.com/office/drawing/2014/main" id="{3B666BD9-008B-4D30-9C2F-B56CF36A79AB}"/>
              </a:ext>
            </a:extLst>
          </p:cNvPr>
          <p:cNvSpPr txBox="1"/>
          <p:nvPr/>
        </p:nvSpPr>
        <p:spPr>
          <a:xfrm>
            <a:off x="2350557" y="37390"/>
            <a:ext cx="6036734" cy="553998"/>
          </a:xfrm>
          <a:prstGeom prst="rect">
            <a:avLst/>
          </a:prstGeom>
          <a:noFill/>
        </p:spPr>
        <p:txBody>
          <a:bodyPr wrap="square" rtlCol="0">
            <a:spAutoFit/>
          </a:bodyPr>
          <a:lstStyle/>
          <a:p>
            <a:r>
              <a:rPr lang="fr-FR" sz="3000" dirty="0"/>
              <a:t>II – Projet MoCapIA</a:t>
            </a:r>
          </a:p>
        </p:txBody>
      </p:sp>
      <p:pic>
        <p:nvPicPr>
          <p:cNvPr id="12" name="Image 11">
            <a:extLst>
              <a:ext uri="{FF2B5EF4-FFF2-40B4-BE49-F238E27FC236}">
                <a16:creationId xmlns:a16="http://schemas.microsoft.com/office/drawing/2014/main" id="{26CE6A15-F1B1-4CA3-B895-C5F7372BC1C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37527" y="834743"/>
            <a:ext cx="6253018" cy="5841680"/>
          </a:xfrm>
          <a:prstGeom prst="rect">
            <a:avLst/>
          </a:prstGeom>
        </p:spPr>
      </p:pic>
      <p:pic>
        <p:nvPicPr>
          <p:cNvPr id="23" name="Image 22">
            <a:extLst>
              <a:ext uri="{FF2B5EF4-FFF2-40B4-BE49-F238E27FC236}">
                <a16:creationId xmlns:a16="http://schemas.microsoft.com/office/drawing/2014/main" id="{C34F9DB8-C71D-4694-8B9A-13A805E45A34}"/>
              </a:ext>
            </a:extLst>
          </p:cNvPr>
          <p:cNvPicPr>
            <a:picLocks noChangeAspect="1"/>
          </p:cNvPicPr>
          <p:nvPr/>
        </p:nvPicPr>
        <p:blipFill rotWithShape="1">
          <a:blip r:embed="rId4">
            <a:extLst>
              <a:ext uri="{28A0092B-C50C-407E-A947-70E740481C1C}">
                <a14:useLocalDpi xmlns:a14="http://schemas.microsoft.com/office/drawing/2010/main" val="0"/>
              </a:ext>
            </a:extLst>
          </a:blip>
          <a:srcRect l="51587" b="37788"/>
          <a:stretch/>
        </p:blipFill>
        <p:spPr>
          <a:xfrm>
            <a:off x="8793360" y="4688781"/>
            <a:ext cx="2603412" cy="2084388"/>
          </a:xfrm>
          <a:prstGeom prst="roundRect">
            <a:avLst/>
          </a:prstGeom>
          <a:ln w="28575">
            <a:noFill/>
          </a:ln>
        </p:spPr>
      </p:pic>
      <p:pic>
        <p:nvPicPr>
          <p:cNvPr id="25" name="Image 24">
            <a:extLst>
              <a:ext uri="{FF2B5EF4-FFF2-40B4-BE49-F238E27FC236}">
                <a16:creationId xmlns:a16="http://schemas.microsoft.com/office/drawing/2014/main" id="{3DA035BD-9163-4F49-BE56-13D35E25FC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53400" y="37390"/>
            <a:ext cx="3583501" cy="2018937"/>
          </a:xfrm>
          <a:prstGeom prst="roundRect">
            <a:avLst/>
          </a:prstGeom>
          <a:ln w="28575">
            <a:noFill/>
          </a:ln>
        </p:spPr>
      </p:pic>
      <p:pic>
        <p:nvPicPr>
          <p:cNvPr id="27" name="Image 26">
            <a:extLst>
              <a:ext uri="{FF2B5EF4-FFF2-40B4-BE49-F238E27FC236}">
                <a16:creationId xmlns:a16="http://schemas.microsoft.com/office/drawing/2014/main" id="{50BDBACB-528A-49E1-8643-C6145A73CCE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643" y="4668867"/>
            <a:ext cx="3604286" cy="2124217"/>
          </a:xfrm>
          <a:prstGeom prst="roundRect">
            <a:avLst/>
          </a:prstGeom>
          <a:ln w="28575">
            <a:noFill/>
          </a:ln>
        </p:spPr>
      </p:pic>
      <p:grpSp>
        <p:nvGrpSpPr>
          <p:cNvPr id="43" name="Groupe 42">
            <a:extLst>
              <a:ext uri="{FF2B5EF4-FFF2-40B4-BE49-F238E27FC236}">
                <a16:creationId xmlns:a16="http://schemas.microsoft.com/office/drawing/2014/main" id="{EA27847D-EB3A-4A1E-BA04-A3DBD86F8E79}"/>
              </a:ext>
            </a:extLst>
          </p:cNvPr>
          <p:cNvGrpSpPr/>
          <p:nvPr/>
        </p:nvGrpSpPr>
        <p:grpSpPr>
          <a:xfrm>
            <a:off x="1621263" y="3153785"/>
            <a:ext cx="1089695" cy="1021239"/>
            <a:chOff x="905163" y="1865745"/>
            <a:chExt cx="1052945" cy="1043710"/>
          </a:xfrm>
        </p:grpSpPr>
        <p:sp>
          <p:nvSpPr>
            <p:cNvPr id="42" name="Bulle narrative : rectangle à coins arrondis 41">
              <a:extLst>
                <a:ext uri="{FF2B5EF4-FFF2-40B4-BE49-F238E27FC236}">
                  <a16:creationId xmlns:a16="http://schemas.microsoft.com/office/drawing/2014/main" id="{EA0FE26B-B9A7-40EE-B1C0-92A897545023}"/>
                </a:ext>
              </a:extLst>
            </p:cNvPr>
            <p:cNvSpPr/>
            <p:nvPr/>
          </p:nvSpPr>
          <p:spPr>
            <a:xfrm>
              <a:off x="905163" y="1865745"/>
              <a:ext cx="1052945" cy="1043710"/>
            </a:xfrm>
            <a:prstGeom prst="wedgeRoundRectCallout">
              <a:avLst>
                <a:gd name="adj1" fmla="val 121145"/>
                <a:gd name="adj2" fmla="val -21730"/>
                <a:gd name="adj3" fmla="val 16667"/>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35" name="Image 34">
              <a:extLst>
                <a:ext uri="{FF2B5EF4-FFF2-40B4-BE49-F238E27FC236}">
                  <a16:creationId xmlns:a16="http://schemas.microsoft.com/office/drawing/2014/main" id="{A3F6EE39-6099-435A-93AF-E9B7BF175D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9982" y="1945946"/>
              <a:ext cx="883306" cy="883306"/>
            </a:xfrm>
            <a:prstGeom prst="rect">
              <a:avLst/>
            </a:prstGeom>
          </p:spPr>
        </p:pic>
      </p:grpSp>
      <p:pic>
        <p:nvPicPr>
          <p:cNvPr id="39" name="Image 38">
            <a:extLst>
              <a:ext uri="{FF2B5EF4-FFF2-40B4-BE49-F238E27FC236}">
                <a16:creationId xmlns:a16="http://schemas.microsoft.com/office/drawing/2014/main" id="{26F763A1-1CF1-445E-81A6-4BBA7830723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15147382">
            <a:off x="2702373" y="3436234"/>
            <a:ext cx="1173943" cy="1213217"/>
          </a:xfrm>
          <a:prstGeom prst="rect">
            <a:avLst/>
          </a:prstGeom>
        </p:spPr>
      </p:pic>
      <p:pic>
        <p:nvPicPr>
          <p:cNvPr id="40" name="Image 39">
            <a:extLst>
              <a:ext uri="{FF2B5EF4-FFF2-40B4-BE49-F238E27FC236}">
                <a16:creationId xmlns:a16="http://schemas.microsoft.com/office/drawing/2014/main" id="{A25A6EEF-9624-4A06-B5C1-7206CE0E614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7955376">
            <a:off x="6979916" y="4991367"/>
            <a:ext cx="1711071" cy="1768315"/>
          </a:xfrm>
          <a:prstGeom prst="rect">
            <a:avLst/>
          </a:prstGeom>
        </p:spPr>
      </p:pic>
      <p:pic>
        <p:nvPicPr>
          <p:cNvPr id="41" name="Image 40">
            <a:extLst>
              <a:ext uri="{FF2B5EF4-FFF2-40B4-BE49-F238E27FC236}">
                <a16:creationId xmlns:a16="http://schemas.microsoft.com/office/drawing/2014/main" id="{DB3DE3E5-0A0A-448D-A2E6-B36030A8178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233661">
            <a:off x="9578420" y="2100818"/>
            <a:ext cx="1011364" cy="1045199"/>
          </a:xfrm>
          <a:prstGeom prst="rect">
            <a:avLst/>
          </a:prstGeom>
        </p:spPr>
      </p:pic>
      <p:grpSp>
        <p:nvGrpSpPr>
          <p:cNvPr id="44" name="Groupe 43">
            <a:extLst>
              <a:ext uri="{FF2B5EF4-FFF2-40B4-BE49-F238E27FC236}">
                <a16:creationId xmlns:a16="http://schemas.microsoft.com/office/drawing/2014/main" id="{3B56B93A-CB6D-4328-911F-EDE0B69697FB}"/>
              </a:ext>
            </a:extLst>
          </p:cNvPr>
          <p:cNvGrpSpPr/>
          <p:nvPr/>
        </p:nvGrpSpPr>
        <p:grpSpPr>
          <a:xfrm>
            <a:off x="8697867" y="3514172"/>
            <a:ext cx="1089695" cy="1021239"/>
            <a:chOff x="905163" y="1865745"/>
            <a:chExt cx="1052945" cy="1043710"/>
          </a:xfrm>
          <a:solidFill>
            <a:schemeClr val="accent4">
              <a:lumMod val="40000"/>
              <a:lumOff val="60000"/>
            </a:schemeClr>
          </a:solidFill>
        </p:grpSpPr>
        <p:sp>
          <p:nvSpPr>
            <p:cNvPr id="45" name="Bulle narrative : rectangle à coins arrondis 44">
              <a:extLst>
                <a:ext uri="{FF2B5EF4-FFF2-40B4-BE49-F238E27FC236}">
                  <a16:creationId xmlns:a16="http://schemas.microsoft.com/office/drawing/2014/main" id="{8AA71F82-87D5-4CB1-AF48-7B362F9E0E8F}"/>
                </a:ext>
              </a:extLst>
            </p:cNvPr>
            <p:cNvSpPr/>
            <p:nvPr/>
          </p:nvSpPr>
          <p:spPr>
            <a:xfrm>
              <a:off x="905163" y="1865745"/>
              <a:ext cx="1052945" cy="1043710"/>
            </a:xfrm>
            <a:prstGeom prst="wedgeRoundRectCallout">
              <a:avLst>
                <a:gd name="adj1" fmla="val -103471"/>
                <a:gd name="adj2" fmla="val -58811"/>
                <a:gd name="adj3" fmla="val 1666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6" name="Image 45">
              <a:extLst>
                <a:ext uri="{FF2B5EF4-FFF2-40B4-BE49-F238E27FC236}">
                  <a16:creationId xmlns:a16="http://schemas.microsoft.com/office/drawing/2014/main" id="{A37A6141-0AA0-417D-ADAE-DEC4F8CB72A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8757" y="1913167"/>
              <a:ext cx="883306" cy="883306"/>
            </a:xfrm>
            <a:prstGeom prst="rect">
              <a:avLst/>
            </a:prstGeom>
            <a:solidFill>
              <a:schemeClr val="accent1">
                <a:lumMod val="40000"/>
                <a:lumOff val="60000"/>
              </a:schemeClr>
            </a:solidFill>
            <a:ln>
              <a:noFill/>
            </a:ln>
          </p:spPr>
        </p:pic>
      </p:grpSp>
      <p:grpSp>
        <p:nvGrpSpPr>
          <p:cNvPr id="47" name="Groupe 46">
            <a:extLst>
              <a:ext uri="{FF2B5EF4-FFF2-40B4-BE49-F238E27FC236}">
                <a16:creationId xmlns:a16="http://schemas.microsoft.com/office/drawing/2014/main" id="{E54875E8-5B0D-448C-9922-51C56786E17C}"/>
              </a:ext>
            </a:extLst>
          </p:cNvPr>
          <p:cNvGrpSpPr/>
          <p:nvPr/>
        </p:nvGrpSpPr>
        <p:grpSpPr>
          <a:xfrm>
            <a:off x="5976102" y="4066992"/>
            <a:ext cx="885827" cy="819370"/>
            <a:chOff x="905163" y="1865745"/>
            <a:chExt cx="1052945" cy="1043710"/>
          </a:xfrm>
          <a:solidFill>
            <a:schemeClr val="accent4">
              <a:lumMod val="40000"/>
              <a:lumOff val="60000"/>
            </a:schemeClr>
          </a:solidFill>
        </p:grpSpPr>
        <p:sp>
          <p:nvSpPr>
            <p:cNvPr id="48" name="Bulle narrative : rectangle à coins arrondis 47">
              <a:extLst>
                <a:ext uri="{FF2B5EF4-FFF2-40B4-BE49-F238E27FC236}">
                  <a16:creationId xmlns:a16="http://schemas.microsoft.com/office/drawing/2014/main" id="{BB938E33-BBEB-4910-B36F-C53A4F572A25}"/>
                </a:ext>
              </a:extLst>
            </p:cNvPr>
            <p:cNvSpPr/>
            <p:nvPr/>
          </p:nvSpPr>
          <p:spPr>
            <a:xfrm>
              <a:off x="905163" y="1865745"/>
              <a:ext cx="1052945" cy="1043710"/>
            </a:xfrm>
            <a:prstGeom prst="wedgeRoundRectCallout">
              <a:avLst>
                <a:gd name="adj1" fmla="val -32174"/>
                <a:gd name="adj2" fmla="val 74363"/>
                <a:gd name="adj3" fmla="val 1666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49" name="Image 48">
              <a:extLst>
                <a:ext uri="{FF2B5EF4-FFF2-40B4-BE49-F238E27FC236}">
                  <a16:creationId xmlns:a16="http://schemas.microsoft.com/office/drawing/2014/main" id="{7E065B6F-A968-42E9-A57C-C4A963A5E3C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8757" y="1913167"/>
              <a:ext cx="883305" cy="883306"/>
            </a:xfrm>
            <a:prstGeom prst="rect">
              <a:avLst/>
            </a:prstGeom>
            <a:grpFill/>
            <a:ln>
              <a:noFill/>
            </a:ln>
          </p:spPr>
        </p:pic>
      </p:grpSp>
      <p:pic>
        <p:nvPicPr>
          <p:cNvPr id="55" name="Image 54">
            <a:extLst>
              <a:ext uri="{FF2B5EF4-FFF2-40B4-BE49-F238E27FC236}">
                <a16:creationId xmlns:a16="http://schemas.microsoft.com/office/drawing/2014/main" id="{F84206C9-E95B-40BA-8FD5-311B30372BB1}"/>
              </a:ext>
            </a:extLst>
          </p:cNvPr>
          <p:cNvPicPr>
            <a:picLocks noChangeAspect="1"/>
          </p:cNvPicPr>
          <p:nvPr/>
        </p:nvPicPr>
        <p:blipFill rotWithShape="1">
          <a:blip r:embed="rId9">
            <a:extLst>
              <a:ext uri="{28A0092B-C50C-407E-A947-70E740481C1C}">
                <a14:useLocalDpi xmlns:a14="http://schemas.microsoft.com/office/drawing/2010/main" val="0"/>
              </a:ext>
            </a:extLst>
          </a:blip>
          <a:srcRect l="3680" r="7763"/>
          <a:stretch/>
        </p:blipFill>
        <p:spPr>
          <a:xfrm>
            <a:off x="168552" y="755702"/>
            <a:ext cx="3270630" cy="2079288"/>
          </a:xfrm>
          <a:prstGeom prst="roundRect">
            <a:avLst>
              <a:gd name="adj" fmla="val 8388"/>
            </a:avLst>
          </a:prstGeom>
        </p:spPr>
      </p:pic>
    </p:spTree>
    <p:extLst>
      <p:ext uri="{BB962C8B-B14F-4D97-AF65-F5344CB8AC3E}">
        <p14:creationId xmlns:p14="http://schemas.microsoft.com/office/powerpoint/2010/main" val="2011134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B699AB9A-659E-4E55-AF50-E99B639132B6}"/>
              </a:ext>
            </a:extLst>
          </p:cNvPr>
          <p:cNvSpPr>
            <a:spLocks noGrp="1"/>
          </p:cNvSpPr>
          <p:nvPr>
            <p:ph type="ftr" sz="quarter" idx="10"/>
          </p:nvPr>
        </p:nvSpPr>
        <p:spPr/>
        <p:txBody>
          <a:bodyPr/>
          <a:lstStyle/>
          <a:p>
            <a:r>
              <a:rPr lang="fr-FR" dirty="0"/>
              <a:t>26/02/2026 - Soutenance TN09 MoCapIA</a:t>
            </a:r>
          </a:p>
        </p:txBody>
      </p:sp>
      <p:sp>
        <p:nvSpPr>
          <p:cNvPr id="3" name="Espace réservé du numéro de diapositive 2">
            <a:extLst>
              <a:ext uri="{FF2B5EF4-FFF2-40B4-BE49-F238E27FC236}">
                <a16:creationId xmlns:a16="http://schemas.microsoft.com/office/drawing/2014/main" id="{C1D64451-167D-410F-BAA9-C9E10B283857}"/>
              </a:ext>
            </a:extLst>
          </p:cNvPr>
          <p:cNvSpPr>
            <a:spLocks noGrp="1"/>
          </p:cNvSpPr>
          <p:nvPr>
            <p:ph type="sldNum" sz="quarter" idx="11"/>
          </p:nvPr>
        </p:nvSpPr>
        <p:spPr/>
        <p:txBody>
          <a:bodyPr/>
          <a:lstStyle/>
          <a:p>
            <a:fld id="{5FE832C7-580F-4527-9E2C-46AEE9BAF770}" type="slidenum">
              <a:rPr lang="fr-FR" smtClean="0"/>
              <a:t>4</a:t>
            </a:fld>
            <a:endParaRPr lang="fr-FR" dirty="0"/>
          </a:p>
        </p:txBody>
      </p:sp>
      <p:sp>
        <p:nvSpPr>
          <p:cNvPr id="5" name="ZoneTexte 4">
            <a:extLst>
              <a:ext uri="{FF2B5EF4-FFF2-40B4-BE49-F238E27FC236}">
                <a16:creationId xmlns:a16="http://schemas.microsoft.com/office/drawing/2014/main" id="{F4BCD3F3-C9A0-449A-9C94-929176E54C39}"/>
              </a:ext>
            </a:extLst>
          </p:cNvPr>
          <p:cNvSpPr txBox="1"/>
          <p:nvPr/>
        </p:nvSpPr>
        <p:spPr>
          <a:xfrm>
            <a:off x="2291722" y="-8188"/>
            <a:ext cx="6036734" cy="553998"/>
          </a:xfrm>
          <a:prstGeom prst="rect">
            <a:avLst/>
          </a:prstGeom>
          <a:noFill/>
        </p:spPr>
        <p:txBody>
          <a:bodyPr wrap="square" rtlCol="0">
            <a:spAutoFit/>
          </a:bodyPr>
          <a:lstStyle/>
          <a:p>
            <a:r>
              <a:rPr lang="fr-FR" sz="3000" dirty="0"/>
              <a:t>III – Phase de Test</a:t>
            </a:r>
          </a:p>
        </p:txBody>
      </p:sp>
      <p:pic>
        <p:nvPicPr>
          <p:cNvPr id="9" name="Image 8">
            <a:extLst>
              <a:ext uri="{FF2B5EF4-FFF2-40B4-BE49-F238E27FC236}">
                <a16:creationId xmlns:a16="http://schemas.microsoft.com/office/drawing/2014/main" id="{F82ED541-463E-4D0F-B5B6-800AFAC60364}"/>
              </a:ext>
            </a:extLst>
          </p:cNvPr>
          <p:cNvPicPr>
            <a:picLocks noChangeAspect="1"/>
          </p:cNvPicPr>
          <p:nvPr/>
        </p:nvPicPr>
        <p:blipFill rotWithShape="1">
          <a:blip r:embed="rId3">
            <a:extLst>
              <a:ext uri="{28A0092B-C50C-407E-A947-70E740481C1C}">
                <a14:useLocalDpi xmlns:a14="http://schemas.microsoft.com/office/drawing/2010/main" val="0"/>
              </a:ext>
            </a:extLst>
          </a:blip>
          <a:srcRect l="7546" r="7824" b="3277"/>
          <a:stretch/>
        </p:blipFill>
        <p:spPr>
          <a:xfrm>
            <a:off x="493825" y="3348543"/>
            <a:ext cx="5301955" cy="3336377"/>
          </a:xfrm>
          <a:prstGeom prst="rect">
            <a:avLst/>
          </a:prstGeom>
        </p:spPr>
      </p:pic>
      <p:sp>
        <p:nvSpPr>
          <p:cNvPr id="24" name="ZoneTexte 23">
            <a:extLst>
              <a:ext uri="{FF2B5EF4-FFF2-40B4-BE49-F238E27FC236}">
                <a16:creationId xmlns:a16="http://schemas.microsoft.com/office/drawing/2014/main" id="{1C48CC79-C3AF-49D8-A1CB-D8B88D0583E6}"/>
              </a:ext>
            </a:extLst>
          </p:cNvPr>
          <p:cNvSpPr txBox="1"/>
          <p:nvPr/>
        </p:nvSpPr>
        <p:spPr>
          <a:xfrm>
            <a:off x="2186810" y="501061"/>
            <a:ext cx="1987314" cy="400110"/>
          </a:xfrm>
          <a:prstGeom prst="rect">
            <a:avLst/>
          </a:prstGeom>
          <a:noFill/>
        </p:spPr>
        <p:txBody>
          <a:bodyPr wrap="square" rtlCol="0">
            <a:spAutoFit/>
          </a:bodyPr>
          <a:lstStyle/>
          <a:p>
            <a:r>
              <a:rPr lang="fr-FR" sz="2000" u="sng" dirty="0"/>
              <a:t>Impact du Damier</a:t>
            </a:r>
          </a:p>
        </p:txBody>
      </p:sp>
      <p:pic>
        <p:nvPicPr>
          <p:cNvPr id="26" name="Image 25">
            <a:extLst>
              <a:ext uri="{FF2B5EF4-FFF2-40B4-BE49-F238E27FC236}">
                <a16:creationId xmlns:a16="http://schemas.microsoft.com/office/drawing/2014/main" id="{CE5E172A-9757-4B0F-9AE3-DD1ECAE718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6903" y="734161"/>
            <a:ext cx="4600400" cy="2651211"/>
          </a:xfrm>
          <a:prstGeom prst="roundRect">
            <a:avLst>
              <a:gd name="adj" fmla="val 4021"/>
            </a:avLst>
          </a:prstGeom>
        </p:spPr>
      </p:pic>
      <p:sp>
        <p:nvSpPr>
          <p:cNvPr id="27" name="ZoneTexte 26">
            <a:extLst>
              <a:ext uri="{FF2B5EF4-FFF2-40B4-BE49-F238E27FC236}">
                <a16:creationId xmlns:a16="http://schemas.microsoft.com/office/drawing/2014/main" id="{9F2896E4-1124-43BB-A318-095A9EBE8FD6}"/>
              </a:ext>
            </a:extLst>
          </p:cNvPr>
          <p:cNvSpPr txBox="1"/>
          <p:nvPr/>
        </p:nvSpPr>
        <p:spPr>
          <a:xfrm>
            <a:off x="7705725" y="234096"/>
            <a:ext cx="4164543" cy="400110"/>
          </a:xfrm>
          <a:prstGeom prst="rect">
            <a:avLst/>
          </a:prstGeom>
          <a:noFill/>
        </p:spPr>
        <p:txBody>
          <a:bodyPr wrap="square" rtlCol="0">
            <a:spAutoFit/>
          </a:bodyPr>
          <a:lstStyle/>
          <a:p>
            <a:r>
              <a:rPr lang="fr-FR" sz="2000" u="sng" dirty="0"/>
              <a:t>Homogénéisation de la calibration</a:t>
            </a:r>
          </a:p>
        </p:txBody>
      </p:sp>
      <p:pic>
        <p:nvPicPr>
          <p:cNvPr id="29" name="Image 28">
            <a:extLst>
              <a:ext uri="{FF2B5EF4-FFF2-40B4-BE49-F238E27FC236}">
                <a16:creationId xmlns:a16="http://schemas.microsoft.com/office/drawing/2014/main" id="{934A5AE5-2438-41F1-9F9F-4D90E2CD843C}"/>
              </a:ext>
            </a:extLst>
          </p:cNvPr>
          <p:cNvPicPr>
            <a:picLocks noChangeAspect="1"/>
          </p:cNvPicPr>
          <p:nvPr/>
        </p:nvPicPr>
        <p:blipFill rotWithShape="1">
          <a:blip r:embed="rId5">
            <a:extLst>
              <a:ext uri="{28A0092B-C50C-407E-A947-70E740481C1C}">
                <a14:useLocalDpi xmlns:a14="http://schemas.microsoft.com/office/drawing/2010/main" val="0"/>
              </a:ext>
            </a:extLst>
          </a:blip>
          <a:srcRect l="3920" t="7645" b="6542"/>
          <a:stretch/>
        </p:blipFill>
        <p:spPr>
          <a:xfrm>
            <a:off x="6941771" y="3602082"/>
            <a:ext cx="5191025" cy="2992730"/>
          </a:xfrm>
          <a:prstGeom prst="rect">
            <a:avLst/>
          </a:prstGeom>
        </p:spPr>
      </p:pic>
      <p:cxnSp>
        <p:nvCxnSpPr>
          <p:cNvPr id="31" name="Connecteur droit 30">
            <a:extLst>
              <a:ext uri="{FF2B5EF4-FFF2-40B4-BE49-F238E27FC236}">
                <a16:creationId xmlns:a16="http://schemas.microsoft.com/office/drawing/2014/main" id="{D66B3516-E20C-4A6D-983E-B7A6AF4DFB9C}"/>
              </a:ext>
            </a:extLst>
          </p:cNvPr>
          <p:cNvCxnSpPr/>
          <p:nvPr/>
        </p:nvCxnSpPr>
        <p:spPr>
          <a:xfrm>
            <a:off x="6496340" y="1310859"/>
            <a:ext cx="0" cy="4861341"/>
          </a:xfrm>
          <a:prstGeom prst="line">
            <a:avLst/>
          </a:prstGeom>
          <a:ln w="2857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nvGrpSpPr>
          <p:cNvPr id="8" name="Groupe 7">
            <a:extLst>
              <a:ext uri="{FF2B5EF4-FFF2-40B4-BE49-F238E27FC236}">
                <a16:creationId xmlns:a16="http://schemas.microsoft.com/office/drawing/2014/main" id="{C9A01C3A-DC2C-4444-ADC0-453C248E9497}"/>
              </a:ext>
            </a:extLst>
          </p:cNvPr>
          <p:cNvGrpSpPr/>
          <p:nvPr/>
        </p:nvGrpSpPr>
        <p:grpSpPr>
          <a:xfrm>
            <a:off x="4993097" y="5067248"/>
            <a:ext cx="3522902" cy="1482105"/>
            <a:chOff x="4993097" y="5067248"/>
            <a:chExt cx="3522902" cy="1482105"/>
          </a:xfrm>
        </p:grpSpPr>
        <p:grpSp>
          <p:nvGrpSpPr>
            <p:cNvPr id="6" name="Groupe 5">
              <a:extLst>
                <a:ext uri="{FF2B5EF4-FFF2-40B4-BE49-F238E27FC236}">
                  <a16:creationId xmlns:a16="http://schemas.microsoft.com/office/drawing/2014/main" id="{203D6616-2D9A-4C19-B24C-86558754FC36}"/>
                </a:ext>
              </a:extLst>
            </p:cNvPr>
            <p:cNvGrpSpPr/>
            <p:nvPr/>
          </p:nvGrpSpPr>
          <p:grpSpPr>
            <a:xfrm>
              <a:off x="4993097" y="5067248"/>
              <a:ext cx="3522902" cy="1482105"/>
              <a:chOff x="4997369" y="5141800"/>
              <a:chExt cx="3522902" cy="1395796"/>
            </a:xfrm>
          </p:grpSpPr>
          <p:sp>
            <p:nvSpPr>
              <p:cNvPr id="20" name="Rectangle : coins arrondis 19">
                <a:extLst>
                  <a:ext uri="{FF2B5EF4-FFF2-40B4-BE49-F238E27FC236}">
                    <a16:creationId xmlns:a16="http://schemas.microsoft.com/office/drawing/2014/main" id="{8C7260C6-2D12-4819-9BCB-9CA4822B1541}"/>
                  </a:ext>
                </a:extLst>
              </p:cNvPr>
              <p:cNvSpPr/>
              <p:nvPr/>
            </p:nvSpPr>
            <p:spPr>
              <a:xfrm>
                <a:off x="4997369" y="5141800"/>
                <a:ext cx="3522902" cy="1395796"/>
              </a:xfrm>
              <a:prstGeom prst="roundRect">
                <a:avLst>
                  <a:gd name="adj" fmla="val 4742"/>
                </a:avLst>
              </a:prstGeom>
              <a:solidFill>
                <a:schemeClr val="tx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Rectangle : coins arrondis 17">
                <a:extLst>
                  <a:ext uri="{FF2B5EF4-FFF2-40B4-BE49-F238E27FC236}">
                    <a16:creationId xmlns:a16="http://schemas.microsoft.com/office/drawing/2014/main" id="{15862EF3-ED6D-46D7-9D44-44F766B5FD5C}"/>
                  </a:ext>
                </a:extLst>
              </p:cNvPr>
              <p:cNvSpPr/>
              <p:nvPr/>
            </p:nvSpPr>
            <p:spPr>
              <a:xfrm>
                <a:off x="5250230" y="5382730"/>
                <a:ext cx="1285875" cy="521808"/>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Calibration</a:t>
                </a:r>
              </a:p>
            </p:txBody>
          </p:sp>
          <p:sp>
            <p:nvSpPr>
              <p:cNvPr id="19" name="Rectangle : coins arrondis 18">
                <a:extLst>
                  <a:ext uri="{FF2B5EF4-FFF2-40B4-BE49-F238E27FC236}">
                    <a16:creationId xmlns:a16="http://schemas.microsoft.com/office/drawing/2014/main" id="{AFBE5625-3AC8-4344-BF46-546919030C8C}"/>
                  </a:ext>
                </a:extLst>
              </p:cNvPr>
              <p:cNvSpPr/>
              <p:nvPr/>
            </p:nvSpPr>
            <p:spPr>
              <a:xfrm>
                <a:off x="6981535" y="5382730"/>
                <a:ext cx="1471089" cy="521808"/>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Triangulation</a:t>
                </a:r>
              </a:p>
            </p:txBody>
          </p:sp>
          <p:sp>
            <p:nvSpPr>
              <p:cNvPr id="21" name="Signe Plus 20">
                <a:extLst>
                  <a:ext uri="{FF2B5EF4-FFF2-40B4-BE49-F238E27FC236}">
                    <a16:creationId xmlns:a16="http://schemas.microsoft.com/office/drawing/2014/main" id="{53C784A8-ABA0-4B18-B3C7-D1B477E92107}"/>
                  </a:ext>
                </a:extLst>
              </p:cNvPr>
              <p:cNvSpPr/>
              <p:nvPr/>
            </p:nvSpPr>
            <p:spPr>
              <a:xfrm>
                <a:off x="6515932" y="5454963"/>
                <a:ext cx="485776" cy="439738"/>
              </a:xfrm>
              <a:prstGeom prst="mathPlu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7" name="ZoneTexte 6">
              <a:extLst>
                <a:ext uri="{FF2B5EF4-FFF2-40B4-BE49-F238E27FC236}">
                  <a16:creationId xmlns:a16="http://schemas.microsoft.com/office/drawing/2014/main" id="{94B8B824-0A55-40B0-A89F-141F8FCA5C49}"/>
                </a:ext>
              </a:extLst>
            </p:cNvPr>
            <p:cNvSpPr txBox="1"/>
            <p:nvPr/>
          </p:nvSpPr>
          <p:spPr>
            <a:xfrm>
              <a:off x="5521061" y="6122200"/>
              <a:ext cx="2466975" cy="369332"/>
            </a:xfrm>
            <a:prstGeom prst="rect">
              <a:avLst/>
            </a:prstGeom>
            <a:noFill/>
            <a:ln>
              <a:noFill/>
            </a:ln>
          </p:spPr>
          <p:txBody>
            <a:bodyPr wrap="square" rtlCol="0">
              <a:spAutoFit/>
            </a:bodyPr>
            <a:lstStyle/>
            <a:p>
              <a:pPr algn="ctr"/>
              <a:r>
                <a:rPr lang="fr-FR" dirty="0"/>
                <a:t>Erreur &lt; 15 mm</a:t>
              </a:r>
            </a:p>
          </p:txBody>
        </p:sp>
      </p:grpSp>
      <p:grpSp>
        <p:nvGrpSpPr>
          <p:cNvPr id="43" name="Groupe 42">
            <a:extLst>
              <a:ext uri="{FF2B5EF4-FFF2-40B4-BE49-F238E27FC236}">
                <a16:creationId xmlns:a16="http://schemas.microsoft.com/office/drawing/2014/main" id="{0EBF847D-06BE-4EB1-18E0-6EBFB8787F48}"/>
              </a:ext>
            </a:extLst>
          </p:cNvPr>
          <p:cNvGrpSpPr/>
          <p:nvPr/>
        </p:nvGrpSpPr>
        <p:grpSpPr>
          <a:xfrm>
            <a:off x="177006" y="936729"/>
            <a:ext cx="5884209" cy="2492271"/>
            <a:chOff x="2101850" y="859904"/>
            <a:chExt cx="5884209" cy="2492271"/>
          </a:xfrm>
        </p:grpSpPr>
        <p:grpSp>
          <p:nvGrpSpPr>
            <p:cNvPr id="16" name="Groupe 15">
              <a:extLst>
                <a:ext uri="{FF2B5EF4-FFF2-40B4-BE49-F238E27FC236}">
                  <a16:creationId xmlns:a16="http://schemas.microsoft.com/office/drawing/2014/main" id="{DB318867-1074-4DAC-923F-B821D0704171}"/>
                </a:ext>
              </a:extLst>
            </p:cNvPr>
            <p:cNvGrpSpPr/>
            <p:nvPr/>
          </p:nvGrpSpPr>
          <p:grpSpPr>
            <a:xfrm>
              <a:off x="2118323" y="859904"/>
              <a:ext cx="2124288" cy="2492271"/>
              <a:chOff x="462491" y="1833260"/>
              <a:chExt cx="2675931" cy="3122711"/>
            </a:xfrm>
          </p:grpSpPr>
          <p:pic>
            <p:nvPicPr>
              <p:cNvPr id="11" name="Image 10">
                <a:extLst>
                  <a:ext uri="{FF2B5EF4-FFF2-40B4-BE49-F238E27FC236}">
                    <a16:creationId xmlns:a16="http://schemas.microsoft.com/office/drawing/2014/main" id="{90A7EBA3-DBB5-4B50-A792-4200CBF6762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2491" y="1833260"/>
                <a:ext cx="2675931" cy="3122711"/>
              </a:xfrm>
              <a:prstGeom prst="roundRect">
                <a:avLst>
                  <a:gd name="adj" fmla="val 4112"/>
                </a:avLst>
              </a:prstGeom>
            </p:spPr>
          </p:pic>
          <p:sp>
            <p:nvSpPr>
              <p:cNvPr id="12" name="ZoneTexte 11">
                <a:extLst>
                  <a:ext uri="{FF2B5EF4-FFF2-40B4-BE49-F238E27FC236}">
                    <a16:creationId xmlns:a16="http://schemas.microsoft.com/office/drawing/2014/main" id="{3129DFD2-71AC-4ACD-8937-9122262F7DB3}"/>
                  </a:ext>
                </a:extLst>
              </p:cNvPr>
              <p:cNvSpPr txBox="1"/>
              <p:nvPr/>
            </p:nvSpPr>
            <p:spPr>
              <a:xfrm>
                <a:off x="936625" y="2936528"/>
                <a:ext cx="333375" cy="400110"/>
              </a:xfrm>
              <a:prstGeom prst="rect">
                <a:avLst/>
              </a:prstGeom>
              <a:noFill/>
            </p:spPr>
            <p:txBody>
              <a:bodyPr wrap="square" rtlCol="0">
                <a:spAutoFit/>
              </a:bodyPr>
              <a:lstStyle/>
              <a:p>
                <a:r>
                  <a:rPr lang="fr-FR" sz="2000" b="1" dirty="0">
                    <a:solidFill>
                      <a:srgbClr val="FF0000"/>
                    </a:solidFill>
                  </a:rPr>
                  <a:t>A</a:t>
                </a:r>
              </a:p>
            </p:txBody>
          </p:sp>
          <p:sp>
            <p:nvSpPr>
              <p:cNvPr id="13" name="ZoneTexte 12">
                <a:extLst>
                  <a:ext uri="{FF2B5EF4-FFF2-40B4-BE49-F238E27FC236}">
                    <a16:creationId xmlns:a16="http://schemas.microsoft.com/office/drawing/2014/main" id="{F358FDB5-3004-4CC3-87BD-4CFD45D718AD}"/>
                  </a:ext>
                </a:extLst>
              </p:cNvPr>
              <p:cNvSpPr txBox="1"/>
              <p:nvPr/>
            </p:nvSpPr>
            <p:spPr>
              <a:xfrm>
                <a:off x="2247900" y="2941724"/>
                <a:ext cx="333375" cy="400110"/>
              </a:xfrm>
              <a:prstGeom prst="rect">
                <a:avLst/>
              </a:prstGeom>
              <a:noFill/>
            </p:spPr>
            <p:txBody>
              <a:bodyPr wrap="square" rtlCol="0">
                <a:spAutoFit/>
              </a:bodyPr>
              <a:lstStyle/>
              <a:p>
                <a:r>
                  <a:rPr lang="fr-FR" sz="2000" b="1" dirty="0">
                    <a:solidFill>
                      <a:srgbClr val="FF0000"/>
                    </a:solidFill>
                  </a:rPr>
                  <a:t>B</a:t>
                </a:r>
              </a:p>
            </p:txBody>
          </p:sp>
          <p:sp>
            <p:nvSpPr>
              <p:cNvPr id="14" name="ZoneTexte 13">
                <a:extLst>
                  <a:ext uri="{FF2B5EF4-FFF2-40B4-BE49-F238E27FC236}">
                    <a16:creationId xmlns:a16="http://schemas.microsoft.com/office/drawing/2014/main" id="{495F57D8-710C-429F-8AA7-B02236B59583}"/>
                  </a:ext>
                </a:extLst>
              </p:cNvPr>
              <p:cNvSpPr txBox="1"/>
              <p:nvPr/>
            </p:nvSpPr>
            <p:spPr>
              <a:xfrm>
                <a:off x="869949" y="4551311"/>
                <a:ext cx="333375" cy="400110"/>
              </a:xfrm>
              <a:prstGeom prst="rect">
                <a:avLst/>
              </a:prstGeom>
              <a:noFill/>
            </p:spPr>
            <p:txBody>
              <a:bodyPr wrap="square" rtlCol="0">
                <a:spAutoFit/>
              </a:bodyPr>
              <a:lstStyle/>
              <a:p>
                <a:r>
                  <a:rPr lang="fr-FR" sz="2000" b="1" dirty="0">
                    <a:solidFill>
                      <a:srgbClr val="FF0000"/>
                    </a:solidFill>
                  </a:rPr>
                  <a:t>C</a:t>
                </a:r>
              </a:p>
            </p:txBody>
          </p:sp>
          <p:sp>
            <p:nvSpPr>
              <p:cNvPr id="15" name="ZoneTexte 14">
                <a:extLst>
                  <a:ext uri="{FF2B5EF4-FFF2-40B4-BE49-F238E27FC236}">
                    <a16:creationId xmlns:a16="http://schemas.microsoft.com/office/drawing/2014/main" id="{19419A32-B390-4B85-A6D1-FE27778D1BDC}"/>
                  </a:ext>
                </a:extLst>
              </p:cNvPr>
              <p:cNvSpPr txBox="1"/>
              <p:nvPr/>
            </p:nvSpPr>
            <p:spPr>
              <a:xfrm>
                <a:off x="2280708" y="4551311"/>
                <a:ext cx="333375" cy="400110"/>
              </a:xfrm>
              <a:prstGeom prst="rect">
                <a:avLst/>
              </a:prstGeom>
              <a:noFill/>
            </p:spPr>
            <p:txBody>
              <a:bodyPr wrap="square" rtlCol="0">
                <a:spAutoFit/>
              </a:bodyPr>
              <a:lstStyle/>
              <a:p>
                <a:r>
                  <a:rPr lang="fr-FR" sz="2000" b="1" dirty="0">
                    <a:solidFill>
                      <a:srgbClr val="FF0000"/>
                    </a:solidFill>
                  </a:rPr>
                  <a:t>D</a:t>
                </a:r>
              </a:p>
            </p:txBody>
          </p:sp>
        </p:grpSp>
        <p:sp>
          <p:nvSpPr>
            <p:cNvPr id="4" name="Forme libre : forme 3">
              <a:extLst>
                <a:ext uri="{FF2B5EF4-FFF2-40B4-BE49-F238E27FC236}">
                  <a16:creationId xmlns:a16="http://schemas.microsoft.com/office/drawing/2014/main" id="{D48F12E4-20B5-DD80-EF74-B92634E2A2DF}"/>
                </a:ext>
              </a:extLst>
            </p:cNvPr>
            <p:cNvSpPr/>
            <p:nvPr/>
          </p:nvSpPr>
          <p:spPr>
            <a:xfrm>
              <a:off x="2197100" y="974725"/>
              <a:ext cx="996950" cy="847725"/>
            </a:xfrm>
            <a:custGeom>
              <a:avLst/>
              <a:gdLst>
                <a:gd name="csX0" fmla="*/ 38100 w 996950"/>
                <a:gd name="csY0" fmla="*/ 0 h 847725"/>
                <a:gd name="csX1" fmla="*/ 0 w 996950"/>
                <a:gd name="csY1" fmla="*/ 815975 h 847725"/>
                <a:gd name="csX2" fmla="*/ 971550 w 996950"/>
                <a:gd name="csY2" fmla="*/ 847725 h 847725"/>
                <a:gd name="csX3" fmla="*/ 996950 w 996950"/>
                <a:gd name="csY3" fmla="*/ 19050 h 847725"/>
                <a:gd name="csX4" fmla="*/ 38100 w 996950"/>
                <a:gd name="csY4" fmla="*/ 0 h 847725"/>
              </a:gdLst>
              <a:ahLst/>
              <a:cxnLst>
                <a:cxn ang="0">
                  <a:pos x="csX0" y="csY0"/>
                </a:cxn>
                <a:cxn ang="0">
                  <a:pos x="csX1" y="csY1"/>
                </a:cxn>
                <a:cxn ang="0">
                  <a:pos x="csX2" y="csY2"/>
                </a:cxn>
                <a:cxn ang="0">
                  <a:pos x="csX3" y="csY3"/>
                </a:cxn>
                <a:cxn ang="0">
                  <a:pos x="csX4" y="csY4"/>
                </a:cxn>
              </a:cxnLst>
              <a:rect l="l" t="t" r="r" b="b"/>
              <a:pathLst>
                <a:path w="996950" h="847725">
                  <a:moveTo>
                    <a:pt x="38100" y="0"/>
                  </a:moveTo>
                  <a:lnTo>
                    <a:pt x="0" y="815975"/>
                  </a:lnTo>
                  <a:lnTo>
                    <a:pt x="971550" y="847725"/>
                  </a:lnTo>
                  <a:lnTo>
                    <a:pt x="996950" y="19050"/>
                  </a:lnTo>
                  <a:lnTo>
                    <a:pt x="38100" y="0"/>
                  </a:lnTo>
                  <a:close/>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orme libre : forme 9">
              <a:extLst>
                <a:ext uri="{FF2B5EF4-FFF2-40B4-BE49-F238E27FC236}">
                  <a16:creationId xmlns:a16="http://schemas.microsoft.com/office/drawing/2014/main" id="{2877BE7B-A0FC-967D-E3F7-EE68273D022D}"/>
                </a:ext>
              </a:extLst>
            </p:cNvPr>
            <p:cNvSpPr/>
            <p:nvPr/>
          </p:nvSpPr>
          <p:spPr>
            <a:xfrm>
              <a:off x="3255433" y="1064683"/>
              <a:ext cx="842434" cy="719667"/>
            </a:xfrm>
            <a:custGeom>
              <a:avLst/>
              <a:gdLst>
                <a:gd name="csX0" fmla="*/ 27517 w 842434"/>
                <a:gd name="csY0" fmla="*/ 0 h 719667"/>
                <a:gd name="csX1" fmla="*/ 0 w 842434"/>
                <a:gd name="csY1" fmla="*/ 696384 h 719667"/>
                <a:gd name="csX2" fmla="*/ 823384 w 842434"/>
                <a:gd name="csY2" fmla="*/ 719667 h 719667"/>
                <a:gd name="csX3" fmla="*/ 842434 w 842434"/>
                <a:gd name="csY3" fmla="*/ 14817 h 719667"/>
                <a:gd name="csX4" fmla="*/ 27517 w 842434"/>
                <a:gd name="csY4" fmla="*/ 0 h 719667"/>
              </a:gdLst>
              <a:ahLst/>
              <a:cxnLst>
                <a:cxn ang="0">
                  <a:pos x="csX0" y="csY0"/>
                </a:cxn>
                <a:cxn ang="0">
                  <a:pos x="csX1" y="csY1"/>
                </a:cxn>
                <a:cxn ang="0">
                  <a:pos x="csX2" y="csY2"/>
                </a:cxn>
                <a:cxn ang="0">
                  <a:pos x="csX3" y="csY3"/>
                </a:cxn>
                <a:cxn ang="0">
                  <a:pos x="csX4" y="csY4"/>
                </a:cxn>
              </a:cxnLst>
              <a:rect l="l" t="t" r="r" b="b"/>
              <a:pathLst>
                <a:path w="842434" h="719667">
                  <a:moveTo>
                    <a:pt x="27517" y="0"/>
                  </a:moveTo>
                  <a:lnTo>
                    <a:pt x="0" y="696384"/>
                  </a:lnTo>
                  <a:lnTo>
                    <a:pt x="823384" y="719667"/>
                  </a:lnTo>
                  <a:lnTo>
                    <a:pt x="842434" y="14817"/>
                  </a:lnTo>
                  <a:lnTo>
                    <a:pt x="27517" y="0"/>
                  </a:lnTo>
                  <a:close/>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orme libre : forme 16">
              <a:extLst>
                <a:ext uri="{FF2B5EF4-FFF2-40B4-BE49-F238E27FC236}">
                  <a16:creationId xmlns:a16="http://schemas.microsoft.com/office/drawing/2014/main" id="{B60BE62F-4DE1-0FB7-2C21-993A1A21F9FC}"/>
                </a:ext>
              </a:extLst>
            </p:cNvPr>
            <p:cNvSpPr/>
            <p:nvPr/>
          </p:nvSpPr>
          <p:spPr>
            <a:xfrm>
              <a:off x="3359150" y="2311400"/>
              <a:ext cx="758825" cy="688975"/>
            </a:xfrm>
            <a:custGeom>
              <a:avLst/>
              <a:gdLst>
                <a:gd name="csX0" fmla="*/ 0 w 758825"/>
                <a:gd name="csY0" fmla="*/ 1588 h 688975"/>
                <a:gd name="csX1" fmla="*/ 3175 w 758825"/>
                <a:gd name="csY1" fmla="*/ 676275 h 688975"/>
                <a:gd name="csX2" fmla="*/ 758825 w 758825"/>
                <a:gd name="csY2" fmla="*/ 688975 h 688975"/>
                <a:gd name="csX3" fmla="*/ 742950 w 758825"/>
                <a:gd name="csY3" fmla="*/ 0 h 688975"/>
                <a:gd name="csX4" fmla="*/ 0 w 758825"/>
                <a:gd name="csY4" fmla="*/ 1588 h 688975"/>
              </a:gdLst>
              <a:ahLst/>
              <a:cxnLst>
                <a:cxn ang="0">
                  <a:pos x="csX0" y="csY0"/>
                </a:cxn>
                <a:cxn ang="0">
                  <a:pos x="csX1" y="csY1"/>
                </a:cxn>
                <a:cxn ang="0">
                  <a:pos x="csX2" y="csY2"/>
                </a:cxn>
                <a:cxn ang="0">
                  <a:pos x="csX3" y="csY3"/>
                </a:cxn>
                <a:cxn ang="0">
                  <a:pos x="csX4" y="csY4"/>
                </a:cxn>
              </a:cxnLst>
              <a:rect l="l" t="t" r="r" b="b"/>
              <a:pathLst>
                <a:path w="758825" h="688975">
                  <a:moveTo>
                    <a:pt x="0" y="1588"/>
                  </a:moveTo>
                  <a:cubicBezTo>
                    <a:pt x="1058" y="226484"/>
                    <a:pt x="2117" y="451379"/>
                    <a:pt x="3175" y="676275"/>
                  </a:cubicBezTo>
                  <a:lnTo>
                    <a:pt x="758825" y="688975"/>
                  </a:lnTo>
                  <a:lnTo>
                    <a:pt x="742950" y="0"/>
                  </a:lnTo>
                  <a:lnTo>
                    <a:pt x="0" y="1588"/>
                  </a:lnTo>
                  <a:close/>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Forme libre : forme 21">
              <a:extLst>
                <a:ext uri="{FF2B5EF4-FFF2-40B4-BE49-F238E27FC236}">
                  <a16:creationId xmlns:a16="http://schemas.microsoft.com/office/drawing/2014/main" id="{894809CB-9BA8-92D2-33DD-9375DE990368}"/>
                </a:ext>
              </a:extLst>
            </p:cNvPr>
            <p:cNvSpPr/>
            <p:nvPr/>
          </p:nvSpPr>
          <p:spPr>
            <a:xfrm>
              <a:off x="2101850" y="2089150"/>
              <a:ext cx="1065213" cy="966788"/>
            </a:xfrm>
            <a:custGeom>
              <a:avLst/>
              <a:gdLst>
                <a:gd name="csX0" fmla="*/ 66675 w 1065213"/>
                <a:gd name="csY0" fmla="*/ 0 h 966788"/>
                <a:gd name="csX1" fmla="*/ 1065213 w 1065213"/>
                <a:gd name="csY1" fmla="*/ 42863 h 966788"/>
                <a:gd name="csX2" fmla="*/ 1022350 w 1065213"/>
                <a:gd name="csY2" fmla="*/ 966788 h 966788"/>
                <a:gd name="csX3" fmla="*/ 0 w 1065213"/>
                <a:gd name="csY3" fmla="*/ 917575 h 966788"/>
                <a:gd name="csX4" fmla="*/ 66675 w 1065213"/>
                <a:gd name="csY4" fmla="*/ 0 h 966788"/>
              </a:gdLst>
              <a:ahLst/>
              <a:cxnLst>
                <a:cxn ang="0">
                  <a:pos x="csX0" y="csY0"/>
                </a:cxn>
                <a:cxn ang="0">
                  <a:pos x="csX1" y="csY1"/>
                </a:cxn>
                <a:cxn ang="0">
                  <a:pos x="csX2" y="csY2"/>
                </a:cxn>
                <a:cxn ang="0">
                  <a:pos x="csX3" y="csY3"/>
                </a:cxn>
                <a:cxn ang="0">
                  <a:pos x="csX4" y="csY4"/>
                </a:cxn>
              </a:cxnLst>
              <a:rect l="l" t="t" r="r" b="b"/>
              <a:pathLst>
                <a:path w="1065213" h="966788">
                  <a:moveTo>
                    <a:pt x="66675" y="0"/>
                  </a:moveTo>
                  <a:lnTo>
                    <a:pt x="1065213" y="42863"/>
                  </a:lnTo>
                  <a:lnTo>
                    <a:pt x="1022350" y="966788"/>
                  </a:lnTo>
                  <a:lnTo>
                    <a:pt x="0" y="917575"/>
                  </a:lnTo>
                  <a:lnTo>
                    <a:pt x="66675" y="0"/>
                  </a:lnTo>
                  <a:close/>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a:extLst>
                <a:ext uri="{FF2B5EF4-FFF2-40B4-BE49-F238E27FC236}">
                  <a16:creationId xmlns:a16="http://schemas.microsoft.com/office/drawing/2014/main" id="{BBCED7F9-6D53-144C-AEF5-5AEA6279821F}"/>
                </a:ext>
              </a:extLst>
            </p:cNvPr>
            <p:cNvSpPr/>
            <p:nvPr/>
          </p:nvSpPr>
          <p:spPr>
            <a:xfrm>
              <a:off x="4943171" y="1204002"/>
              <a:ext cx="3042888" cy="104537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Aire du triangle</a:t>
              </a:r>
            </a:p>
            <a:p>
              <a:pPr algn="ctr"/>
              <a:r>
                <a:rPr lang="fr-FR" dirty="0"/>
                <a:t>    </a:t>
              </a:r>
              <a:r>
                <a:rPr lang="fr-FR" dirty="0">
                  <a:sym typeface="Wingdings" panose="05000000000000000000" pitchFamily="2" charset="2"/>
                </a:rPr>
                <a:t> </a:t>
              </a:r>
            </a:p>
            <a:p>
              <a:pPr algn="ctr"/>
              <a:r>
                <a:rPr lang="fr-FR" dirty="0">
                  <a:sym typeface="Wingdings" panose="05000000000000000000" pitchFamily="2" charset="2"/>
                </a:rPr>
                <a:t>Impact distorsion</a:t>
              </a:r>
              <a:r>
                <a:rPr lang="fr-FR" dirty="0"/>
                <a:t> </a:t>
              </a:r>
            </a:p>
          </p:txBody>
        </p:sp>
        <p:cxnSp>
          <p:nvCxnSpPr>
            <p:cNvPr id="28" name="Connecteur droit 27">
              <a:extLst>
                <a:ext uri="{FF2B5EF4-FFF2-40B4-BE49-F238E27FC236}">
                  <a16:creationId xmlns:a16="http://schemas.microsoft.com/office/drawing/2014/main" id="{5564C7D9-9043-8A97-05C5-DFBA1D47DC9B}"/>
                </a:ext>
              </a:extLst>
            </p:cNvPr>
            <p:cNvCxnSpPr>
              <a:cxnSpLocks/>
            </p:cNvCxnSpPr>
            <p:nvPr/>
          </p:nvCxnSpPr>
          <p:spPr>
            <a:xfrm>
              <a:off x="4117975" y="1354238"/>
              <a:ext cx="835699" cy="24880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1F46E1A9-61DB-9A84-1983-58202DEF0AE8}"/>
                </a:ext>
              </a:extLst>
            </p:cNvPr>
            <p:cNvCxnSpPr>
              <a:cxnSpLocks/>
            </p:cNvCxnSpPr>
            <p:nvPr/>
          </p:nvCxnSpPr>
          <p:spPr>
            <a:xfrm flipV="1">
              <a:off x="4117975" y="2097704"/>
              <a:ext cx="825196" cy="59341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C79CE037-62A1-828E-4448-A9912F997F02}"/>
                </a:ext>
              </a:extLst>
            </p:cNvPr>
            <p:cNvCxnSpPr>
              <a:cxnSpLocks/>
              <a:stCxn id="22" idx="1"/>
              <a:endCxn id="23" idx="1"/>
            </p:cNvCxnSpPr>
            <p:nvPr/>
          </p:nvCxnSpPr>
          <p:spPr>
            <a:xfrm flipV="1">
              <a:off x="3167063" y="1726690"/>
              <a:ext cx="1776108" cy="40532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7C2CB662-B31F-68E8-0DFE-6CD08B2D6EA6}"/>
                </a:ext>
              </a:extLst>
            </p:cNvPr>
            <p:cNvCxnSpPr>
              <a:cxnSpLocks/>
              <a:stCxn id="4" idx="3"/>
            </p:cNvCxnSpPr>
            <p:nvPr/>
          </p:nvCxnSpPr>
          <p:spPr>
            <a:xfrm>
              <a:off x="3194050" y="993775"/>
              <a:ext cx="1749121" cy="356753"/>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2" name="ZoneTexte 41">
            <a:extLst>
              <a:ext uri="{FF2B5EF4-FFF2-40B4-BE49-F238E27FC236}">
                <a16:creationId xmlns:a16="http://schemas.microsoft.com/office/drawing/2014/main" id="{15DE5995-4532-E4F8-A152-E513F94091D1}"/>
              </a:ext>
            </a:extLst>
          </p:cNvPr>
          <p:cNvSpPr txBox="1"/>
          <p:nvPr/>
        </p:nvSpPr>
        <p:spPr>
          <a:xfrm>
            <a:off x="2951956" y="2326203"/>
            <a:ext cx="3323089" cy="646331"/>
          </a:xfrm>
          <a:prstGeom prst="rect">
            <a:avLst/>
          </a:prstGeom>
          <a:noFill/>
        </p:spPr>
        <p:txBody>
          <a:bodyPr wrap="square" rtlCol="0">
            <a:spAutoFit/>
          </a:bodyPr>
          <a:lstStyle/>
          <a:p>
            <a:pPr algn="ctr"/>
            <a:r>
              <a:rPr lang="fr-FR" sz="1200" dirty="0" err="1"/>
              <a:t>Juyang</a:t>
            </a:r>
            <a:r>
              <a:rPr lang="fr-FR" sz="1200" dirty="0"/>
              <a:t> </a:t>
            </a:r>
            <a:r>
              <a:rPr lang="fr-FR" sz="1200" dirty="0" err="1"/>
              <a:t>Weng</a:t>
            </a:r>
            <a:r>
              <a:rPr lang="fr-FR" sz="1200" dirty="0"/>
              <a:t> and al., </a:t>
            </a:r>
          </a:p>
          <a:p>
            <a:pPr algn="ctr"/>
            <a:r>
              <a:rPr lang="fr-FR" sz="1200" dirty="0"/>
              <a:t>“</a:t>
            </a:r>
            <a:r>
              <a:rPr lang="fr-FR" sz="1200" i="1" dirty="0"/>
              <a:t>Camera Calibration </a:t>
            </a:r>
            <a:r>
              <a:rPr lang="fr-FR" sz="1200" i="1" dirty="0" err="1"/>
              <a:t>with</a:t>
            </a:r>
            <a:r>
              <a:rPr lang="fr-FR" sz="1200" i="1" dirty="0"/>
              <a:t> </a:t>
            </a:r>
            <a:r>
              <a:rPr lang="fr-FR" sz="1200" i="1" dirty="0" err="1"/>
              <a:t>Distortion</a:t>
            </a:r>
            <a:r>
              <a:rPr lang="fr-FR" sz="1200" i="1" dirty="0"/>
              <a:t> </a:t>
            </a:r>
            <a:r>
              <a:rPr lang="fr-FR" sz="1200" i="1" dirty="0" err="1"/>
              <a:t>Models</a:t>
            </a:r>
            <a:r>
              <a:rPr lang="fr-FR" sz="1200" i="1" dirty="0"/>
              <a:t> and </a:t>
            </a:r>
            <a:r>
              <a:rPr lang="fr-FR" sz="1200" i="1" dirty="0" err="1"/>
              <a:t>Accuracy</a:t>
            </a:r>
            <a:r>
              <a:rPr lang="fr-FR" sz="1200" i="1" dirty="0"/>
              <a:t> Evaluation</a:t>
            </a:r>
            <a:r>
              <a:rPr lang="fr-FR" sz="1200" dirty="0"/>
              <a:t>”.</a:t>
            </a:r>
          </a:p>
        </p:txBody>
      </p:sp>
      <p:sp>
        <p:nvSpPr>
          <p:cNvPr id="51" name="Flèche : bas 50">
            <a:extLst>
              <a:ext uri="{FF2B5EF4-FFF2-40B4-BE49-F238E27FC236}">
                <a16:creationId xmlns:a16="http://schemas.microsoft.com/office/drawing/2014/main" id="{542EEC63-3B93-3814-C394-F4140F89B226}"/>
              </a:ext>
            </a:extLst>
          </p:cNvPr>
          <p:cNvSpPr/>
          <p:nvPr/>
        </p:nvSpPr>
        <p:spPr>
          <a:xfrm>
            <a:off x="4489247" y="1713925"/>
            <a:ext cx="128691" cy="214651"/>
          </a:xfrm>
          <a:prstGeom prst="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3" name="Image 62">
            <a:extLst>
              <a:ext uri="{FF2B5EF4-FFF2-40B4-BE49-F238E27FC236}">
                <a16:creationId xmlns:a16="http://schemas.microsoft.com/office/drawing/2014/main" id="{E1A38617-A7C6-29AA-67B2-2C21172B63B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92427" y="1397444"/>
            <a:ext cx="307139" cy="307139"/>
          </a:xfrm>
          <a:prstGeom prst="rect">
            <a:avLst/>
          </a:prstGeom>
        </p:spPr>
      </p:pic>
      <p:pic>
        <p:nvPicPr>
          <p:cNvPr id="64" name="Image 63">
            <a:extLst>
              <a:ext uri="{FF2B5EF4-FFF2-40B4-BE49-F238E27FC236}">
                <a16:creationId xmlns:a16="http://schemas.microsoft.com/office/drawing/2014/main" id="{7B849948-77C6-F35C-C849-54191295CBD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0622" y="1973905"/>
            <a:ext cx="307139" cy="307139"/>
          </a:xfrm>
          <a:prstGeom prst="rect">
            <a:avLst/>
          </a:prstGeom>
        </p:spPr>
      </p:pic>
    </p:spTree>
    <p:extLst>
      <p:ext uri="{BB962C8B-B14F-4D97-AF65-F5344CB8AC3E}">
        <p14:creationId xmlns:p14="http://schemas.microsoft.com/office/powerpoint/2010/main" val="1099867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94237A44-F363-4C21-B7A7-879EBCCBC876}"/>
              </a:ext>
            </a:extLst>
          </p:cNvPr>
          <p:cNvSpPr>
            <a:spLocks noGrp="1"/>
          </p:cNvSpPr>
          <p:nvPr>
            <p:ph type="ftr" sz="quarter" idx="10"/>
          </p:nvPr>
        </p:nvSpPr>
        <p:spPr/>
        <p:txBody>
          <a:bodyPr/>
          <a:lstStyle/>
          <a:p>
            <a:r>
              <a:rPr lang="fr-FR" dirty="0"/>
              <a:t>26/02/2026 - Soutenance TN09 MoCapIA</a:t>
            </a:r>
          </a:p>
        </p:txBody>
      </p:sp>
      <p:sp>
        <p:nvSpPr>
          <p:cNvPr id="3" name="Espace réservé du numéro de diapositive 2">
            <a:extLst>
              <a:ext uri="{FF2B5EF4-FFF2-40B4-BE49-F238E27FC236}">
                <a16:creationId xmlns:a16="http://schemas.microsoft.com/office/drawing/2014/main" id="{78566E31-4A2E-4399-AC0A-D59ED6C3C964}"/>
              </a:ext>
            </a:extLst>
          </p:cNvPr>
          <p:cNvSpPr>
            <a:spLocks noGrp="1"/>
          </p:cNvSpPr>
          <p:nvPr>
            <p:ph type="sldNum" sz="quarter" idx="11"/>
          </p:nvPr>
        </p:nvSpPr>
        <p:spPr/>
        <p:txBody>
          <a:bodyPr/>
          <a:lstStyle/>
          <a:p>
            <a:fld id="{5FE832C7-580F-4527-9E2C-46AEE9BAF770}" type="slidenum">
              <a:rPr lang="fr-FR" smtClean="0"/>
              <a:t>5</a:t>
            </a:fld>
            <a:endParaRPr lang="fr-FR" dirty="0"/>
          </a:p>
        </p:txBody>
      </p:sp>
      <p:sp>
        <p:nvSpPr>
          <p:cNvPr id="5" name="ZoneTexte 4">
            <a:extLst>
              <a:ext uri="{FF2B5EF4-FFF2-40B4-BE49-F238E27FC236}">
                <a16:creationId xmlns:a16="http://schemas.microsoft.com/office/drawing/2014/main" id="{EDC21551-14E7-4C5C-B055-05DEC2015748}"/>
              </a:ext>
            </a:extLst>
          </p:cNvPr>
          <p:cNvSpPr txBox="1"/>
          <p:nvPr/>
        </p:nvSpPr>
        <p:spPr>
          <a:xfrm>
            <a:off x="2274356" y="0"/>
            <a:ext cx="6493935" cy="553998"/>
          </a:xfrm>
          <a:prstGeom prst="rect">
            <a:avLst/>
          </a:prstGeom>
          <a:noFill/>
        </p:spPr>
        <p:txBody>
          <a:bodyPr wrap="square" rtlCol="0">
            <a:spAutoFit/>
          </a:bodyPr>
          <a:lstStyle/>
          <a:p>
            <a:r>
              <a:rPr lang="fr-FR" sz="3000" dirty="0"/>
              <a:t>IV – Amélioration du modèle humain 3D</a:t>
            </a:r>
          </a:p>
        </p:txBody>
      </p:sp>
      <p:pic>
        <p:nvPicPr>
          <p:cNvPr id="7" name="Image 6">
            <a:extLst>
              <a:ext uri="{FF2B5EF4-FFF2-40B4-BE49-F238E27FC236}">
                <a16:creationId xmlns:a16="http://schemas.microsoft.com/office/drawing/2014/main" id="{4DA8057D-F486-47FB-89A1-869987AB12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5664" y="832148"/>
            <a:ext cx="1788476" cy="5461866"/>
          </a:xfrm>
          <a:prstGeom prst="rect">
            <a:avLst/>
          </a:prstGeom>
        </p:spPr>
      </p:pic>
      <p:pic>
        <p:nvPicPr>
          <p:cNvPr id="14" name="Image 13">
            <a:extLst>
              <a:ext uri="{FF2B5EF4-FFF2-40B4-BE49-F238E27FC236}">
                <a16:creationId xmlns:a16="http://schemas.microsoft.com/office/drawing/2014/main" id="{4FD59799-F362-4083-9092-04B927AB85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0800000" flipV="1">
            <a:off x="6442707" y="2784858"/>
            <a:ext cx="773150" cy="505067"/>
          </a:xfrm>
          <a:prstGeom prst="rect">
            <a:avLst/>
          </a:prstGeom>
        </p:spPr>
      </p:pic>
      <p:pic>
        <p:nvPicPr>
          <p:cNvPr id="16" name="Image 15">
            <a:extLst>
              <a:ext uri="{FF2B5EF4-FFF2-40B4-BE49-F238E27FC236}">
                <a16:creationId xmlns:a16="http://schemas.microsoft.com/office/drawing/2014/main" id="{14921251-4FA1-4BC4-8534-B71C926563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0187" y="542187"/>
            <a:ext cx="2042786" cy="2819774"/>
          </a:xfrm>
          <a:prstGeom prst="rect">
            <a:avLst/>
          </a:prstGeom>
          <a:ln w="19050">
            <a:solidFill>
              <a:srgbClr val="D100FF"/>
            </a:solidFill>
          </a:ln>
        </p:spPr>
      </p:pic>
      <p:pic>
        <p:nvPicPr>
          <p:cNvPr id="18" name="Image 17">
            <a:extLst>
              <a:ext uri="{FF2B5EF4-FFF2-40B4-BE49-F238E27FC236}">
                <a16:creationId xmlns:a16="http://schemas.microsoft.com/office/drawing/2014/main" id="{85A9A70A-C9D8-46AD-B954-A2901708C4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84014" y="542186"/>
            <a:ext cx="2337985" cy="2819774"/>
          </a:xfrm>
          <a:prstGeom prst="rect">
            <a:avLst/>
          </a:prstGeom>
          <a:ln w="19050">
            <a:solidFill>
              <a:srgbClr val="D100FF"/>
            </a:solidFill>
          </a:ln>
        </p:spPr>
      </p:pic>
      <p:sp>
        <p:nvSpPr>
          <p:cNvPr id="20" name="Flèche : droite à entaille 19">
            <a:extLst>
              <a:ext uri="{FF2B5EF4-FFF2-40B4-BE49-F238E27FC236}">
                <a16:creationId xmlns:a16="http://schemas.microsoft.com/office/drawing/2014/main" id="{5B3C00B7-DD5C-434B-AACA-36ED28D7D383}"/>
              </a:ext>
            </a:extLst>
          </p:cNvPr>
          <p:cNvSpPr/>
          <p:nvPr/>
        </p:nvSpPr>
        <p:spPr>
          <a:xfrm>
            <a:off x="9360215" y="1726477"/>
            <a:ext cx="752281" cy="365125"/>
          </a:xfrm>
          <a:prstGeom prst="notchedRightArrow">
            <a:avLst/>
          </a:prstGeom>
          <a:solidFill>
            <a:srgbClr val="D1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1" name="Image 20">
            <a:extLst>
              <a:ext uri="{FF2B5EF4-FFF2-40B4-BE49-F238E27FC236}">
                <a16:creationId xmlns:a16="http://schemas.microsoft.com/office/drawing/2014/main" id="{D32207D3-F9DF-445A-80BA-190E911D1A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6337657" y="5572430"/>
            <a:ext cx="596483" cy="505068"/>
          </a:xfrm>
          <a:prstGeom prst="rect">
            <a:avLst/>
          </a:prstGeom>
        </p:spPr>
      </p:pic>
      <p:pic>
        <p:nvPicPr>
          <p:cNvPr id="22" name="Image 21">
            <a:extLst>
              <a:ext uri="{FF2B5EF4-FFF2-40B4-BE49-F238E27FC236}">
                <a16:creationId xmlns:a16="http://schemas.microsoft.com/office/drawing/2014/main" id="{9273CAA1-2817-44F0-A605-90C6662F9D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flipH="1" flipV="1">
            <a:off x="4731148" y="2387689"/>
            <a:ext cx="735806" cy="695135"/>
          </a:xfrm>
          <a:prstGeom prst="rect">
            <a:avLst/>
          </a:prstGeom>
        </p:spPr>
      </p:pic>
      <p:pic>
        <p:nvPicPr>
          <p:cNvPr id="26" name="Image 25">
            <a:extLst>
              <a:ext uri="{FF2B5EF4-FFF2-40B4-BE49-F238E27FC236}">
                <a16:creationId xmlns:a16="http://schemas.microsoft.com/office/drawing/2014/main" id="{01792B2F-3FB4-4A97-B492-E8011CEAE9DB}"/>
              </a:ext>
            </a:extLst>
          </p:cNvPr>
          <p:cNvPicPr>
            <a:picLocks noChangeAspect="1"/>
          </p:cNvPicPr>
          <p:nvPr/>
        </p:nvPicPr>
        <p:blipFill rotWithShape="1">
          <a:blip r:embed="rId7">
            <a:extLst>
              <a:ext uri="{28A0092B-C50C-407E-A947-70E740481C1C}">
                <a14:useLocalDpi xmlns:a14="http://schemas.microsoft.com/office/drawing/2010/main" val="0"/>
              </a:ext>
            </a:extLst>
          </a:blip>
          <a:srcRect l="8793" t="3385" r="8222" b="3190"/>
          <a:stretch/>
        </p:blipFill>
        <p:spPr>
          <a:xfrm>
            <a:off x="6911975" y="3429000"/>
            <a:ext cx="5280025" cy="3247645"/>
          </a:xfrm>
          <a:prstGeom prst="rect">
            <a:avLst/>
          </a:prstGeom>
        </p:spPr>
      </p:pic>
      <p:pic>
        <p:nvPicPr>
          <p:cNvPr id="6" name="Image 5">
            <a:extLst>
              <a:ext uri="{FF2B5EF4-FFF2-40B4-BE49-F238E27FC236}">
                <a16:creationId xmlns:a16="http://schemas.microsoft.com/office/drawing/2014/main" id="{865D0F19-45ED-4B54-8103-CBFBCF5FBA1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286" y="3103160"/>
            <a:ext cx="5245712" cy="3145220"/>
          </a:xfrm>
          <a:prstGeom prst="rect">
            <a:avLst/>
          </a:prstGeom>
          <a:ln w="19050">
            <a:noFill/>
          </a:ln>
        </p:spPr>
      </p:pic>
      <p:sp>
        <p:nvSpPr>
          <p:cNvPr id="8" name="Rectangle : coins arrondis 7">
            <a:extLst>
              <a:ext uri="{FF2B5EF4-FFF2-40B4-BE49-F238E27FC236}">
                <a16:creationId xmlns:a16="http://schemas.microsoft.com/office/drawing/2014/main" id="{9E8BB2F5-146E-4464-9330-406C74450F2F}"/>
              </a:ext>
            </a:extLst>
          </p:cNvPr>
          <p:cNvSpPr/>
          <p:nvPr/>
        </p:nvSpPr>
        <p:spPr>
          <a:xfrm>
            <a:off x="186163" y="1038540"/>
            <a:ext cx="1285875" cy="521808"/>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Calibration</a:t>
            </a:r>
          </a:p>
        </p:txBody>
      </p:sp>
      <p:sp>
        <p:nvSpPr>
          <p:cNvPr id="19" name="Rectangle : coins arrondis 18">
            <a:extLst>
              <a:ext uri="{FF2B5EF4-FFF2-40B4-BE49-F238E27FC236}">
                <a16:creationId xmlns:a16="http://schemas.microsoft.com/office/drawing/2014/main" id="{3A9FAE88-2F16-4599-BA60-698277DF7803}"/>
              </a:ext>
            </a:extLst>
          </p:cNvPr>
          <p:cNvSpPr/>
          <p:nvPr/>
        </p:nvSpPr>
        <p:spPr>
          <a:xfrm>
            <a:off x="1044879" y="1737176"/>
            <a:ext cx="1471089" cy="521808"/>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Triangulation</a:t>
            </a:r>
          </a:p>
        </p:txBody>
      </p:sp>
      <p:sp>
        <p:nvSpPr>
          <p:cNvPr id="23" name="Signe Plus 22">
            <a:extLst>
              <a:ext uri="{FF2B5EF4-FFF2-40B4-BE49-F238E27FC236}">
                <a16:creationId xmlns:a16="http://schemas.microsoft.com/office/drawing/2014/main" id="{EA5C0FD5-E514-419F-B489-A5EBE5D22948}"/>
              </a:ext>
            </a:extLst>
          </p:cNvPr>
          <p:cNvSpPr/>
          <p:nvPr/>
        </p:nvSpPr>
        <p:spPr>
          <a:xfrm>
            <a:off x="1529618" y="1260550"/>
            <a:ext cx="485776" cy="439738"/>
          </a:xfrm>
          <a:prstGeom prst="mathPlus">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4" name="Rectangle : coins arrondis 23">
            <a:extLst>
              <a:ext uri="{FF2B5EF4-FFF2-40B4-BE49-F238E27FC236}">
                <a16:creationId xmlns:a16="http://schemas.microsoft.com/office/drawing/2014/main" id="{8E78853E-37ED-43FE-B5B8-C5A7856C01CB}"/>
              </a:ext>
            </a:extLst>
          </p:cNvPr>
          <p:cNvSpPr/>
          <p:nvPr/>
        </p:nvSpPr>
        <p:spPr>
          <a:xfrm>
            <a:off x="2070469" y="1042051"/>
            <a:ext cx="1471089" cy="521808"/>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Estimation 2D</a:t>
            </a:r>
          </a:p>
        </p:txBody>
      </p:sp>
      <p:sp>
        <p:nvSpPr>
          <p:cNvPr id="10" name="Rectangle : coins arrondis 9">
            <a:extLst>
              <a:ext uri="{FF2B5EF4-FFF2-40B4-BE49-F238E27FC236}">
                <a16:creationId xmlns:a16="http://schemas.microsoft.com/office/drawing/2014/main" id="{40B019CC-33A5-47E7-B110-7CB0BB676554}"/>
              </a:ext>
            </a:extLst>
          </p:cNvPr>
          <p:cNvSpPr/>
          <p:nvPr/>
        </p:nvSpPr>
        <p:spPr>
          <a:xfrm>
            <a:off x="118954" y="881442"/>
            <a:ext cx="3522902" cy="1482730"/>
          </a:xfrm>
          <a:prstGeom prst="roundRect">
            <a:avLst>
              <a:gd name="adj" fmla="val 4742"/>
            </a:avLst>
          </a:prstGeom>
          <a:noFill/>
          <a:ln w="28575">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3" name="Connecteur droit avec flèche 12">
            <a:extLst>
              <a:ext uri="{FF2B5EF4-FFF2-40B4-BE49-F238E27FC236}">
                <a16:creationId xmlns:a16="http://schemas.microsoft.com/office/drawing/2014/main" id="{96AFD9B6-4D08-4D1E-A154-06E223F153FC}"/>
              </a:ext>
            </a:extLst>
          </p:cNvPr>
          <p:cNvCxnSpPr>
            <a:cxnSpLocks/>
          </p:cNvCxnSpPr>
          <p:nvPr/>
        </p:nvCxnSpPr>
        <p:spPr>
          <a:xfrm flipV="1">
            <a:off x="3710268" y="1038540"/>
            <a:ext cx="1435396" cy="222010"/>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 coins arrondis 8">
            <a:extLst>
              <a:ext uri="{FF2B5EF4-FFF2-40B4-BE49-F238E27FC236}">
                <a16:creationId xmlns:a16="http://schemas.microsoft.com/office/drawing/2014/main" id="{B620AFB7-F20C-C724-EE7F-3B3D2562403C}"/>
              </a:ext>
            </a:extLst>
          </p:cNvPr>
          <p:cNvSpPr/>
          <p:nvPr/>
        </p:nvSpPr>
        <p:spPr>
          <a:xfrm>
            <a:off x="2547907" y="2127698"/>
            <a:ext cx="2084605" cy="365442"/>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700" dirty="0">
                <a:solidFill>
                  <a:schemeClr val="bg2">
                    <a:lumMod val="50000"/>
                  </a:schemeClr>
                </a:solidFill>
              </a:rPr>
              <a:t>erreurs &gt; </a:t>
            </a:r>
            <a:r>
              <a:rPr lang="fr-FR" sz="1700" dirty="0">
                <a:solidFill>
                  <a:srgbClr val="FF0000"/>
                </a:solidFill>
              </a:rPr>
              <a:t>50-100mm</a:t>
            </a:r>
          </a:p>
        </p:txBody>
      </p:sp>
    </p:spTree>
    <p:extLst>
      <p:ext uri="{BB962C8B-B14F-4D97-AF65-F5344CB8AC3E}">
        <p14:creationId xmlns:p14="http://schemas.microsoft.com/office/powerpoint/2010/main" val="4135225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 coins arrondis 31">
            <a:extLst>
              <a:ext uri="{FF2B5EF4-FFF2-40B4-BE49-F238E27FC236}">
                <a16:creationId xmlns:a16="http://schemas.microsoft.com/office/drawing/2014/main" id="{1739AFAE-4D02-4738-899F-54C7930C8603}"/>
              </a:ext>
            </a:extLst>
          </p:cNvPr>
          <p:cNvSpPr/>
          <p:nvPr/>
        </p:nvSpPr>
        <p:spPr>
          <a:xfrm>
            <a:off x="4038600" y="596900"/>
            <a:ext cx="7876110" cy="2247490"/>
          </a:xfrm>
          <a:prstGeom prst="roundRect">
            <a:avLst>
              <a:gd name="adj" fmla="val 7143"/>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u pied de page 1">
            <a:extLst>
              <a:ext uri="{FF2B5EF4-FFF2-40B4-BE49-F238E27FC236}">
                <a16:creationId xmlns:a16="http://schemas.microsoft.com/office/drawing/2014/main" id="{E31DA037-67C2-4F7E-B88F-D1828409CE84}"/>
              </a:ext>
            </a:extLst>
          </p:cNvPr>
          <p:cNvSpPr>
            <a:spLocks noGrp="1"/>
          </p:cNvSpPr>
          <p:nvPr>
            <p:ph type="ftr" sz="quarter" idx="10"/>
          </p:nvPr>
        </p:nvSpPr>
        <p:spPr/>
        <p:txBody>
          <a:bodyPr/>
          <a:lstStyle/>
          <a:p>
            <a:r>
              <a:rPr lang="fr-FR" dirty="0"/>
              <a:t>26/02/2026 - Soutenance TN09 MoCapIA</a:t>
            </a:r>
          </a:p>
        </p:txBody>
      </p:sp>
      <p:sp>
        <p:nvSpPr>
          <p:cNvPr id="3" name="Espace réservé du numéro de diapositive 2">
            <a:extLst>
              <a:ext uri="{FF2B5EF4-FFF2-40B4-BE49-F238E27FC236}">
                <a16:creationId xmlns:a16="http://schemas.microsoft.com/office/drawing/2014/main" id="{86EB7B20-B2A3-4B32-AD62-5164D835FB0B}"/>
              </a:ext>
            </a:extLst>
          </p:cNvPr>
          <p:cNvSpPr>
            <a:spLocks noGrp="1"/>
          </p:cNvSpPr>
          <p:nvPr>
            <p:ph type="sldNum" sz="quarter" idx="11"/>
          </p:nvPr>
        </p:nvSpPr>
        <p:spPr/>
        <p:txBody>
          <a:bodyPr/>
          <a:lstStyle/>
          <a:p>
            <a:fld id="{5FE832C7-580F-4527-9E2C-46AEE9BAF770}" type="slidenum">
              <a:rPr lang="fr-FR" smtClean="0"/>
              <a:t>6</a:t>
            </a:fld>
            <a:endParaRPr lang="fr-FR" dirty="0"/>
          </a:p>
        </p:txBody>
      </p:sp>
      <p:sp>
        <p:nvSpPr>
          <p:cNvPr id="5" name="ZoneTexte 4">
            <a:extLst>
              <a:ext uri="{FF2B5EF4-FFF2-40B4-BE49-F238E27FC236}">
                <a16:creationId xmlns:a16="http://schemas.microsoft.com/office/drawing/2014/main" id="{1083BD52-AAA2-438D-B720-F062F0B2A379}"/>
              </a:ext>
            </a:extLst>
          </p:cNvPr>
          <p:cNvSpPr txBox="1"/>
          <p:nvPr/>
        </p:nvSpPr>
        <p:spPr>
          <a:xfrm>
            <a:off x="2245782" y="0"/>
            <a:ext cx="6663268" cy="553998"/>
          </a:xfrm>
          <a:prstGeom prst="rect">
            <a:avLst/>
          </a:prstGeom>
          <a:noFill/>
        </p:spPr>
        <p:txBody>
          <a:bodyPr wrap="square" rtlCol="0">
            <a:spAutoFit/>
          </a:bodyPr>
          <a:lstStyle/>
          <a:p>
            <a:r>
              <a:rPr lang="fr-FR" sz="3000" dirty="0"/>
              <a:t>V – Recherche complémentaire SAM3D</a:t>
            </a:r>
          </a:p>
        </p:txBody>
      </p:sp>
      <p:pic>
        <p:nvPicPr>
          <p:cNvPr id="7" name="Image 6">
            <a:extLst>
              <a:ext uri="{FF2B5EF4-FFF2-40B4-BE49-F238E27FC236}">
                <a16:creationId xmlns:a16="http://schemas.microsoft.com/office/drawing/2014/main" id="{DEA7C346-857B-4BEA-9FB3-082C4D3FF1C6}"/>
              </a:ext>
            </a:extLst>
          </p:cNvPr>
          <p:cNvPicPr>
            <a:picLocks noChangeAspect="1"/>
          </p:cNvPicPr>
          <p:nvPr/>
        </p:nvPicPr>
        <p:blipFill rotWithShape="1">
          <a:blip r:embed="rId3">
            <a:extLst>
              <a:ext uri="{28A0092B-C50C-407E-A947-70E740481C1C}">
                <a14:useLocalDpi xmlns:a14="http://schemas.microsoft.com/office/drawing/2010/main" val="0"/>
              </a:ext>
            </a:extLst>
          </a:blip>
          <a:srcRect l="7381" t="-555" r="80356"/>
          <a:stretch/>
        </p:blipFill>
        <p:spPr>
          <a:xfrm>
            <a:off x="4265770" y="734556"/>
            <a:ext cx="1694087" cy="1953467"/>
          </a:xfrm>
          <a:prstGeom prst="roundRect">
            <a:avLst/>
          </a:prstGeom>
        </p:spPr>
      </p:pic>
      <p:pic>
        <p:nvPicPr>
          <p:cNvPr id="9" name="Image 8">
            <a:extLst>
              <a:ext uri="{FF2B5EF4-FFF2-40B4-BE49-F238E27FC236}">
                <a16:creationId xmlns:a16="http://schemas.microsoft.com/office/drawing/2014/main" id="{EDCA05A1-D874-4DBE-89E4-E23175C4304B}"/>
              </a:ext>
            </a:extLst>
          </p:cNvPr>
          <p:cNvPicPr>
            <a:picLocks noChangeAspect="1"/>
          </p:cNvPicPr>
          <p:nvPr/>
        </p:nvPicPr>
        <p:blipFill rotWithShape="1">
          <a:blip r:embed="rId4">
            <a:extLst>
              <a:ext uri="{28A0092B-C50C-407E-A947-70E740481C1C}">
                <a14:useLocalDpi xmlns:a14="http://schemas.microsoft.com/office/drawing/2010/main" val="0"/>
              </a:ext>
            </a:extLst>
          </a:blip>
          <a:srcRect l="31637" r="56342"/>
          <a:stretch/>
        </p:blipFill>
        <p:spPr>
          <a:xfrm>
            <a:off x="6187027" y="720426"/>
            <a:ext cx="1694086" cy="1981725"/>
          </a:xfrm>
          <a:prstGeom prst="roundRect">
            <a:avLst/>
          </a:prstGeom>
        </p:spPr>
      </p:pic>
      <p:pic>
        <p:nvPicPr>
          <p:cNvPr id="11" name="Image 10">
            <a:extLst>
              <a:ext uri="{FF2B5EF4-FFF2-40B4-BE49-F238E27FC236}">
                <a16:creationId xmlns:a16="http://schemas.microsoft.com/office/drawing/2014/main" id="{825DEC13-0FFE-4C96-9A48-619FAC135F4B}"/>
              </a:ext>
            </a:extLst>
          </p:cNvPr>
          <p:cNvPicPr>
            <a:picLocks noChangeAspect="1"/>
          </p:cNvPicPr>
          <p:nvPr/>
        </p:nvPicPr>
        <p:blipFill rotWithShape="1">
          <a:blip r:embed="rId5">
            <a:extLst>
              <a:ext uri="{28A0092B-C50C-407E-A947-70E740481C1C}">
                <a14:useLocalDpi xmlns:a14="http://schemas.microsoft.com/office/drawing/2010/main" val="0"/>
              </a:ext>
            </a:extLst>
          </a:blip>
          <a:srcRect l="57188" r="31328"/>
          <a:stretch/>
        </p:blipFill>
        <p:spPr>
          <a:xfrm>
            <a:off x="8108282" y="734556"/>
            <a:ext cx="1603617" cy="1963611"/>
          </a:xfrm>
          <a:prstGeom prst="roundRect">
            <a:avLst/>
          </a:prstGeom>
        </p:spPr>
      </p:pic>
      <p:pic>
        <p:nvPicPr>
          <p:cNvPr id="13" name="Image 12">
            <a:extLst>
              <a:ext uri="{FF2B5EF4-FFF2-40B4-BE49-F238E27FC236}">
                <a16:creationId xmlns:a16="http://schemas.microsoft.com/office/drawing/2014/main" id="{91068415-0376-4293-B242-D0FBC5FFAF94}"/>
              </a:ext>
            </a:extLst>
          </p:cNvPr>
          <p:cNvPicPr>
            <a:picLocks noChangeAspect="1"/>
          </p:cNvPicPr>
          <p:nvPr/>
        </p:nvPicPr>
        <p:blipFill rotWithShape="1">
          <a:blip r:embed="rId3">
            <a:extLst>
              <a:ext uri="{28A0092B-C50C-407E-A947-70E740481C1C}">
                <a14:useLocalDpi xmlns:a14="http://schemas.microsoft.com/office/drawing/2010/main" val="0"/>
              </a:ext>
            </a:extLst>
          </a:blip>
          <a:srcRect l="80312" r="7187"/>
          <a:stretch/>
        </p:blipFill>
        <p:spPr>
          <a:xfrm>
            <a:off x="9939067" y="735730"/>
            <a:ext cx="1752871" cy="1971980"/>
          </a:xfrm>
          <a:prstGeom prst="roundRect">
            <a:avLst/>
          </a:prstGeom>
          <a:ln>
            <a:solidFill>
              <a:schemeClr val="bg2">
                <a:lumMod val="25000"/>
              </a:schemeClr>
            </a:solidFill>
          </a:ln>
        </p:spPr>
      </p:pic>
      <p:sp>
        <p:nvSpPr>
          <p:cNvPr id="14" name="Flèche : droite à entaille 13">
            <a:extLst>
              <a:ext uri="{FF2B5EF4-FFF2-40B4-BE49-F238E27FC236}">
                <a16:creationId xmlns:a16="http://schemas.microsoft.com/office/drawing/2014/main" id="{8291FCD9-0A22-4D03-AA6B-83B1D94C67D3}"/>
              </a:ext>
            </a:extLst>
          </p:cNvPr>
          <p:cNvSpPr/>
          <p:nvPr/>
        </p:nvSpPr>
        <p:spPr>
          <a:xfrm>
            <a:off x="5869706" y="1563492"/>
            <a:ext cx="446805" cy="365125"/>
          </a:xfrm>
          <a:prstGeom prst="notchedRightArrow">
            <a:avLst/>
          </a:prstGeom>
          <a:solidFill>
            <a:srgbClr val="D1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Flèche : droite à entaille 15">
            <a:extLst>
              <a:ext uri="{FF2B5EF4-FFF2-40B4-BE49-F238E27FC236}">
                <a16:creationId xmlns:a16="http://schemas.microsoft.com/office/drawing/2014/main" id="{F8826367-30AB-4CA2-8AB5-F12A5838F95B}"/>
              </a:ext>
            </a:extLst>
          </p:cNvPr>
          <p:cNvSpPr/>
          <p:nvPr/>
        </p:nvSpPr>
        <p:spPr>
          <a:xfrm>
            <a:off x="9626761" y="1563491"/>
            <a:ext cx="446805" cy="365125"/>
          </a:xfrm>
          <a:prstGeom prst="notchedRightArrow">
            <a:avLst/>
          </a:prstGeom>
          <a:solidFill>
            <a:srgbClr val="D1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38" name="Groupe 37">
            <a:extLst>
              <a:ext uri="{FF2B5EF4-FFF2-40B4-BE49-F238E27FC236}">
                <a16:creationId xmlns:a16="http://schemas.microsoft.com/office/drawing/2014/main" id="{8DC084AA-687E-4096-B0E2-DAE1B8332FD1}"/>
              </a:ext>
            </a:extLst>
          </p:cNvPr>
          <p:cNvGrpSpPr/>
          <p:nvPr/>
        </p:nvGrpSpPr>
        <p:grpSpPr>
          <a:xfrm>
            <a:off x="394008" y="1371359"/>
            <a:ext cx="3400425" cy="1790699"/>
            <a:chOff x="333375" y="4914899"/>
            <a:chExt cx="3400425" cy="1790699"/>
          </a:xfrm>
        </p:grpSpPr>
        <p:sp>
          <p:nvSpPr>
            <p:cNvPr id="24" name="Rectangle : coins arrondis 23">
              <a:extLst>
                <a:ext uri="{FF2B5EF4-FFF2-40B4-BE49-F238E27FC236}">
                  <a16:creationId xmlns:a16="http://schemas.microsoft.com/office/drawing/2014/main" id="{345D2FD8-4CA3-4C5F-AE15-8EA7862DE605}"/>
                </a:ext>
              </a:extLst>
            </p:cNvPr>
            <p:cNvSpPr/>
            <p:nvPr/>
          </p:nvSpPr>
          <p:spPr>
            <a:xfrm>
              <a:off x="333375" y="4914899"/>
              <a:ext cx="3400425" cy="1790699"/>
            </a:xfrm>
            <a:prstGeom prst="roundRect">
              <a:avLst>
                <a:gd name="adj" fmla="val 10535"/>
              </a:avLst>
            </a:prstGeom>
            <a:solidFill>
              <a:schemeClr val="accent6">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u="sng" dirty="0">
                  <a:solidFill>
                    <a:schemeClr val="accent6">
                      <a:lumMod val="50000"/>
                    </a:schemeClr>
                  </a:solidFill>
                </a:rPr>
                <a:t>Avantages</a:t>
              </a:r>
            </a:p>
          </p:txBody>
        </p:sp>
        <p:sp>
          <p:nvSpPr>
            <p:cNvPr id="25" name="Rectangle : coins arrondis 24">
              <a:extLst>
                <a:ext uri="{FF2B5EF4-FFF2-40B4-BE49-F238E27FC236}">
                  <a16:creationId xmlns:a16="http://schemas.microsoft.com/office/drawing/2014/main" id="{17D956A4-2609-4CE1-B28F-31E9FA0A7351}"/>
                </a:ext>
              </a:extLst>
            </p:cNvPr>
            <p:cNvSpPr/>
            <p:nvPr/>
          </p:nvSpPr>
          <p:spPr>
            <a:xfrm>
              <a:off x="502663" y="5543398"/>
              <a:ext cx="1735585" cy="1046124"/>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Une seule caméra nécessaire</a:t>
              </a:r>
            </a:p>
          </p:txBody>
        </p:sp>
        <p:sp>
          <p:nvSpPr>
            <p:cNvPr id="26" name="Rectangle : coins arrondis 25">
              <a:extLst>
                <a:ext uri="{FF2B5EF4-FFF2-40B4-BE49-F238E27FC236}">
                  <a16:creationId xmlns:a16="http://schemas.microsoft.com/office/drawing/2014/main" id="{095DE11E-F1D4-4B2D-8793-B6D79E680258}"/>
                </a:ext>
              </a:extLst>
            </p:cNvPr>
            <p:cNvSpPr/>
            <p:nvPr/>
          </p:nvSpPr>
          <p:spPr>
            <a:xfrm>
              <a:off x="2318636" y="5674124"/>
              <a:ext cx="1275121" cy="779558"/>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Pas de calibration</a:t>
              </a:r>
            </a:p>
          </p:txBody>
        </p:sp>
      </p:grpSp>
      <p:grpSp>
        <p:nvGrpSpPr>
          <p:cNvPr id="37" name="Groupe 36">
            <a:extLst>
              <a:ext uri="{FF2B5EF4-FFF2-40B4-BE49-F238E27FC236}">
                <a16:creationId xmlns:a16="http://schemas.microsoft.com/office/drawing/2014/main" id="{150EF8BC-9266-4734-8DD1-93205A996DCB}"/>
              </a:ext>
            </a:extLst>
          </p:cNvPr>
          <p:cNvGrpSpPr/>
          <p:nvPr/>
        </p:nvGrpSpPr>
        <p:grpSpPr>
          <a:xfrm>
            <a:off x="394008" y="3478749"/>
            <a:ext cx="3400425" cy="2603501"/>
            <a:chOff x="7867651" y="4013199"/>
            <a:chExt cx="3400425" cy="2603501"/>
          </a:xfrm>
        </p:grpSpPr>
        <p:sp>
          <p:nvSpPr>
            <p:cNvPr id="27" name="Rectangle : coins arrondis 26">
              <a:extLst>
                <a:ext uri="{FF2B5EF4-FFF2-40B4-BE49-F238E27FC236}">
                  <a16:creationId xmlns:a16="http://schemas.microsoft.com/office/drawing/2014/main" id="{1995DB30-E8CA-47CB-AA51-2C6A67D87166}"/>
                </a:ext>
              </a:extLst>
            </p:cNvPr>
            <p:cNvSpPr/>
            <p:nvPr/>
          </p:nvSpPr>
          <p:spPr>
            <a:xfrm>
              <a:off x="7867651" y="4013199"/>
              <a:ext cx="3400425" cy="2603501"/>
            </a:xfrm>
            <a:prstGeom prst="roundRect">
              <a:avLst>
                <a:gd name="adj" fmla="val 8374"/>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u="sng" dirty="0">
                  <a:solidFill>
                    <a:srgbClr val="C00000"/>
                  </a:solidFill>
                </a:rPr>
                <a:t>Inconvénients</a:t>
              </a:r>
            </a:p>
          </p:txBody>
        </p:sp>
        <p:sp>
          <p:nvSpPr>
            <p:cNvPr id="28" name="Rectangle : coins arrondis 27">
              <a:extLst>
                <a:ext uri="{FF2B5EF4-FFF2-40B4-BE49-F238E27FC236}">
                  <a16:creationId xmlns:a16="http://schemas.microsoft.com/office/drawing/2014/main" id="{41F9D2F9-C211-4E04-AADD-2DB9DBC302E8}"/>
                </a:ext>
              </a:extLst>
            </p:cNvPr>
            <p:cNvSpPr/>
            <p:nvPr/>
          </p:nvSpPr>
          <p:spPr>
            <a:xfrm>
              <a:off x="8045107" y="4736483"/>
              <a:ext cx="1595436" cy="599319"/>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 Boîte noire »</a:t>
              </a:r>
            </a:p>
          </p:txBody>
        </p:sp>
        <p:sp>
          <p:nvSpPr>
            <p:cNvPr id="30" name="Rectangle : coins arrondis 29">
              <a:extLst>
                <a:ext uri="{FF2B5EF4-FFF2-40B4-BE49-F238E27FC236}">
                  <a16:creationId xmlns:a16="http://schemas.microsoft.com/office/drawing/2014/main" id="{9DA51A9F-AD4A-4A09-9394-DECB13ECFCCA}"/>
                </a:ext>
              </a:extLst>
            </p:cNvPr>
            <p:cNvSpPr/>
            <p:nvPr/>
          </p:nvSpPr>
          <p:spPr>
            <a:xfrm>
              <a:off x="9817999" y="4654354"/>
              <a:ext cx="1246188" cy="75005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Problème d’échelle</a:t>
              </a:r>
            </a:p>
          </p:txBody>
        </p:sp>
        <p:sp>
          <p:nvSpPr>
            <p:cNvPr id="31" name="Rectangle : coins arrondis 30">
              <a:extLst>
                <a:ext uri="{FF2B5EF4-FFF2-40B4-BE49-F238E27FC236}">
                  <a16:creationId xmlns:a16="http://schemas.microsoft.com/office/drawing/2014/main" id="{F57A1400-B19C-4332-81D3-C6D40702D2AD}"/>
                </a:ext>
              </a:extLst>
            </p:cNvPr>
            <p:cNvSpPr/>
            <p:nvPr/>
          </p:nvSpPr>
          <p:spPr>
            <a:xfrm>
              <a:off x="8369983" y="5479159"/>
              <a:ext cx="2621183" cy="984659"/>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Pas adapté aux vidéos </a:t>
              </a:r>
              <a:r>
                <a:rPr lang="fr-FR" dirty="0">
                  <a:solidFill>
                    <a:schemeClr val="bg1"/>
                  </a:solidFill>
                  <a:sym typeface="Wingdings" panose="05000000000000000000" pitchFamily="2" charset="2"/>
                </a:rPr>
                <a:t> problème de référentiel</a:t>
              </a:r>
              <a:endParaRPr lang="fr-FR" dirty="0">
                <a:solidFill>
                  <a:schemeClr val="bg1"/>
                </a:solidFill>
              </a:endParaRPr>
            </a:p>
          </p:txBody>
        </p:sp>
      </p:grpSp>
      <p:sp>
        <p:nvSpPr>
          <p:cNvPr id="39" name="Flèche : droite à entaille 38">
            <a:extLst>
              <a:ext uri="{FF2B5EF4-FFF2-40B4-BE49-F238E27FC236}">
                <a16:creationId xmlns:a16="http://schemas.microsoft.com/office/drawing/2014/main" id="{F9F3F1FD-8212-4AC8-A7D2-8B68117F38FE}"/>
              </a:ext>
            </a:extLst>
          </p:cNvPr>
          <p:cNvSpPr/>
          <p:nvPr/>
        </p:nvSpPr>
        <p:spPr>
          <a:xfrm>
            <a:off x="7795193" y="1563491"/>
            <a:ext cx="446805" cy="365125"/>
          </a:xfrm>
          <a:prstGeom prst="notchedRightArrow">
            <a:avLst/>
          </a:prstGeom>
          <a:solidFill>
            <a:srgbClr val="D1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ZoneTexte 7">
            <a:extLst>
              <a:ext uri="{FF2B5EF4-FFF2-40B4-BE49-F238E27FC236}">
                <a16:creationId xmlns:a16="http://schemas.microsoft.com/office/drawing/2014/main" id="{D7C94675-41E8-4DCB-9B9A-9F6F6EFC7614}"/>
              </a:ext>
            </a:extLst>
          </p:cNvPr>
          <p:cNvSpPr txBox="1"/>
          <p:nvPr/>
        </p:nvSpPr>
        <p:spPr>
          <a:xfrm>
            <a:off x="9699360" y="5841154"/>
            <a:ext cx="693420" cy="246221"/>
          </a:xfrm>
          <a:prstGeom prst="rect">
            <a:avLst/>
          </a:prstGeom>
          <a:noFill/>
        </p:spPr>
        <p:txBody>
          <a:bodyPr wrap="square" rtlCol="0">
            <a:spAutoFit/>
          </a:bodyPr>
          <a:lstStyle/>
          <a:p>
            <a:r>
              <a:rPr lang="fr-FR" sz="1000" dirty="0"/>
              <a:t>3,8</a:t>
            </a:r>
          </a:p>
        </p:txBody>
      </p:sp>
      <p:pic>
        <p:nvPicPr>
          <p:cNvPr id="21" name="Image 20">
            <a:extLst>
              <a:ext uri="{FF2B5EF4-FFF2-40B4-BE49-F238E27FC236}">
                <a16:creationId xmlns:a16="http://schemas.microsoft.com/office/drawing/2014/main" id="{ED26662B-5C34-A1E6-5942-F211123B38DB}"/>
              </a:ext>
            </a:extLst>
          </p:cNvPr>
          <p:cNvPicPr>
            <a:picLocks noChangeAspect="1"/>
          </p:cNvPicPr>
          <p:nvPr/>
        </p:nvPicPr>
        <p:blipFill>
          <a:blip r:embed="rId6">
            <a:extLst>
              <a:ext uri="{28A0092B-C50C-407E-A947-70E740481C1C}">
                <a14:useLocalDpi xmlns:a14="http://schemas.microsoft.com/office/drawing/2010/main" val="0"/>
              </a:ext>
            </a:extLst>
          </a:blip>
          <a:srcRect l="7586" t="2147" r="6824" b="1641"/>
          <a:stretch>
            <a:fillRect/>
          </a:stretch>
        </p:blipFill>
        <p:spPr>
          <a:xfrm>
            <a:off x="5105399" y="2887292"/>
            <a:ext cx="6117799" cy="3786416"/>
          </a:xfrm>
          <a:prstGeom prst="rect">
            <a:avLst/>
          </a:prstGeom>
        </p:spPr>
      </p:pic>
    </p:spTree>
    <p:extLst>
      <p:ext uri="{BB962C8B-B14F-4D97-AF65-F5344CB8AC3E}">
        <p14:creationId xmlns:p14="http://schemas.microsoft.com/office/powerpoint/2010/main" val="723427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FF76C0BD-BAE4-4D28-9A72-444E8BC749D9}"/>
              </a:ext>
            </a:extLst>
          </p:cNvPr>
          <p:cNvSpPr>
            <a:spLocks noGrp="1"/>
          </p:cNvSpPr>
          <p:nvPr>
            <p:ph type="ftr" sz="quarter" idx="10"/>
          </p:nvPr>
        </p:nvSpPr>
        <p:spPr/>
        <p:txBody>
          <a:bodyPr/>
          <a:lstStyle/>
          <a:p>
            <a:r>
              <a:rPr lang="fr-FR" dirty="0"/>
              <a:t>26/02/2026 - Soutenance TN09 MoCapIA</a:t>
            </a:r>
          </a:p>
        </p:txBody>
      </p:sp>
      <p:sp>
        <p:nvSpPr>
          <p:cNvPr id="3" name="Espace réservé du numéro de diapositive 2">
            <a:extLst>
              <a:ext uri="{FF2B5EF4-FFF2-40B4-BE49-F238E27FC236}">
                <a16:creationId xmlns:a16="http://schemas.microsoft.com/office/drawing/2014/main" id="{3E35EEEF-899F-4A70-A225-7B86CFEAA04A}"/>
              </a:ext>
            </a:extLst>
          </p:cNvPr>
          <p:cNvSpPr>
            <a:spLocks noGrp="1"/>
          </p:cNvSpPr>
          <p:nvPr>
            <p:ph type="sldNum" sz="quarter" idx="11"/>
          </p:nvPr>
        </p:nvSpPr>
        <p:spPr/>
        <p:txBody>
          <a:bodyPr/>
          <a:lstStyle/>
          <a:p>
            <a:fld id="{5FE832C7-580F-4527-9E2C-46AEE9BAF770}" type="slidenum">
              <a:rPr lang="fr-FR" smtClean="0"/>
              <a:t>7</a:t>
            </a:fld>
            <a:endParaRPr lang="fr-FR" dirty="0"/>
          </a:p>
        </p:txBody>
      </p:sp>
      <p:sp>
        <p:nvSpPr>
          <p:cNvPr id="5" name="ZoneTexte 4">
            <a:extLst>
              <a:ext uri="{FF2B5EF4-FFF2-40B4-BE49-F238E27FC236}">
                <a16:creationId xmlns:a16="http://schemas.microsoft.com/office/drawing/2014/main" id="{A239D1C2-F8C7-475A-A65B-54449AB809B0}"/>
              </a:ext>
            </a:extLst>
          </p:cNvPr>
          <p:cNvSpPr txBox="1"/>
          <p:nvPr/>
        </p:nvSpPr>
        <p:spPr>
          <a:xfrm>
            <a:off x="2474382" y="-4581"/>
            <a:ext cx="6036734" cy="553998"/>
          </a:xfrm>
          <a:prstGeom prst="rect">
            <a:avLst/>
          </a:prstGeom>
          <a:noFill/>
        </p:spPr>
        <p:txBody>
          <a:bodyPr wrap="square" rtlCol="0">
            <a:spAutoFit/>
          </a:bodyPr>
          <a:lstStyle/>
          <a:p>
            <a:r>
              <a:rPr lang="fr-FR" sz="3000" dirty="0"/>
              <a:t>VI – Conclusion</a:t>
            </a:r>
          </a:p>
        </p:txBody>
      </p:sp>
      <p:sp>
        <p:nvSpPr>
          <p:cNvPr id="6" name="Rectangle 5">
            <a:extLst>
              <a:ext uri="{FF2B5EF4-FFF2-40B4-BE49-F238E27FC236}">
                <a16:creationId xmlns:a16="http://schemas.microsoft.com/office/drawing/2014/main" id="{EC179F90-24AA-47EF-B6D6-3E1A02BFD7FC}"/>
              </a:ext>
            </a:extLst>
          </p:cNvPr>
          <p:cNvSpPr/>
          <p:nvPr/>
        </p:nvSpPr>
        <p:spPr>
          <a:xfrm>
            <a:off x="304799" y="831274"/>
            <a:ext cx="5624945" cy="5775901"/>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u="sng" dirty="0">
                <a:solidFill>
                  <a:schemeClr val="bg2">
                    <a:lumMod val="25000"/>
                  </a:schemeClr>
                </a:solidFill>
              </a:rPr>
              <a:t>Analyse des résultats</a:t>
            </a:r>
          </a:p>
          <a:p>
            <a:pPr algn="ctr"/>
            <a:endParaRPr lang="fr-FR" sz="2400" u="sng" dirty="0">
              <a:solidFill>
                <a:schemeClr val="bg2">
                  <a:lumMod val="25000"/>
                </a:schemeClr>
              </a:solidFill>
            </a:endParaRPr>
          </a:p>
          <a:p>
            <a:pPr algn="ctr"/>
            <a:endParaRPr lang="fr-FR" sz="2400" u="sng" dirty="0">
              <a:solidFill>
                <a:schemeClr val="bg2">
                  <a:lumMod val="25000"/>
                </a:schemeClr>
              </a:solidFill>
            </a:endParaRPr>
          </a:p>
          <a:p>
            <a:pPr algn="ctr"/>
            <a:endParaRPr lang="fr-FR" sz="2400" u="sng" dirty="0">
              <a:solidFill>
                <a:schemeClr val="bg2">
                  <a:lumMod val="25000"/>
                </a:schemeClr>
              </a:solidFill>
            </a:endParaRPr>
          </a:p>
          <a:p>
            <a:pPr algn="ctr"/>
            <a:endParaRPr lang="fr-FR" sz="2400" u="sng" dirty="0">
              <a:solidFill>
                <a:schemeClr val="bg2">
                  <a:lumMod val="25000"/>
                </a:schemeClr>
              </a:solidFill>
            </a:endParaRPr>
          </a:p>
          <a:p>
            <a:pPr algn="ctr"/>
            <a:endParaRPr lang="fr-FR" sz="2400" u="sng" dirty="0">
              <a:solidFill>
                <a:schemeClr val="bg2">
                  <a:lumMod val="25000"/>
                </a:schemeClr>
              </a:solidFill>
            </a:endParaRPr>
          </a:p>
          <a:p>
            <a:pPr algn="ctr"/>
            <a:endParaRPr lang="fr-FR" sz="2400" u="sng" dirty="0">
              <a:solidFill>
                <a:schemeClr val="bg2">
                  <a:lumMod val="25000"/>
                </a:schemeClr>
              </a:solidFill>
            </a:endParaRPr>
          </a:p>
          <a:p>
            <a:pPr algn="ctr"/>
            <a:endParaRPr lang="fr-FR" sz="2400" u="sng" dirty="0">
              <a:solidFill>
                <a:schemeClr val="bg2">
                  <a:lumMod val="25000"/>
                </a:schemeClr>
              </a:solidFill>
            </a:endParaRPr>
          </a:p>
          <a:p>
            <a:pPr algn="ctr"/>
            <a:endParaRPr lang="fr-FR" sz="2400" u="sng" dirty="0">
              <a:solidFill>
                <a:schemeClr val="bg2">
                  <a:lumMod val="25000"/>
                </a:schemeClr>
              </a:solidFill>
            </a:endParaRPr>
          </a:p>
          <a:p>
            <a:pPr algn="ctr"/>
            <a:endParaRPr lang="fr-FR" sz="2400" u="sng" dirty="0">
              <a:solidFill>
                <a:schemeClr val="bg2">
                  <a:lumMod val="25000"/>
                </a:schemeClr>
              </a:solidFill>
            </a:endParaRPr>
          </a:p>
          <a:p>
            <a:pPr algn="ctr"/>
            <a:endParaRPr lang="fr-FR" sz="2400" u="sng" dirty="0">
              <a:solidFill>
                <a:schemeClr val="bg2">
                  <a:lumMod val="25000"/>
                </a:schemeClr>
              </a:solidFill>
            </a:endParaRPr>
          </a:p>
          <a:p>
            <a:pPr algn="ctr"/>
            <a:endParaRPr lang="fr-FR" sz="2400" u="sng" dirty="0">
              <a:solidFill>
                <a:schemeClr val="bg2">
                  <a:lumMod val="25000"/>
                </a:schemeClr>
              </a:solidFill>
            </a:endParaRPr>
          </a:p>
          <a:p>
            <a:pPr algn="ctr"/>
            <a:r>
              <a:rPr lang="fr-FR" sz="2400" u="sng" dirty="0">
                <a:solidFill>
                  <a:schemeClr val="bg2">
                    <a:lumMod val="25000"/>
                  </a:schemeClr>
                </a:solidFill>
              </a:rPr>
              <a:t>Critiques/Perspectives</a:t>
            </a:r>
          </a:p>
          <a:p>
            <a:pPr algn="ctr"/>
            <a:endParaRPr lang="fr-FR" sz="2400" u="sng" dirty="0">
              <a:solidFill>
                <a:schemeClr val="bg2">
                  <a:lumMod val="25000"/>
                </a:schemeClr>
              </a:solidFill>
            </a:endParaRPr>
          </a:p>
        </p:txBody>
      </p:sp>
      <p:sp>
        <p:nvSpPr>
          <p:cNvPr id="7" name="Rectangle 6">
            <a:extLst>
              <a:ext uri="{FF2B5EF4-FFF2-40B4-BE49-F238E27FC236}">
                <a16:creationId xmlns:a16="http://schemas.microsoft.com/office/drawing/2014/main" id="{A4C68DA8-D710-4405-85A1-F14BEE4184A0}"/>
              </a:ext>
            </a:extLst>
          </p:cNvPr>
          <p:cNvSpPr/>
          <p:nvPr/>
        </p:nvSpPr>
        <p:spPr>
          <a:xfrm>
            <a:off x="6259573" y="831273"/>
            <a:ext cx="5624945" cy="5775901"/>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u="sng" dirty="0">
                <a:solidFill>
                  <a:schemeClr val="bg2">
                    <a:lumMod val="25000"/>
                  </a:schemeClr>
                </a:solidFill>
              </a:rPr>
              <a:t>Analyse réflexive et personnelle</a:t>
            </a:r>
          </a:p>
        </p:txBody>
      </p:sp>
      <p:sp>
        <p:nvSpPr>
          <p:cNvPr id="8" name="ZoneTexte 7">
            <a:extLst>
              <a:ext uri="{FF2B5EF4-FFF2-40B4-BE49-F238E27FC236}">
                <a16:creationId xmlns:a16="http://schemas.microsoft.com/office/drawing/2014/main" id="{A53AB59A-C221-4F0C-9FE9-8AC6909C61EF}"/>
              </a:ext>
            </a:extLst>
          </p:cNvPr>
          <p:cNvSpPr txBox="1"/>
          <p:nvPr/>
        </p:nvSpPr>
        <p:spPr>
          <a:xfrm>
            <a:off x="383816" y="1166481"/>
            <a:ext cx="5545928" cy="5740033"/>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fr-FR" dirty="0"/>
              <a:t>Phase de test:</a:t>
            </a:r>
          </a:p>
          <a:p>
            <a:pPr marL="800100" lvl="1" indent="-342900">
              <a:spcAft>
                <a:spcPts val="600"/>
              </a:spcAft>
              <a:buSzPct val="100000"/>
              <a:buFont typeface="+mj-lt"/>
              <a:buAutoNum type="arabicPeriod"/>
            </a:pPr>
            <a:r>
              <a:rPr lang="fr-FR" sz="1600" dirty="0"/>
              <a:t>Choisir un damier avec une </a:t>
            </a:r>
            <a:r>
              <a:rPr lang="fr-FR" sz="1600" dirty="0">
                <a:solidFill>
                  <a:srgbClr val="FF0000"/>
                </a:solidFill>
              </a:rPr>
              <a:t>petite aire</a:t>
            </a:r>
          </a:p>
          <a:p>
            <a:pPr marL="800100" lvl="1" indent="-342900">
              <a:spcAft>
                <a:spcPts val="600"/>
              </a:spcAft>
              <a:buSzPct val="100000"/>
              <a:buFont typeface="+mj-lt"/>
              <a:buAutoNum type="arabicPeriod"/>
            </a:pPr>
            <a:r>
              <a:rPr lang="fr-FR" sz="1600" dirty="0"/>
              <a:t>Sans l’estimation 2D (pas d’IA), </a:t>
            </a:r>
            <a:r>
              <a:rPr lang="fr-FR" sz="1600" dirty="0">
                <a:solidFill>
                  <a:srgbClr val="FF0000"/>
                </a:solidFill>
              </a:rPr>
              <a:t>calibration + triangulation précise</a:t>
            </a:r>
            <a:r>
              <a:rPr lang="fr-FR" sz="1600" dirty="0"/>
              <a:t> et plutôt homogène</a:t>
            </a:r>
          </a:p>
          <a:p>
            <a:pPr marL="800100" lvl="1" indent="-342900">
              <a:spcAft>
                <a:spcPts val="600"/>
              </a:spcAft>
              <a:buSzPct val="100000"/>
              <a:buFont typeface="+mj-lt"/>
              <a:buAutoNum type="arabicPeriod"/>
            </a:pPr>
            <a:r>
              <a:rPr lang="fr-FR" sz="1600" dirty="0"/>
              <a:t>Comparaison </a:t>
            </a:r>
            <a:r>
              <a:rPr lang="fr-FR" sz="1600" dirty="0">
                <a:solidFill>
                  <a:srgbClr val="FF0000"/>
                </a:solidFill>
              </a:rPr>
              <a:t>Vicon MoCapIA</a:t>
            </a:r>
            <a:r>
              <a:rPr lang="fr-FR" sz="1600" dirty="0"/>
              <a:t> (avec IA)</a:t>
            </a:r>
          </a:p>
          <a:p>
            <a:pPr marL="342900" indent="-342900">
              <a:spcAft>
                <a:spcPts val="600"/>
              </a:spcAft>
              <a:buSzPct val="100000"/>
              <a:buFont typeface="Arial" panose="020B0604020202020204" pitchFamily="34" charset="0"/>
              <a:buChar char="•"/>
            </a:pPr>
            <a:r>
              <a:rPr lang="fr-FR" dirty="0"/>
              <a:t>Amélioration du processus</a:t>
            </a:r>
          </a:p>
          <a:p>
            <a:pPr marL="800100" lvl="1" indent="-342900">
              <a:spcAft>
                <a:spcPts val="600"/>
              </a:spcAft>
              <a:buSzPct val="100000"/>
              <a:buFont typeface="+mj-lt"/>
              <a:buAutoNum type="arabicPeriod"/>
            </a:pPr>
            <a:r>
              <a:rPr lang="fr-FR" sz="1600" dirty="0">
                <a:solidFill>
                  <a:srgbClr val="FF0000"/>
                </a:solidFill>
              </a:rPr>
              <a:t>Plus précis</a:t>
            </a:r>
            <a:r>
              <a:rPr lang="fr-FR" sz="1600" dirty="0"/>
              <a:t> grâce aux 3 étapes ajoutées</a:t>
            </a:r>
          </a:p>
          <a:p>
            <a:pPr marL="800100" lvl="1" indent="-342900">
              <a:spcAft>
                <a:spcPts val="600"/>
              </a:spcAft>
              <a:buSzPct val="100000"/>
              <a:buFont typeface="+mj-lt"/>
              <a:buAutoNum type="arabicPeriod"/>
            </a:pPr>
            <a:r>
              <a:rPr lang="fr-FR" sz="1600" dirty="0"/>
              <a:t>Plus de marqueurs = </a:t>
            </a:r>
            <a:r>
              <a:rPr lang="fr-FR" sz="1600" dirty="0">
                <a:solidFill>
                  <a:srgbClr val="FF0000"/>
                </a:solidFill>
              </a:rPr>
              <a:t>meilleur analyse biomécanique</a:t>
            </a:r>
          </a:p>
          <a:p>
            <a:pPr marL="342900" indent="-342900">
              <a:spcAft>
                <a:spcPts val="600"/>
              </a:spcAft>
              <a:buSzPct val="100000"/>
              <a:buFont typeface="Arial" panose="020B0604020202020204" pitchFamily="34" charset="0"/>
              <a:buChar char="•"/>
            </a:pPr>
            <a:r>
              <a:rPr lang="fr-FR" sz="1600" dirty="0"/>
              <a:t>Recherche sur SAM3D</a:t>
            </a:r>
          </a:p>
          <a:p>
            <a:pPr marL="800100" lvl="1" indent="-342900">
              <a:spcAft>
                <a:spcPts val="600"/>
              </a:spcAft>
              <a:buSzPct val="100000"/>
              <a:buFont typeface="+mj-lt"/>
              <a:buAutoNum type="arabicPeriod"/>
            </a:pPr>
            <a:r>
              <a:rPr lang="fr-FR" sz="1600" dirty="0"/>
              <a:t>Encore </a:t>
            </a:r>
            <a:r>
              <a:rPr lang="fr-FR" sz="1600" dirty="0">
                <a:solidFill>
                  <a:srgbClr val="FF0000"/>
                </a:solidFill>
              </a:rPr>
              <a:t>plus simple</a:t>
            </a:r>
            <a:r>
              <a:rPr lang="fr-FR" sz="1600" dirty="0"/>
              <a:t> d’utilisation que MoCapIA</a:t>
            </a:r>
          </a:p>
          <a:p>
            <a:pPr marL="800100" lvl="1" indent="-342900">
              <a:spcAft>
                <a:spcPts val="600"/>
              </a:spcAft>
              <a:buSzPct val="100000"/>
              <a:buFont typeface="+mj-lt"/>
              <a:buAutoNum type="arabicPeriod"/>
            </a:pPr>
            <a:r>
              <a:rPr lang="fr-FR" sz="1600" dirty="0"/>
              <a:t>Pas encore adapté aux vidéos même si les résultats sont prometteurs</a:t>
            </a:r>
          </a:p>
          <a:p>
            <a:pPr marL="800100" lvl="1" indent="-342900">
              <a:spcAft>
                <a:spcPts val="600"/>
              </a:spcAft>
              <a:buSzPct val="100000"/>
              <a:buFont typeface="+mj-lt"/>
              <a:buAutoNum type="arabicPeriod"/>
            </a:pPr>
            <a:endParaRPr lang="fr-FR" sz="1600" dirty="0"/>
          </a:p>
          <a:p>
            <a:pPr marL="285750" indent="-285750">
              <a:spcAft>
                <a:spcPts val="600"/>
              </a:spcAft>
              <a:buSzPct val="100000"/>
              <a:buFont typeface="Arial" panose="020B0604020202020204" pitchFamily="34" charset="0"/>
              <a:buChar char="•"/>
            </a:pPr>
            <a:endParaRPr lang="fr-FR" sz="1600" dirty="0"/>
          </a:p>
          <a:p>
            <a:pPr marL="285750" indent="-285750">
              <a:spcAft>
                <a:spcPts val="600"/>
              </a:spcAft>
              <a:buSzPct val="100000"/>
              <a:buFont typeface="Arial" panose="020B0604020202020204" pitchFamily="34" charset="0"/>
              <a:buChar char="•"/>
            </a:pPr>
            <a:endParaRPr lang="fr-FR" sz="1600" dirty="0"/>
          </a:p>
          <a:p>
            <a:pPr marL="285750" indent="-285750">
              <a:spcAft>
                <a:spcPts val="600"/>
              </a:spcAft>
              <a:buSzPct val="100000"/>
              <a:buFont typeface="Arial" panose="020B0604020202020204" pitchFamily="34" charset="0"/>
              <a:buChar char="•"/>
            </a:pPr>
            <a:r>
              <a:rPr lang="fr-FR" sz="1600" dirty="0"/>
              <a:t>Vicon comme référence ? </a:t>
            </a:r>
            <a:r>
              <a:rPr lang="fr-FR" sz="1600" dirty="0">
                <a:solidFill>
                  <a:srgbClr val="FF0000"/>
                </a:solidFill>
              </a:rPr>
              <a:t>Nécessite expertise</a:t>
            </a:r>
          </a:p>
          <a:p>
            <a:pPr marL="285750" indent="-285750">
              <a:spcAft>
                <a:spcPts val="600"/>
              </a:spcAft>
              <a:buSzPct val="100000"/>
              <a:buFont typeface="Arial" panose="020B0604020202020204" pitchFamily="34" charset="0"/>
              <a:buChar char="•"/>
            </a:pPr>
            <a:r>
              <a:rPr lang="fr-FR" sz="1600" dirty="0">
                <a:solidFill>
                  <a:schemeClr val="tx1">
                    <a:lumMod val="85000"/>
                    <a:lumOff val="15000"/>
                  </a:schemeClr>
                </a:solidFill>
              </a:rPr>
              <a:t>SAM 3D</a:t>
            </a:r>
          </a:p>
          <a:p>
            <a:pPr marL="285750" indent="-285750">
              <a:spcAft>
                <a:spcPts val="600"/>
              </a:spcAft>
              <a:buSzPct val="100000"/>
              <a:buFont typeface="Arial" panose="020B0604020202020204" pitchFamily="34" charset="0"/>
              <a:buChar char="•"/>
            </a:pPr>
            <a:endParaRPr lang="fr-FR" sz="1600" dirty="0">
              <a:solidFill>
                <a:schemeClr val="tx1">
                  <a:lumMod val="85000"/>
                  <a:lumOff val="15000"/>
                </a:schemeClr>
              </a:solidFill>
            </a:endParaRPr>
          </a:p>
        </p:txBody>
      </p:sp>
      <p:pic>
        <p:nvPicPr>
          <p:cNvPr id="12" name="Image 11">
            <a:extLst>
              <a:ext uri="{FF2B5EF4-FFF2-40B4-BE49-F238E27FC236}">
                <a16:creationId xmlns:a16="http://schemas.microsoft.com/office/drawing/2014/main" id="{9C430EAB-CF57-4E35-A132-44B79CC2DB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2780929">
            <a:off x="5684245" y="2812779"/>
            <a:ext cx="1064168" cy="1064168"/>
          </a:xfrm>
          <a:prstGeom prst="rect">
            <a:avLst/>
          </a:prstGeom>
        </p:spPr>
      </p:pic>
      <p:pic>
        <p:nvPicPr>
          <p:cNvPr id="14" name="Image 13">
            <a:extLst>
              <a:ext uri="{FF2B5EF4-FFF2-40B4-BE49-F238E27FC236}">
                <a16:creationId xmlns:a16="http://schemas.microsoft.com/office/drawing/2014/main" id="{AFC86098-3365-4552-B472-01D38DA73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2852353">
            <a:off x="5858795" y="3877690"/>
            <a:ext cx="952509" cy="952509"/>
          </a:xfrm>
          <a:prstGeom prst="rect">
            <a:avLst/>
          </a:prstGeom>
        </p:spPr>
      </p:pic>
      <p:pic>
        <p:nvPicPr>
          <p:cNvPr id="16" name="Image 15">
            <a:extLst>
              <a:ext uri="{FF2B5EF4-FFF2-40B4-BE49-F238E27FC236}">
                <a16:creationId xmlns:a16="http://schemas.microsoft.com/office/drawing/2014/main" id="{EB3B7259-71FF-4ED4-9E20-46297E72F0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3269249">
            <a:off x="5257017" y="1305031"/>
            <a:ext cx="1705683" cy="1705683"/>
          </a:xfrm>
          <a:prstGeom prst="rect">
            <a:avLst/>
          </a:prstGeom>
        </p:spPr>
      </p:pic>
      <p:sp>
        <p:nvSpPr>
          <p:cNvPr id="17" name="Parenthèse fermante 16">
            <a:extLst>
              <a:ext uri="{FF2B5EF4-FFF2-40B4-BE49-F238E27FC236}">
                <a16:creationId xmlns:a16="http://schemas.microsoft.com/office/drawing/2014/main" id="{53931824-54AB-4FAA-B4AA-EF7D93CC04E0}"/>
              </a:ext>
            </a:extLst>
          </p:cNvPr>
          <p:cNvSpPr/>
          <p:nvPr/>
        </p:nvSpPr>
        <p:spPr>
          <a:xfrm>
            <a:off x="5072251" y="1388428"/>
            <a:ext cx="174004" cy="1496713"/>
          </a:xfrm>
          <a:prstGeom prst="rightBracket">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8" name="Parenthèse fermante 17">
            <a:extLst>
              <a:ext uri="{FF2B5EF4-FFF2-40B4-BE49-F238E27FC236}">
                <a16:creationId xmlns:a16="http://schemas.microsoft.com/office/drawing/2014/main" id="{E2974EC8-5B80-4059-9BCB-91A30BBE1BD1}"/>
              </a:ext>
            </a:extLst>
          </p:cNvPr>
          <p:cNvSpPr/>
          <p:nvPr/>
        </p:nvSpPr>
        <p:spPr>
          <a:xfrm>
            <a:off x="5676330" y="3983497"/>
            <a:ext cx="175014" cy="969503"/>
          </a:xfrm>
          <a:prstGeom prst="rightBracket">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9" name="Parenthèse fermante 18">
            <a:extLst>
              <a:ext uri="{FF2B5EF4-FFF2-40B4-BE49-F238E27FC236}">
                <a16:creationId xmlns:a16="http://schemas.microsoft.com/office/drawing/2014/main" id="{C8649EA6-A76C-40A6-8CCE-4DFCAF3C1310}"/>
              </a:ext>
            </a:extLst>
          </p:cNvPr>
          <p:cNvSpPr/>
          <p:nvPr/>
        </p:nvSpPr>
        <p:spPr>
          <a:xfrm>
            <a:off x="5561855" y="2967610"/>
            <a:ext cx="114475" cy="787294"/>
          </a:xfrm>
          <a:prstGeom prst="rightBracket">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0" name="ZoneTexte 19">
            <a:extLst>
              <a:ext uri="{FF2B5EF4-FFF2-40B4-BE49-F238E27FC236}">
                <a16:creationId xmlns:a16="http://schemas.microsoft.com/office/drawing/2014/main" id="{0905AD74-9C8F-4E71-9D20-525041A6F647}"/>
              </a:ext>
            </a:extLst>
          </p:cNvPr>
          <p:cNvSpPr txBox="1"/>
          <p:nvPr/>
        </p:nvSpPr>
        <p:spPr>
          <a:xfrm>
            <a:off x="6831228" y="2145881"/>
            <a:ext cx="4883155" cy="369332"/>
          </a:xfrm>
          <a:prstGeom prst="rect">
            <a:avLst/>
          </a:prstGeom>
          <a:noFill/>
        </p:spPr>
        <p:txBody>
          <a:bodyPr wrap="square" rtlCol="0">
            <a:spAutoFit/>
          </a:bodyPr>
          <a:lstStyle/>
          <a:p>
            <a:r>
              <a:rPr lang="fr-FR" dirty="0"/>
              <a:t>Rigueur du processus de validation en laboratoire</a:t>
            </a:r>
          </a:p>
        </p:txBody>
      </p:sp>
      <p:sp>
        <p:nvSpPr>
          <p:cNvPr id="21" name="ZoneTexte 20">
            <a:extLst>
              <a:ext uri="{FF2B5EF4-FFF2-40B4-BE49-F238E27FC236}">
                <a16:creationId xmlns:a16="http://schemas.microsoft.com/office/drawing/2014/main" id="{350239B0-410F-4D0B-86F7-7515F96734B5}"/>
              </a:ext>
            </a:extLst>
          </p:cNvPr>
          <p:cNvSpPr txBox="1"/>
          <p:nvPr/>
        </p:nvSpPr>
        <p:spPr>
          <a:xfrm>
            <a:off x="6831228" y="3235007"/>
            <a:ext cx="4910872" cy="369332"/>
          </a:xfrm>
          <a:prstGeom prst="rect">
            <a:avLst/>
          </a:prstGeom>
          <a:noFill/>
        </p:spPr>
        <p:txBody>
          <a:bodyPr wrap="square" rtlCol="0">
            <a:spAutoFit/>
          </a:bodyPr>
          <a:lstStyle/>
          <a:p>
            <a:r>
              <a:rPr lang="fr-FR" dirty="0"/>
              <a:t>Coordination avec ma collègue </a:t>
            </a:r>
            <a:r>
              <a:rPr lang="fr-FR" dirty="0">
                <a:sym typeface="Wingdings" panose="05000000000000000000" pitchFamily="2" charset="2"/>
              </a:rPr>
              <a:t> travail d’équipe</a:t>
            </a:r>
            <a:endParaRPr lang="fr-FR" dirty="0"/>
          </a:p>
        </p:txBody>
      </p:sp>
      <p:sp>
        <p:nvSpPr>
          <p:cNvPr id="22" name="ZoneTexte 21">
            <a:extLst>
              <a:ext uri="{FF2B5EF4-FFF2-40B4-BE49-F238E27FC236}">
                <a16:creationId xmlns:a16="http://schemas.microsoft.com/office/drawing/2014/main" id="{66019099-F80B-49B1-BFAE-3D6273108DC3}"/>
              </a:ext>
            </a:extLst>
          </p:cNvPr>
          <p:cNvSpPr txBox="1"/>
          <p:nvPr/>
        </p:nvSpPr>
        <p:spPr>
          <a:xfrm>
            <a:off x="6792600" y="4402888"/>
            <a:ext cx="4354832" cy="369332"/>
          </a:xfrm>
          <a:prstGeom prst="rect">
            <a:avLst/>
          </a:prstGeom>
          <a:noFill/>
        </p:spPr>
        <p:txBody>
          <a:bodyPr wrap="square" rtlCol="0">
            <a:spAutoFit/>
          </a:bodyPr>
          <a:lstStyle/>
          <a:p>
            <a:pPr algn="ctr"/>
            <a:r>
              <a:rPr lang="fr-FR" dirty="0"/>
              <a:t>Processus de recherche bibliographique</a:t>
            </a:r>
          </a:p>
        </p:txBody>
      </p:sp>
      <p:sp>
        <p:nvSpPr>
          <p:cNvPr id="26" name="Rectangle 25">
            <a:extLst>
              <a:ext uri="{FF2B5EF4-FFF2-40B4-BE49-F238E27FC236}">
                <a16:creationId xmlns:a16="http://schemas.microsoft.com/office/drawing/2014/main" id="{31ED5C42-ED8A-44D8-990C-EC8980C6A5DF}"/>
              </a:ext>
            </a:extLst>
          </p:cNvPr>
          <p:cNvSpPr/>
          <p:nvPr/>
        </p:nvSpPr>
        <p:spPr>
          <a:xfrm>
            <a:off x="6558515" y="5204293"/>
            <a:ext cx="86830" cy="7763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5" name="Image 24">
            <a:extLst>
              <a:ext uri="{FF2B5EF4-FFF2-40B4-BE49-F238E27FC236}">
                <a16:creationId xmlns:a16="http://schemas.microsoft.com/office/drawing/2014/main" id="{94D6D594-95E5-41D3-B3EC-3B48F772C0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21835" y="5139840"/>
            <a:ext cx="381340" cy="381340"/>
          </a:xfrm>
          <a:prstGeom prst="rect">
            <a:avLst/>
          </a:prstGeom>
        </p:spPr>
      </p:pic>
      <p:pic>
        <p:nvPicPr>
          <p:cNvPr id="9" name="Image 8">
            <a:extLst>
              <a:ext uri="{FF2B5EF4-FFF2-40B4-BE49-F238E27FC236}">
                <a16:creationId xmlns:a16="http://schemas.microsoft.com/office/drawing/2014/main" id="{8E5C3A5E-C39A-44E3-A66A-F824880997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46280" y="1740810"/>
            <a:ext cx="456895" cy="456895"/>
          </a:xfrm>
          <a:prstGeom prst="rect">
            <a:avLst/>
          </a:prstGeom>
        </p:spPr>
      </p:pic>
      <p:pic>
        <p:nvPicPr>
          <p:cNvPr id="11" name="Image 10">
            <a:extLst>
              <a:ext uri="{FF2B5EF4-FFF2-40B4-BE49-F238E27FC236}">
                <a16:creationId xmlns:a16="http://schemas.microsoft.com/office/drawing/2014/main" id="{830E9155-46DD-420F-9AF3-D9D9C625FB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43382" y="2854771"/>
            <a:ext cx="459793" cy="459793"/>
          </a:xfrm>
          <a:prstGeom prst="rect">
            <a:avLst/>
          </a:prstGeom>
        </p:spPr>
      </p:pic>
      <p:pic>
        <p:nvPicPr>
          <p:cNvPr id="15" name="Image 14">
            <a:extLst>
              <a:ext uri="{FF2B5EF4-FFF2-40B4-BE49-F238E27FC236}">
                <a16:creationId xmlns:a16="http://schemas.microsoft.com/office/drawing/2014/main" id="{2F003294-FEDC-4EE1-AC90-2B43442328A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50901" y="3877944"/>
            <a:ext cx="535089" cy="535089"/>
          </a:xfrm>
          <a:prstGeom prst="rect">
            <a:avLst/>
          </a:prstGeom>
        </p:spPr>
      </p:pic>
      <p:sp>
        <p:nvSpPr>
          <p:cNvPr id="4" name="ZoneTexte 3">
            <a:extLst>
              <a:ext uri="{FF2B5EF4-FFF2-40B4-BE49-F238E27FC236}">
                <a16:creationId xmlns:a16="http://schemas.microsoft.com/office/drawing/2014/main" id="{BD59F867-3BF0-B969-CD5D-C2CC2A4BF208}"/>
              </a:ext>
            </a:extLst>
          </p:cNvPr>
          <p:cNvSpPr txBox="1"/>
          <p:nvPr/>
        </p:nvSpPr>
        <p:spPr>
          <a:xfrm>
            <a:off x="7269878" y="5553615"/>
            <a:ext cx="3606800" cy="369332"/>
          </a:xfrm>
          <a:prstGeom prst="rect">
            <a:avLst/>
          </a:prstGeom>
          <a:noFill/>
        </p:spPr>
        <p:txBody>
          <a:bodyPr wrap="square" rtlCol="0">
            <a:spAutoFit/>
          </a:bodyPr>
          <a:lstStyle/>
          <a:p>
            <a:pPr algn="ctr"/>
            <a:r>
              <a:rPr lang="fr-FR" dirty="0"/>
              <a:t>Pas de dimensions financières</a:t>
            </a:r>
          </a:p>
        </p:txBody>
      </p:sp>
    </p:spTree>
    <p:extLst>
      <p:ext uri="{BB962C8B-B14F-4D97-AF65-F5344CB8AC3E}">
        <p14:creationId xmlns:p14="http://schemas.microsoft.com/office/powerpoint/2010/main" val="1049032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63C513-A280-0E07-5060-3024503FA6B3}"/>
              </a:ext>
            </a:extLst>
          </p:cNvPr>
          <p:cNvSpPr>
            <a:spLocks noGrp="1"/>
          </p:cNvSpPr>
          <p:nvPr>
            <p:ph type="title"/>
          </p:nvPr>
        </p:nvSpPr>
        <p:spPr/>
        <p:txBody>
          <a:bodyPr/>
          <a:lstStyle/>
          <a:p>
            <a:endParaRPr lang="fr-FR"/>
          </a:p>
        </p:txBody>
      </p:sp>
      <p:sp>
        <p:nvSpPr>
          <p:cNvPr id="3" name="Espace réservé du pied de page 2">
            <a:extLst>
              <a:ext uri="{FF2B5EF4-FFF2-40B4-BE49-F238E27FC236}">
                <a16:creationId xmlns:a16="http://schemas.microsoft.com/office/drawing/2014/main" id="{A66CAB54-A0FF-A832-3880-14D8865BABD8}"/>
              </a:ext>
            </a:extLst>
          </p:cNvPr>
          <p:cNvSpPr>
            <a:spLocks noGrp="1"/>
          </p:cNvSpPr>
          <p:nvPr>
            <p:ph type="ftr" sz="quarter" idx="10"/>
          </p:nvPr>
        </p:nvSpPr>
        <p:spPr/>
        <p:txBody>
          <a:bodyPr/>
          <a:lstStyle/>
          <a:p>
            <a:r>
              <a:rPr lang="fr-FR"/>
              <a:t>26/02/2026 - Soutenance TN09 MoCapIA</a:t>
            </a:r>
            <a:endParaRPr lang="fr-FR" dirty="0"/>
          </a:p>
        </p:txBody>
      </p:sp>
      <p:sp>
        <p:nvSpPr>
          <p:cNvPr id="4" name="Espace réservé du numéro de diapositive 3">
            <a:extLst>
              <a:ext uri="{FF2B5EF4-FFF2-40B4-BE49-F238E27FC236}">
                <a16:creationId xmlns:a16="http://schemas.microsoft.com/office/drawing/2014/main" id="{D63BF4B8-D65A-0D92-F48A-31A7367C7B66}"/>
              </a:ext>
            </a:extLst>
          </p:cNvPr>
          <p:cNvSpPr>
            <a:spLocks noGrp="1"/>
          </p:cNvSpPr>
          <p:nvPr>
            <p:ph type="sldNum" sz="quarter" idx="11"/>
          </p:nvPr>
        </p:nvSpPr>
        <p:spPr/>
        <p:txBody>
          <a:bodyPr/>
          <a:lstStyle/>
          <a:p>
            <a:fld id="{5FE832C7-580F-4527-9E2C-46AEE9BAF770}" type="slidenum">
              <a:rPr lang="fr-FR" smtClean="0"/>
              <a:t>8</a:t>
            </a:fld>
            <a:endParaRPr lang="fr-FR" dirty="0"/>
          </a:p>
        </p:txBody>
      </p:sp>
      <p:pic>
        <p:nvPicPr>
          <p:cNvPr id="6" name="Image 5">
            <a:extLst>
              <a:ext uri="{FF2B5EF4-FFF2-40B4-BE49-F238E27FC236}">
                <a16:creationId xmlns:a16="http://schemas.microsoft.com/office/drawing/2014/main" id="{689BF740-DD98-F348-F3A3-8CAB306E2B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0781" y="1556421"/>
            <a:ext cx="5936259" cy="3561756"/>
          </a:xfrm>
          <a:prstGeom prst="rect">
            <a:avLst/>
          </a:prstGeom>
        </p:spPr>
      </p:pic>
      <p:pic>
        <p:nvPicPr>
          <p:cNvPr id="8" name="Image 7">
            <a:extLst>
              <a:ext uri="{FF2B5EF4-FFF2-40B4-BE49-F238E27FC236}">
                <a16:creationId xmlns:a16="http://schemas.microsoft.com/office/drawing/2014/main" id="{0D4C3F05-B1E0-4074-6AB5-6EFF8D1D44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959" y="1556421"/>
            <a:ext cx="6110107" cy="3561756"/>
          </a:xfrm>
          <a:prstGeom prst="rect">
            <a:avLst/>
          </a:prstGeom>
        </p:spPr>
      </p:pic>
      <p:sp>
        <p:nvSpPr>
          <p:cNvPr id="9" name="ZoneTexte 8">
            <a:extLst>
              <a:ext uri="{FF2B5EF4-FFF2-40B4-BE49-F238E27FC236}">
                <a16:creationId xmlns:a16="http://schemas.microsoft.com/office/drawing/2014/main" id="{A4C360FC-08FF-F97D-0675-CF10F0C6484D}"/>
              </a:ext>
            </a:extLst>
          </p:cNvPr>
          <p:cNvSpPr txBox="1"/>
          <p:nvPr/>
        </p:nvSpPr>
        <p:spPr>
          <a:xfrm>
            <a:off x="4547886" y="1002021"/>
            <a:ext cx="3096228" cy="369332"/>
          </a:xfrm>
          <a:prstGeom prst="rect">
            <a:avLst/>
          </a:prstGeom>
          <a:noFill/>
        </p:spPr>
        <p:txBody>
          <a:bodyPr wrap="square" rtlCol="0">
            <a:spAutoFit/>
          </a:bodyPr>
          <a:lstStyle/>
          <a:p>
            <a:pPr algn="ctr"/>
            <a:r>
              <a:rPr lang="fr-FR" dirty="0"/>
              <a:t>Synchronisation Vicon - </a:t>
            </a:r>
            <a:r>
              <a:rPr lang="fr-FR" dirty="0" err="1"/>
              <a:t>MoCap</a:t>
            </a:r>
            <a:endParaRPr lang="fr-FR" dirty="0"/>
          </a:p>
        </p:txBody>
      </p:sp>
    </p:spTree>
    <p:extLst>
      <p:ext uri="{BB962C8B-B14F-4D97-AF65-F5344CB8AC3E}">
        <p14:creationId xmlns:p14="http://schemas.microsoft.com/office/powerpoint/2010/main" val="4015782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691B17C2-C165-1DBD-9ABD-1A8D721BEDCB}"/>
              </a:ext>
            </a:extLst>
          </p:cNvPr>
          <p:cNvSpPr>
            <a:spLocks noGrp="1"/>
          </p:cNvSpPr>
          <p:nvPr>
            <p:ph type="ftr" sz="quarter" idx="10"/>
          </p:nvPr>
        </p:nvSpPr>
        <p:spPr/>
        <p:txBody>
          <a:bodyPr/>
          <a:lstStyle/>
          <a:p>
            <a:r>
              <a:rPr lang="fr-FR" dirty="0"/>
              <a:t>26/02/2026 - Soutenance TN09 MoCapIA</a:t>
            </a:r>
          </a:p>
        </p:txBody>
      </p:sp>
      <p:sp>
        <p:nvSpPr>
          <p:cNvPr id="3" name="Espace réservé du numéro de diapositive 2">
            <a:extLst>
              <a:ext uri="{FF2B5EF4-FFF2-40B4-BE49-F238E27FC236}">
                <a16:creationId xmlns:a16="http://schemas.microsoft.com/office/drawing/2014/main" id="{0A07C9EA-E057-34A6-3944-FCC7D8ECB1B3}"/>
              </a:ext>
            </a:extLst>
          </p:cNvPr>
          <p:cNvSpPr>
            <a:spLocks noGrp="1"/>
          </p:cNvSpPr>
          <p:nvPr>
            <p:ph type="sldNum" sz="quarter" idx="11"/>
          </p:nvPr>
        </p:nvSpPr>
        <p:spPr/>
        <p:txBody>
          <a:bodyPr/>
          <a:lstStyle/>
          <a:p>
            <a:fld id="{5FE832C7-580F-4527-9E2C-46AEE9BAF770}" type="slidenum">
              <a:rPr lang="fr-FR" smtClean="0"/>
              <a:t>9</a:t>
            </a:fld>
            <a:endParaRPr lang="fr-FR" dirty="0"/>
          </a:p>
        </p:txBody>
      </p:sp>
      <p:sp>
        <p:nvSpPr>
          <p:cNvPr id="4" name="ZoneTexte 3">
            <a:extLst>
              <a:ext uri="{FF2B5EF4-FFF2-40B4-BE49-F238E27FC236}">
                <a16:creationId xmlns:a16="http://schemas.microsoft.com/office/drawing/2014/main" id="{6979CBC6-94C7-997B-49B0-2A2CFB4C1684}"/>
              </a:ext>
            </a:extLst>
          </p:cNvPr>
          <p:cNvSpPr txBox="1"/>
          <p:nvPr/>
        </p:nvSpPr>
        <p:spPr>
          <a:xfrm>
            <a:off x="2482770" y="0"/>
            <a:ext cx="5081286" cy="553998"/>
          </a:xfrm>
          <a:prstGeom prst="rect">
            <a:avLst/>
          </a:prstGeom>
          <a:noFill/>
        </p:spPr>
        <p:txBody>
          <a:bodyPr wrap="square" rtlCol="0">
            <a:spAutoFit/>
          </a:bodyPr>
          <a:lstStyle/>
          <a:p>
            <a:r>
              <a:rPr lang="fr-FR" sz="3000" dirty="0"/>
              <a:t>Annexes</a:t>
            </a:r>
          </a:p>
        </p:txBody>
      </p:sp>
      <p:sp>
        <p:nvSpPr>
          <p:cNvPr id="5" name="ZoneTexte 4">
            <a:extLst>
              <a:ext uri="{FF2B5EF4-FFF2-40B4-BE49-F238E27FC236}">
                <a16:creationId xmlns:a16="http://schemas.microsoft.com/office/drawing/2014/main" id="{3C56AB32-F357-53B1-211C-DC80780BE726}"/>
              </a:ext>
            </a:extLst>
          </p:cNvPr>
          <p:cNvSpPr txBox="1"/>
          <p:nvPr/>
        </p:nvSpPr>
        <p:spPr>
          <a:xfrm>
            <a:off x="4547886" y="502943"/>
            <a:ext cx="3096228" cy="646331"/>
          </a:xfrm>
          <a:prstGeom prst="rect">
            <a:avLst/>
          </a:prstGeom>
          <a:noFill/>
        </p:spPr>
        <p:txBody>
          <a:bodyPr wrap="square" rtlCol="0">
            <a:spAutoFit/>
          </a:bodyPr>
          <a:lstStyle/>
          <a:p>
            <a:pPr algn="ctr"/>
            <a:r>
              <a:rPr lang="fr-FR" dirty="0"/>
              <a:t>Analyse Vicon – MoCapIA : Positions</a:t>
            </a:r>
          </a:p>
        </p:txBody>
      </p:sp>
      <p:pic>
        <p:nvPicPr>
          <p:cNvPr id="7" name="Image 6">
            <a:extLst>
              <a:ext uri="{FF2B5EF4-FFF2-40B4-BE49-F238E27FC236}">
                <a16:creationId xmlns:a16="http://schemas.microsoft.com/office/drawing/2014/main" id="{40649304-0715-73FB-CC01-C52E63A660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2603" y="1229006"/>
            <a:ext cx="8347620" cy="5218706"/>
          </a:xfrm>
          <a:prstGeom prst="rect">
            <a:avLst/>
          </a:prstGeom>
        </p:spPr>
      </p:pic>
    </p:spTree>
    <p:extLst>
      <p:ext uri="{BB962C8B-B14F-4D97-AF65-F5344CB8AC3E}">
        <p14:creationId xmlns:p14="http://schemas.microsoft.com/office/powerpoint/2010/main" val="1331358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0A9025B-F533-94BD-C98A-14C56ADC06EA}"/>
              </a:ext>
            </a:extLst>
          </p:cNvPr>
          <p:cNvSpPr>
            <a:spLocks noGrp="1"/>
          </p:cNvSpPr>
          <p:nvPr>
            <p:ph type="title"/>
          </p:nvPr>
        </p:nvSpPr>
        <p:spPr>
          <a:ln>
            <a:noFill/>
          </a:ln>
        </p:spPr>
        <p:txBody>
          <a:bodyPr/>
          <a:lstStyle/>
          <a:p>
            <a:endParaRPr lang="fr-FR" dirty="0"/>
          </a:p>
        </p:txBody>
      </p:sp>
      <p:sp>
        <p:nvSpPr>
          <p:cNvPr id="2" name="Espace réservé du pied de page 1">
            <a:extLst>
              <a:ext uri="{FF2B5EF4-FFF2-40B4-BE49-F238E27FC236}">
                <a16:creationId xmlns:a16="http://schemas.microsoft.com/office/drawing/2014/main" id="{30593AD4-2505-6AC9-A8F7-D5A9F06035DE}"/>
              </a:ext>
            </a:extLst>
          </p:cNvPr>
          <p:cNvSpPr>
            <a:spLocks noGrp="1"/>
          </p:cNvSpPr>
          <p:nvPr>
            <p:ph type="ftr" sz="quarter" idx="10"/>
          </p:nvPr>
        </p:nvSpPr>
        <p:spPr/>
        <p:txBody>
          <a:bodyPr/>
          <a:lstStyle/>
          <a:p>
            <a:r>
              <a:rPr lang="fr-FR"/>
              <a:t>26/02/2026 - Soutenance TN09 MoCapIA</a:t>
            </a:r>
            <a:endParaRPr lang="fr-FR" dirty="0"/>
          </a:p>
        </p:txBody>
      </p:sp>
      <p:sp>
        <p:nvSpPr>
          <p:cNvPr id="3" name="Espace réservé du numéro de diapositive 2">
            <a:extLst>
              <a:ext uri="{FF2B5EF4-FFF2-40B4-BE49-F238E27FC236}">
                <a16:creationId xmlns:a16="http://schemas.microsoft.com/office/drawing/2014/main" id="{AF86E27B-0F84-D4BC-6D18-C97BC257A5B8}"/>
              </a:ext>
            </a:extLst>
          </p:cNvPr>
          <p:cNvSpPr>
            <a:spLocks noGrp="1"/>
          </p:cNvSpPr>
          <p:nvPr>
            <p:ph type="sldNum" sz="quarter" idx="11"/>
          </p:nvPr>
        </p:nvSpPr>
        <p:spPr/>
        <p:txBody>
          <a:bodyPr/>
          <a:lstStyle/>
          <a:p>
            <a:fld id="{5FE832C7-580F-4527-9E2C-46AEE9BAF770}" type="slidenum">
              <a:rPr lang="fr-FR" smtClean="0"/>
              <a:t>10</a:t>
            </a:fld>
            <a:endParaRPr lang="fr-FR" dirty="0"/>
          </a:p>
        </p:txBody>
      </p:sp>
      <p:pic>
        <p:nvPicPr>
          <p:cNvPr id="6" name="Image 5">
            <a:extLst>
              <a:ext uri="{FF2B5EF4-FFF2-40B4-BE49-F238E27FC236}">
                <a16:creationId xmlns:a16="http://schemas.microsoft.com/office/drawing/2014/main" id="{2AE21450-5793-4E7C-28F2-B08E84BC75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4334" y="1291291"/>
            <a:ext cx="9076213" cy="5315884"/>
          </a:xfrm>
          <a:prstGeom prst="rect">
            <a:avLst/>
          </a:prstGeom>
        </p:spPr>
      </p:pic>
      <p:sp>
        <p:nvSpPr>
          <p:cNvPr id="7" name="ZoneTexte 6">
            <a:extLst>
              <a:ext uri="{FF2B5EF4-FFF2-40B4-BE49-F238E27FC236}">
                <a16:creationId xmlns:a16="http://schemas.microsoft.com/office/drawing/2014/main" id="{95C5DBA9-E325-0784-4C1D-7AFFE8AE7A78}"/>
              </a:ext>
            </a:extLst>
          </p:cNvPr>
          <p:cNvSpPr txBox="1"/>
          <p:nvPr/>
        </p:nvSpPr>
        <p:spPr>
          <a:xfrm>
            <a:off x="4547886" y="626854"/>
            <a:ext cx="3096228" cy="646331"/>
          </a:xfrm>
          <a:prstGeom prst="rect">
            <a:avLst/>
          </a:prstGeom>
          <a:noFill/>
        </p:spPr>
        <p:txBody>
          <a:bodyPr wrap="square" rtlCol="0">
            <a:spAutoFit/>
          </a:bodyPr>
          <a:lstStyle/>
          <a:p>
            <a:pPr algn="ctr"/>
            <a:r>
              <a:rPr lang="fr-FR" dirty="0"/>
              <a:t>Analyse Vicon – MoCapIA : Angles</a:t>
            </a:r>
          </a:p>
        </p:txBody>
      </p:sp>
    </p:spTree>
    <p:extLst>
      <p:ext uri="{BB962C8B-B14F-4D97-AF65-F5344CB8AC3E}">
        <p14:creationId xmlns:p14="http://schemas.microsoft.com/office/powerpoint/2010/main" val="3561684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CECA65-69CB-629E-5E67-B0DF726A7989}"/>
              </a:ext>
            </a:extLst>
          </p:cNvPr>
          <p:cNvSpPr>
            <a:spLocks noGrp="1"/>
          </p:cNvSpPr>
          <p:nvPr>
            <p:ph type="title"/>
          </p:nvPr>
        </p:nvSpPr>
        <p:spPr/>
        <p:txBody>
          <a:bodyPr/>
          <a:lstStyle/>
          <a:p>
            <a:endParaRPr lang="fr-FR" dirty="0"/>
          </a:p>
        </p:txBody>
      </p:sp>
      <p:sp>
        <p:nvSpPr>
          <p:cNvPr id="3" name="Espace réservé du pied de page 2">
            <a:extLst>
              <a:ext uri="{FF2B5EF4-FFF2-40B4-BE49-F238E27FC236}">
                <a16:creationId xmlns:a16="http://schemas.microsoft.com/office/drawing/2014/main" id="{9865EF8D-216A-D41F-DCDA-2039DE951C43}"/>
              </a:ext>
            </a:extLst>
          </p:cNvPr>
          <p:cNvSpPr>
            <a:spLocks noGrp="1"/>
          </p:cNvSpPr>
          <p:nvPr>
            <p:ph type="ftr" sz="quarter" idx="10"/>
          </p:nvPr>
        </p:nvSpPr>
        <p:spPr/>
        <p:txBody>
          <a:bodyPr/>
          <a:lstStyle/>
          <a:p>
            <a:r>
              <a:rPr lang="fr-FR"/>
              <a:t>26/02/2026 - Soutenance TN09 MoCapIA</a:t>
            </a:r>
            <a:endParaRPr lang="fr-FR" dirty="0"/>
          </a:p>
        </p:txBody>
      </p:sp>
      <p:sp>
        <p:nvSpPr>
          <p:cNvPr id="4" name="Espace réservé du numéro de diapositive 3">
            <a:extLst>
              <a:ext uri="{FF2B5EF4-FFF2-40B4-BE49-F238E27FC236}">
                <a16:creationId xmlns:a16="http://schemas.microsoft.com/office/drawing/2014/main" id="{32C02740-0CAD-479B-826C-3523B9491F9D}"/>
              </a:ext>
            </a:extLst>
          </p:cNvPr>
          <p:cNvSpPr>
            <a:spLocks noGrp="1"/>
          </p:cNvSpPr>
          <p:nvPr>
            <p:ph type="sldNum" sz="quarter" idx="11"/>
          </p:nvPr>
        </p:nvSpPr>
        <p:spPr/>
        <p:txBody>
          <a:bodyPr/>
          <a:lstStyle/>
          <a:p>
            <a:fld id="{5FE832C7-580F-4527-9E2C-46AEE9BAF770}" type="slidenum">
              <a:rPr lang="fr-FR" smtClean="0"/>
              <a:t>11</a:t>
            </a:fld>
            <a:endParaRPr lang="fr-FR" dirty="0"/>
          </a:p>
        </p:txBody>
      </p:sp>
      <p:pic>
        <p:nvPicPr>
          <p:cNvPr id="21" name="Image 20">
            <a:extLst>
              <a:ext uri="{FF2B5EF4-FFF2-40B4-BE49-F238E27FC236}">
                <a16:creationId xmlns:a16="http://schemas.microsoft.com/office/drawing/2014/main" id="{EA6E1DF5-7E92-BE63-2986-1AAA681A2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7465" y="1393543"/>
            <a:ext cx="8697070" cy="5203635"/>
          </a:xfrm>
          <a:prstGeom prst="rect">
            <a:avLst/>
          </a:prstGeom>
        </p:spPr>
      </p:pic>
      <p:sp>
        <p:nvSpPr>
          <p:cNvPr id="22" name="ZoneTexte 21">
            <a:extLst>
              <a:ext uri="{FF2B5EF4-FFF2-40B4-BE49-F238E27FC236}">
                <a16:creationId xmlns:a16="http://schemas.microsoft.com/office/drawing/2014/main" id="{2C2DEE04-B187-0246-ED45-0AC1159685C9}"/>
              </a:ext>
            </a:extLst>
          </p:cNvPr>
          <p:cNvSpPr txBox="1"/>
          <p:nvPr/>
        </p:nvSpPr>
        <p:spPr>
          <a:xfrm>
            <a:off x="4432300" y="921882"/>
            <a:ext cx="3327400" cy="461665"/>
          </a:xfrm>
          <a:prstGeom prst="rect">
            <a:avLst/>
          </a:prstGeom>
          <a:noFill/>
        </p:spPr>
        <p:txBody>
          <a:bodyPr wrap="square" rtlCol="0">
            <a:spAutoFit/>
          </a:bodyPr>
          <a:lstStyle/>
          <a:p>
            <a:pPr algn="ctr"/>
            <a:r>
              <a:rPr lang="fr-FR" sz="2400" dirty="0"/>
              <a:t>Zoom Filtre </a:t>
            </a:r>
            <a:r>
              <a:rPr lang="fr-FR" sz="2400" dirty="0" err="1"/>
              <a:t>Hampel</a:t>
            </a:r>
            <a:endParaRPr lang="fr-FR" sz="2400" dirty="0"/>
          </a:p>
        </p:txBody>
      </p:sp>
    </p:spTree>
    <p:extLst>
      <p:ext uri="{BB962C8B-B14F-4D97-AF65-F5344CB8AC3E}">
        <p14:creationId xmlns:p14="http://schemas.microsoft.com/office/powerpoint/2010/main" val="2548020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583B2-4783-D5A7-05C1-32D23ED4CEB0}"/>
              </a:ext>
            </a:extLst>
          </p:cNvPr>
          <p:cNvSpPr>
            <a:spLocks noGrp="1"/>
          </p:cNvSpPr>
          <p:nvPr>
            <p:ph type="title"/>
          </p:nvPr>
        </p:nvSpPr>
        <p:spPr/>
        <p:txBody>
          <a:bodyPr/>
          <a:lstStyle/>
          <a:p>
            <a:endParaRPr lang="fr-FR"/>
          </a:p>
        </p:txBody>
      </p:sp>
      <p:sp>
        <p:nvSpPr>
          <p:cNvPr id="3" name="Espace réservé du pied de page 2">
            <a:extLst>
              <a:ext uri="{FF2B5EF4-FFF2-40B4-BE49-F238E27FC236}">
                <a16:creationId xmlns:a16="http://schemas.microsoft.com/office/drawing/2014/main" id="{BCAC3DC9-F61B-FB4A-1826-94FF3D4ADDEE}"/>
              </a:ext>
            </a:extLst>
          </p:cNvPr>
          <p:cNvSpPr>
            <a:spLocks noGrp="1"/>
          </p:cNvSpPr>
          <p:nvPr>
            <p:ph type="ftr" sz="quarter" idx="10"/>
          </p:nvPr>
        </p:nvSpPr>
        <p:spPr/>
        <p:txBody>
          <a:bodyPr/>
          <a:lstStyle/>
          <a:p>
            <a:r>
              <a:rPr lang="fr-FR"/>
              <a:t>26/02/2026 - Soutenance TN09 MoCapIA</a:t>
            </a:r>
            <a:endParaRPr lang="fr-FR" dirty="0"/>
          </a:p>
        </p:txBody>
      </p:sp>
      <p:sp>
        <p:nvSpPr>
          <p:cNvPr id="4" name="Espace réservé du numéro de diapositive 3">
            <a:extLst>
              <a:ext uri="{FF2B5EF4-FFF2-40B4-BE49-F238E27FC236}">
                <a16:creationId xmlns:a16="http://schemas.microsoft.com/office/drawing/2014/main" id="{6B75C90A-6A97-14B3-0151-27039EA1753B}"/>
              </a:ext>
            </a:extLst>
          </p:cNvPr>
          <p:cNvSpPr>
            <a:spLocks noGrp="1"/>
          </p:cNvSpPr>
          <p:nvPr>
            <p:ph type="sldNum" sz="quarter" idx="11"/>
          </p:nvPr>
        </p:nvSpPr>
        <p:spPr/>
        <p:txBody>
          <a:bodyPr/>
          <a:lstStyle/>
          <a:p>
            <a:fld id="{5FE832C7-580F-4527-9E2C-46AEE9BAF770}" type="slidenum">
              <a:rPr lang="fr-FR" smtClean="0"/>
              <a:t>12</a:t>
            </a:fld>
            <a:endParaRPr lang="fr-FR" dirty="0"/>
          </a:p>
        </p:txBody>
      </p:sp>
      <p:pic>
        <p:nvPicPr>
          <p:cNvPr id="12" name="Image 11">
            <a:extLst>
              <a:ext uri="{FF2B5EF4-FFF2-40B4-BE49-F238E27FC236}">
                <a16:creationId xmlns:a16="http://schemas.microsoft.com/office/drawing/2014/main" id="{DC8C2F9B-9C6A-AE11-146F-C7E4101D2D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26" y="1920849"/>
            <a:ext cx="6096000" cy="3564328"/>
          </a:xfrm>
          <a:prstGeom prst="rect">
            <a:avLst/>
          </a:prstGeom>
        </p:spPr>
      </p:pic>
      <p:pic>
        <p:nvPicPr>
          <p:cNvPr id="10" name="Image 9">
            <a:extLst>
              <a:ext uri="{FF2B5EF4-FFF2-40B4-BE49-F238E27FC236}">
                <a16:creationId xmlns:a16="http://schemas.microsoft.com/office/drawing/2014/main" id="{7083BCB4-591E-5C00-BEA1-171A7C599F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5726" y="1922303"/>
            <a:ext cx="6036274" cy="3562874"/>
          </a:xfrm>
          <a:prstGeom prst="rect">
            <a:avLst/>
          </a:prstGeom>
        </p:spPr>
      </p:pic>
      <p:sp>
        <p:nvSpPr>
          <p:cNvPr id="5" name="ZoneTexte 4">
            <a:extLst>
              <a:ext uri="{FF2B5EF4-FFF2-40B4-BE49-F238E27FC236}">
                <a16:creationId xmlns:a16="http://schemas.microsoft.com/office/drawing/2014/main" id="{D7964C04-8BE8-54EE-F8D8-348008A2DDBA}"/>
              </a:ext>
            </a:extLst>
          </p:cNvPr>
          <p:cNvSpPr txBox="1"/>
          <p:nvPr/>
        </p:nvSpPr>
        <p:spPr>
          <a:xfrm>
            <a:off x="4432300" y="1372823"/>
            <a:ext cx="3327400" cy="461665"/>
          </a:xfrm>
          <a:prstGeom prst="rect">
            <a:avLst/>
          </a:prstGeom>
          <a:noFill/>
        </p:spPr>
        <p:txBody>
          <a:bodyPr wrap="square" rtlCol="0">
            <a:spAutoFit/>
          </a:bodyPr>
          <a:lstStyle/>
          <a:p>
            <a:pPr algn="ctr"/>
            <a:r>
              <a:rPr lang="fr-FR" sz="2400" dirty="0"/>
              <a:t>Autres filtres</a:t>
            </a:r>
          </a:p>
        </p:txBody>
      </p:sp>
    </p:spTree>
    <p:extLst>
      <p:ext uri="{BB962C8B-B14F-4D97-AF65-F5344CB8AC3E}">
        <p14:creationId xmlns:p14="http://schemas.microsoft.com/office/powerpoint/2010/main" val="2723183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4F858C-94BA-88F2-1F52-126B3C614A1D}"/>
              </a:ext>
            </a:extLst>
          </p:cNvPr>
          <p:cNvSpPr>
            <a:spLocks noGrp="1"/>
          </p:cNvSpPr>
          <p:nvPr>
            <p:ph type="title"/>
          </p:nvPr>
        </p:nvSpPr>
        <p:spPr/>
        <p:txBody>
          <a:bodyPr/>
          <a:lstStyle/>
          <a:p>
            <a:endParaRPr lang="fr-FR"/>
          </a:p>
        </p:txBody>
      </p:sp>
      <p:sp>
        <p:nvSpPr>
          <p:cNvPr id="3" name="Espace réservé du pied de page 2">
            <a:extLst>
              <a:ext uri="{FF2B5EF4-FFF2-40B4-BE49-F238E27FC236}">
                <a16:creationId xmlns:a16="http://schemas.microsoft.com/office/drawing/2014/main" id="{BC4F85A5-F8B1-2984-2358-D19A820DC501}"/>
              </a:ext>
            </a:extLst>
          </p:cNvPr>
          <p:cNvSpPr>
            <a:spLocks noGrp="1"/>
          </p:cNvSpPr>
          <p:nvPr>
            <p:ph type="ftr" sz="quarter" idx="10"/>
          </p:nvPr>
        </p:nvSpPr>
        <p:spPr/>
        <p:txBody>
          <a:bodyPr/>
          <a:lstStyle/>
          <a:p>
            <a:r>
              <a:rPr lang="fr-FR"/>
              <a:t>26/02/2026 - Soutenance TN09 MoCapIA</a:t>
            </a:r>
            <a:endParaRPr lang="fr-FR" dirty="0"/>
          </a:p>
        </p:txBody>
      </p:sp>
      <p:sp>
        <p:nvSpPr>
          <p:cNvPr id="4" name="Espace réservé du numéro de diapositive 3">
            <a:extLst>
              <a:ext uri="{FF2B5EF4-FFF2-40B4-BE49-F238E27FC236}">
                <a16:creationId xmlns:a16="http://schemas.microsoft.com/office/drawing/2014/main" id="{4137BC7E-D534-6515-7216-06D32AA81049}"/>
              </a:ext>
            </a:extLst>
          </p:cNvPr>
          <p:cNvSpPr>
            <a:spLocks noGrp="1"/>
          </p:cNvSpPr>
          <p:nvPr>
            <p:ph type="sldNum" sz="quarter" idx="11"/>
          </p:nvPr>
        </p:nvSpPr>
        <p:spPr/>
        <p:txBody>
          <a:bodyPr/>
          <a:lstStyle/>
          <a:p>
            <a:fld id="{5FE832C7-580F-4527-9E2C-46AEE9BAF770}" type="slidenum">
              <a:rPr lang="fr-FR" smtClean="0"/>
              <a:t>13</a:t>
            </a:fld>
            <a:endParaRPr lang="fr-FR" dirty="0"/>
          </a:p>
        </p:txBody>
      </p:sp>
      <p:pic>
        <p:nvPicPr>
          <p:cNvPr id="8" name="Image 7">
            <a:extLst>
              <a:ext uri="{FF2B5EF4-FFF2-40B4-BE49-F238E27FC236}">
                <a16:creationId xmlns:a16="http://schemas.microsoft.com/office/drawing/2014/main" id="{B1C82E26-FAB9-686C-105B-646BF7E25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239479"/>
            <a:ext cx="6180667" cy="3572863"/>
          </a:xfrm>
          <a:prstGeom prst="rect">
            <a:avLst/>
          </a:prstGeom>
        </p:spPr>
      </p:pic>
      <p:pic>
        <p:nvPicPr>
          <p:cNvPr id="6" name="Image 5">
            <a:extLst>
              <a:ext uri="{FF2B5EF4-FFF2-40B4-BE49-F238E27FC236}">
                <a16:creationId xmlns:a16="http://schemas.microsoft.com/office/drawing/2014/main" id="{0FA3DB52-B333-91BB-50A5-A84373259A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1" y="2239479"/>
            <a:ext cx="6096000" cy="3558108"/>
          </a:xfrm>
          <a:prstGeom prst="rect">
            <a:avLst/>
          </a:prstGeom>
        </p:spPr>
      </p:pic>
      <p:sp>
        <p:nvSpPr>
          <p:cNvPr id="5" name="ZoneTexte 4">
            <a:extLst>
              <a:ext uri="{FF2B5EF4-FFF2-40B4-BE49-F238E27FC236}">
                <a16:creationId xmlns:a16="http://schemas.microsoft.com/office/drawing/2014/main" id="{2D828982-B628-3A4A-C958-94FD5324737C}"/>
              </a:ext>
            </a:extLst>
          </p:cNvPr>
          <p:cNvSpPr txBox="1"/>
          <p:nvPr/>
        </p:nvSpPr>
        <p:spPr>
          <a:xfrm>
            <a:off x="4432300" y="1372823"/>
            <a:ext cx="3327400" cy="461665"/>
          </a:xfrm>
          <a:prstGeom prst="rect">
            <a:avLst/>
          </a:prstGeom>
          <a:noFill/>
        </p:spPr>
        <p:txBody>
          <a:bodyPr wrap="square" rtlCol="0">
            <a:spAutoFit/>
          </a:bodyPr>
          <a:lstStyle/>
          <a:p>
            <a:pPr algn="ctr"/>
            <a:r>
              <a:rPr lang="fr-FR" sz="2400" dirty="0"/>
              <a:t>Autres filtres</a:t>
            </a:r>
          </a:p>
        </p:txBody>
      </p:sp>
    </p:spTree>
    <p:extLst>
      <p:ext uri="{BB962C8B-B14F-4D97-AF65-F5344CB8AC3E}">
        <p14:creationId xmlns:p14="http://schemas.microsoft.com/office/powerpoint/2010/main" val="4111110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3647EB-B1B9-6CF2-3871-FE17ED1746F0}"/>
              </a:ext>
            </a:extLst>
          </p:cNvPr>
          <p:cNvSpPr>
            <a:spLocks noGrp="1"/>
          </p:cNvSpPr>
          <p:nvPr>
            <p:ph type="title"/>
          </p:nvPr>
        </p:nvSpPr>
        <p:spPr/>
        <p:txBody>
          <a:bodyPr/>
          <a:lstStyle/>
          <a:p>
            <a:endParaRPr lang="fr-FR"/>
          </a:p>
        </p:txBody>
      </p:sp>
      <p:sp>
        <p:nvSpPr>
          <p:cNvPr id="3" name="Espace réservé du pied de page 2">
            <a:extLst>
              <a:ext uri="{FF2B5EF4-FFF2-40B4-BE49-F238E27FC236}">
                <a16:creationId xmlns:a16="http://schemas.microsoft.com/office/drawing/2014/main" id="{6D4672F0-26D9-A080-A874-25935CC5B8EC}"/>
              </a:ext>
            </a:extLst>
          </p:cNvPr>
          <p:cNvSpPr>
            <a:spLocks noGrp="1"/>
          </p:cNvSpPr>
          <p:nvPr>
            <p:ph type="ftr" sz="quarter" idx="10"/>
          </p:nvPr>
        </p:nvSpPr>
        <p:spPr/>
        <p:txBody>
          <a:bodyPr/>
          <a:lstStyle/>
          <a:p>
            <a:r>
              <a:rPr lang="fr-FR"/>
              <a:t>26/02/2026 - Soutenance TN09 MoCapIA</a:t>
            </a:r>
            <a:endParaRPr lang="fr-FR" dirty="0"/>
          </a:p>
        </p:txBody>
      </p:sp>
      <p:sp>
        <p:nvSpPr>
          <p:cNvPr id="4" name="Espace réservé du numéro de diapositive 3">
            <a:extLst>
              <a:ext uri="{FF2B5EF4-FFF2-40B4-BE49-F238E27FC236}">
                <a16:creationId xmlns:a16="http://schemas.microsoft.com/office/drawing/2014/main" id="{9ECEE033-7DDB-650F-188D-77A65698DB1F}"/>
              </a:ext>
            </a:extLst>
          </p:cNvPr>
          <p:cNvSpPr>
            <a:spLocks noGrp="1"/>
          </p:cNvSpPr>
          <p:nvPr>
            <p:ph type="sldNum" sz="quarter" idx="11"/>
          </p:nvPr>
        </p:nvSpPr>
        <p:spPr/>
        <p:txBody>
          <a:bodyPr/>
          <a:lstStyle/>
          <a:p>
            <a:fld id="{5FE832C7-580F-4527-9E2C-46AEE9BAF770}" type="slidenum">
              <a:rPr lang="fr-FR" smtClean="0"/>
              <a:t>14</a:t>
            </a:fld>
            <a:endParaRPr lang="fr-FR" dirty="0"/>
          </a:p>
        </p:txBody>
      </p:sp>
      <p:pic>
        <p:nvPicPr>
          <p:cNvPr id="20" name="Image 19">
            <a:extLst>
              <a:ext uri="{FF2B5EF4-FFF2-40B4-BE49-F238E27FC236}">
                <a16:creationId xmlns:a16="http://schemas.microsoft.com/office/drawing/2014/main" id="{57EA4D51-747F-DF66-B802-946679BEE6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019" y="2015067"/>
            <a:ext cx="6019272" cy="3567131"/>
          </a:xfrm>
          <a:prstGeom prst="rect">
            <a:avLst/>
          </a:prstGeom>
        </p:spPr>
      </p:pic>
      <p:pic>
        <p:nvPicPr>
          <p:cNvPr id="18" name="Image 17">
            <a:extLst>
              <a:ext uri="{FF2B5EF4-FFF2-40B4-BE49-F238E27FC236}">
                <a16:creationId xmlns:a16="http://schemas.microsoft.com/office/drawing/2014/main" id="{8D2AF204-B5EB-4750-5D8F-BED9B36F2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15066"/>
            <a:ext cx="5954908" cy="3567131"/>
          </a:xfrm>
          <a:prstGeom prst="rect">
            <a:avLst/>
          </a:prstGeom>
        </p:spPr>
      </p:pic>
      <p:sp>
        <p:nvSpPr>
          <p:cNvPr id="5" name="ZoneTexte 4">
            <a:extLst>
              <a:ext uri="{FF2B5EF4-FFF2-40B4-BE49-F238E27FC236}">
                <a16:creationId xmlns:a16="http://schemas.microsoft.com/office/drawing/2014/main" id="{0EE9A77E-0C18-F7CA-23AD-319C2789F698}"/>
              </a:ext>
            </a:extLst>
          </p:cNvPr>
          <p:cNvSpPr txBox="1"/>
          <p:nvPr/>
        </p:nvSpPr>
        <p:spPr>
          <a:xfrm>
            <a:off x="4432300" y="1372823"/>
            <a:ext cx="3327400" cy="461665"/>
          </a:xfrm>
          <a:prstGeom prst="rect">
            <a:avLst/>
          </a:prstGeom>
          <a:noFill/>
        </p:spPr>
        <p:txBody>
          <a:bodyPr wrap="square" rtlCol="0">
            <a:spAutoFit/>
          </a:bodyPr>
          <a:lstStyle/>
          <a:p>
            <a:pPr algn="ctr"/>
            <a:r>
              <a:rPr lang="fr-FR" sz="2400" dirty="0"/>
              <a:t>Autres filtres</a:t>
            </a:r>
          </a:p>
        </p:txBody>
      </p:sp>
    </p:spTree>
    <p:extLst>
      <p:ext uri="{BB962C8B-B14F-4D97-AF65-F5344CB8AC3E}">
        <p14:creationId xmlns:p14="http://schemas.microsoft.com/office/powerpoint/2010/main" val="2482125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67324A-9563-AB16-0EF4-E7DBF4865461}"/>
              </a:ext>
            </a:extLst>
          </p:cNvPr>
          <p:cNvSpPr>
            <a:spLocks noGrp="1"/>
          </p:cNvSpPr>
          <p:nvPr>
            <p:ph type="title"/>
          </p:nvPr>
        </p:nvSpPr>
        <p:spPr/>
        <p:txBody>
          <a:bodyPr/>
          <a:lstStyle/>
          <a:p>
            <a:endParaRPr lang="fr-FR"/>
          </a:p>
        </p:txBody>
      </p:sp>
      <p:sp>
        <p:nvSpPr>
          <p:cNvPr id="3" name="Espace réservé du pied de page 2">
            <a:extLst>
              <a:ext uri="{FF2B5EF4-FFF2-40B4-BE49-F238E27FC236}">
                <a16:creationId xmlns:a16="http://schemas.microsoft.com/office/drawing/2014/main" id="{DE65BA45-6B7F-A618-148F-BFFD65E9EFC3}"/>
              </a:ext>
            </a:extLst>
          </p:cNvPr>
          <p:cNvSpPr>
            <a:spLocks noGrp="1"/>
          </p:cNvSpPr>
          <p:nvPr>
            <p:ph type="ftr" sz="quarter" idx="10"/>
          </p:nvPr>
        </p:nvSpPr>
        <p:spPr/>
        <p:txBody>
          <a:bodyPr/>
          <a:lstStyle/>
          <a:p>
            <a:r>
              <a:rPr lang="fr-FR"/>
              <a:t>26/02/2026 - Soutenance TN09 MoCapIA</a:t>
            </a:r>
            <a:endParaRPr lang="fr-FR" dirty="0"/>
          </a:p>
        </p:txBody>
      </p:sp>
      <p:sp>
        <p:nvSpPr>
          <p:cNvPr id="4" name="Espace réservé du numéro de diapositive 3">
            <a:extLst>
              <a:ext uri="{FF2B5EF4-FFF2-40B4-BE49-F238E27FC236}">
                <a16:creationId xmlns:a16="http://schemas.microsoft.com/office/drawing/2014/main" id="{17DC06A3-2C40-6F4B-5FDA-05B2903E7F84}"/>
              </a:ext>
            </a:extLst>
          </p:cNvPr>
          <p:cNvSpPr>
            <a:spLocks noGrp="1"/>
          </p:cNvSpPr>
          <p:nvPr>
            <p:ph type="sldNum" sz="quarter" idx="11"/>
          </p:nvPr>
        </p:nvSpPr>
        <p:spPr/>
        <p:txBody>
          <a:bodyPr/>
          <a:lstStyle/>
          <a:p>
            <a:fld id="{5FE832C7-580F-4527-9E2C-46AEE9BAF770}" type="slidenum">
              <a:rPr lang="fr-FR" smtClean="0"/>
              <a:t>15</a:t>
            </a:fld>
            <a:endParaRPr lang="fr-FR" dirty="0"/>
          </a:p>
        </p:txBody>
      </p:sp>
      <p:sp>
        <p:nvSpPr>
          <p:cNvPr id="5" name="ZoneTexte 4">
            <a:extLst>
              <a:ext uri="{FF2B5EF4-FFF2-40B4-BE49-F238E27FC236}">
                <a16:creationId xmlns:a16="http://schemas.microsoft.com/office/drawing/2014/main" id="{2E46310B-228D-14A4-89D9-D92753092277}"/>
              </a:ext>
            </a:extLst>
          </p:cNvPr>
          <p:cNvSpPr txBox="1"/>
          <p:nvPr/>
        </p:nvSpPr>
        <p:spPr>
          <a:xfrm>
            <a:off x="3504481" y="932557"/>
            <a:ext cx="4432300" cy="461665"/>
          </a:xfrm>
          <a:prstGeom prst="rect">
            <a:avLst/>
          </a:prstGeom>
          <a:noFill/>
        </p:spPr>
        <p:txBody>
          <a:bodyPr wrap="square" rtlCol="0">
            <a:spAutoFit/>
          </a:bodyPr>
          <a:lstStyle/>
          <a:p>
            <a:pPr algn="ctr"/>
            <a:r>
              <a:rPr lang="fr-FR" sz="2400" dirty="0"/>
              <a:t>SAM 3D – problème d’échelle</a:t>
            </a:r>
          </a:p>
        </p:txBody>
      </p:sp>
      <p:pic>
        <p:nvPicPr>
          <p:cNvPr id="7" name="Image 6">
            <a:extLst>
              <a:ext uri="{FF2B5EF4-FFF2-40B4-BE49-F238E27FC236}">
                <a16:creationId xmlns:a16="http://schemas.microsoft.com/office/drawing/2014/main" id="{7BF0F19A-F395-F4BC-1D63-B2A79D0B85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0631" y="1435562"/>
            <a:ext cx="5978947" cy="5030479"/>
          </a:xfrm>
          <a:prstGeom prst="rect">
            <a:avLst/>
          </a:prstGeom>
        </p:spPr>
      </p:pic>
      <p:pic>
        <p:nvPicPr>
          <p:cNvPr id="9" name="Image 8">
            <a:extLst>
              <a:ext uri="{FF2B5EF4-FFF2-40B4-BE49-F238E27FC236}">
                <a16:creationId xmlns:a16="http://schemas.microsoft.com/office/drawing/2014/main" id="{E23BA33B-B13E-08A6-5F81-14E355BE0B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957" y="1576696"/>
            <a:ext cx="3514629" cy="4462733"/>
          </a:xfrm>
          <a:prstGeom prst="rect">
            <a:avLst/>
          </a:prstGeom>
        </p:spPr>
      </p:pic>
      <p:sp>
        <p:nvSpPr>
          <p:cNvPr id="10" name="ZoneTexte 9">
            <a:extLst>
              <a:ext uri="{FF2B5EF4-FFF2-40B4-BE49-F238E27FC236}">
                <a16:creationId xmlns:a16="http://schemas.microsoft.com/office/drawing/2014/main" id="{845FF478-323A-464C-FA91-2E9D0EF57805}"/>
              </a:ext>
            </a:extLst>
          </p:cNvPr>
          <p:cNvSpPr txBox="1"/>
          <p:nvPr/>
        </p:nvSpPr>
        <p:spPr>
          <a:xfrm>
            <a:off x="1591733" y="6196503"/>
            <a:ext cx="2650067" cy="369332"/>
          </a:xfrm>
          <a:prstGeom prst="rect">
            <a:avLst/>
          </a:prstGeom>
          <a:noFill/>
        </p:spPr>
        <p:txBody>
          <a:bodyPr wrap="square" rtlCol="0">
            <a:spAutoFit/>
          </a:bodyPr>
          <a:lstStyle/>
          <a:p>
            <a:r>
              <a:rPr lang="fr-FR" dirty="0"/>
              <a:t>Sujet de 1890 mm</a:t>
            </a:r>
          </a:p>
        </p:txBody>
      </p:sp>
    </p:spTree>
    <p:extLst>
      <p:ext uri="{BB962C8B-B14F-4D97-AF65-F5344CB8AC3E}">
        <p14:creationId xmlns:p14="http://schemas.microsoft.com/office/powerpoint/2010/main" val="850274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461FAD-88CE-3EDE-D947-DE359C73D056}"/>
              </a:ext>
            </a:extLst>
          </p:cNvPr>
          <p:cNvSpPr>
            <a:spLocks noGrp="1"/>
          </p:cNvSpPr>
          <p:nvPr>
            <p:ph type="title"/>
          </p:nvPr>
        </p:nvSpPr>
        <p:spPr/>
        <p:txBody>
          <a:bodyPr/>
          <a:lstStyle/>
          <a:p>
            <a:endParaRPr lang="fr-FR"/>
          </a:p>
        </p:txBody>
      </p:sp>
      <p:sp>
        <p:nvSpPr>
          <p:cNvPr id="3" name="Espace réservé du pied de page 2">
            <a:extLst>
              <a:ext uri="{FF2B5EF4-FFF2-40B4-BE49-F238E27FC236}">
                <a16:creationId xmlns:a16="http://schemas.microsoft.com/office/drawing/2014/main" id="{3D0B0B00-CC0C-9B8E-89EC-DACE29A57F21}"/>
              </a:ext>
            </a:extLst>
          </p:cNvPr>
          <p:cNvSpPr>
            <a:spLocks noGrp="1"/>
          </p:cNvSpPr>
          <p:nvPr>
            <p:ph type="ftr" sz="quarter" idx="10"/>
          </p:nvPr>
        </p:nvSpPr>
        <p:spPr/>
        <p:txBody>
          <a:bodyPr/>
          <a:lstStyle/>
          <a:p>
            <a:r>
              <a:rPr lang="fr-FR"/>
              <a:t>26/02/2026 - Soutenance TN09 MoCapIA</a:t>
            </a:r>
            <a:endParaRPr lang="fr-FR" dirty="0"/>
          </a:p>
        </p:txBody>
      </p:sp>
      <p:sp>
        <p:nvSpPr>
          <p:cNvPr id="4" name="Espace réservé du numéro de diapositive 3">
            <a:extLst>
              <a:ext uri="{FF2B5EF4-FFF2-40B4-BE49-F238E27FC236}">
                <a16:creationId xmlns:a16="http://schemas.microsoft.com/office/drawing/2014/main" id="{E078B535-873B-B89C-1A71-F83872BF5331}"/>
              </a:ext>
            </a:extLst>
          </p:cNvPr>
          <p:cNvSpPr>
            <a:spLocks noGrp="1"/>
          </p:cNvSpPr>
          <p:nvPr>
            <p:ph type="sldNum" sz="quarter" idx="11"/>
          </p:nvPr>
        </p:nvSpPr>
        <p:spPr/>
        <p:txBody>
          <a:bodyPr/>
          <a:lstStyle/>
          <a:p>
            <a:fld id="{5FE832C7-580F-4527-9E2C-46AEE9BAF770}" type="slidenum">
              <a:rPr lang="fr-FR" smtClean="0"/>
              <a:t>16</a:t>
            </a:fld>
            <a:endParaRPr lang="fr-FR" dirty="0"/>
          </a:p>
        </p:txBody>
      </p:sp>
      <p:pic>
        <p:nvPicPr>
          <p:cNvPr id="6" name="Image 5">
            <a:extLst>
              <a:ext uri="{FF2B5EF4-FFF2-40B4-BE49-F238E27FC236}">
                <a16:creationId xmlns:a16="http://schemas.microsoft.com/office/drawing/2014/main" id="{14647758-E846-38A6-5623-6F77A7645F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5550" y="1058862"/>
            <a:ext cx="9048750" cy="5278438"/>
          </a:xfrm>
          <a:prstGeom prst="rect">
            <a:avLst/>
          </a:prstGeom>
        </p:spPr>
      </p:pic>
      <p:sp>
        <p:nvSpPr>
          <p:cNvPr id="7" name="Rectangle 6">
            <a:extLst>
              <a:ext uri="{FF2B5EF4-FFF2-40B4-BE49-F238E27FC236}">
                <a16:creationId xmlns:a16="http://schemas.microsoft.com/office/drawing/2014/main" id="{8D42071E-62DD-7174-7101-7FAAD27BB68F}"/>
              </a:ext>
            </a:extLst>
          </p:cNvPr>
          <p:cNvSpPr/>
          <p:nvPr/>
        </p:nvSpPr>
        <p:spPr>
          <a:xfrm>
            <a:off x="5918200" y="1422400"/>
            <a:ext cx="4083050" cy="20066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9" name="Connecteur droit avec flèche 8">
            <a:extLst>
              <a:ext uri="{FF2B5EF4-FFF2-40B4-BE49-F238E27FC236}">
                <a16:creationId xmlns:a16="http://schemas.microsoft.com/office/drawing/2014/main" id="{0C643409-11DA-9807-D77E-81CBEF199581}"/>
              </a:ext>
            </a:extLst>
          </p:cNvPr>
          <p:cNvCxnSpPr>
            <a:cxnSpLocks/>
          </p:cNvCxnSpPr>
          <p:nvPr/>
        </p:nvCxnSpPr>
        <p:spPr>
          <a:xfrm flipV="1">
            <a:off x="6673850" y="2203450"/>
            <a:ext cx="0" cy="57150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DBD3C83E-F7A8-D910-5A55-EC56D66D8C7D}"/>
              </a:ext>
            </a:extLst>
          </p:cNvPr>
          <p:cNvCxnSpPr>
            <a:cxnSpLocks/>
          </p:cNvCxnSpPr>
          <p:nvPr/>
        </p:nvCxnSpPr>
        <p:spPr>
          <a:xfrm flipV="1">
            <a:off x="7696200" y="1911350"/>
            <a:ext cx="0" cy="94615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F3E7E965-DE17-7C59-3318-829B6D2077CB}"/>
              </a:ext>
            </a:extLst>
          </p:cNvPr>
          <p:cNvCxnSpPr>
            <a:cxnSpLocks/>
          </p:cNvCxnSpPr>
          <p:nvPr/>
        </p:nvCxnSpPr>
        <p:spPr>
          <a:xfrm flipV="1">
            <a:off x="8739188" y="2082800"/>
            <a:ext cx="0" cy="158750"/>
          </a:xfrm>
          <a:prstGeom prst="straightConnector1">
            <a:avLst/>
          </a:prstGeom>
          <a:ln w="9525">
            <a:solidFill>
              <a:srgbClr val="FF0000"/>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11203410-7652-9F52-D900-EEAEF1B5C496}"/>
              </a:ext>
            </a:extLst>
          </p:cNvPr>
          <p:cNvCxnSpPr>
            <a:cxnSpLocks/>
          </p:cNvCxnSpPr>
          <p:nvPr/>
        </p:nvCxnSpPr>
        <p:spPr>
          <a:xfrm flipV="1">
            <a:off x="9791699" y="1955800"/>
            <a:ext cx="0" cy="52070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ZoneTexte 21">
            <a:extLst>
              <a:ext uri="{FF2B5EF4-FFF2-40B4-BE49-F238E27FC236}">
                <a16:creationId xmlns:a16="http://schemas.microsoft.com/office/drawing/2014/main" id="{AC9F4D57-F30F-B5BB-7FA5-6FB1337755E0}"/>
              </a:ext>
            </a:extLst>
          </p:cNvPr>
          <p:cNvSpPr txBox="1"/>
          <p:nvPr/>
        </p:nvSpPr>
        <p:spPr>
          <a:xfrm>
            <a:off x="4432300" y="706012"/>
            <a:ext cx="3327400" cy="461665"/>
          </a:xfrm>
          <a:prstGeom prst="rect">
            <a:avLst/>
          </a:prstGeom>
          <a:noFill/>
        </p:spPr>
        <p:txBody>
          <a:bodyPr wrap="square" rtlCol="0">
            <a:spAutoFit/>
          </a:bodyPr>
          <a:lstStyle/>
          <a:p>
            <a:pPr algn="ctr"/>
            <a:r>
              <a:rPr lang="fr-FR" sz="2400" dirty="0"/>
              <a:t>Autres filtres</a:t>
            </a:r>
          </a:p>
        </p:txBody>
      </p:sp>
      <p:sp>
        <p:nvSpPr>
          <p:cNvPr id="23" name="ZoneTexte 22">
            <a:extLst>
              <a:ext uri="{FF2B5EF4-FFF2-40B4-BE49-F238E27FC236}">
                <a16:creationId xmlns:a16="http://schemas.microsoft.com/office/drawing/2014/main" id="{5107FF85-AFD5-F4B7-5625-AAF7BAFCA583}"/>
              </a:ext>
            </a:extLst>
          </p:cNvPr>
          <p:cNvSpPr txBox="1"/>
          <p:nvPr/>
        </p:nvSpPr>
        <p:spPr>
          <a:xfrm>
            <a:off x="7537450" y="3537842"/>
            <a:ext cx="3879850" cy="646331"/>
          </a:xfrm>
          <a:prstGeom prst="rect">
            <a:avLst/>
          </a:prstGeom>
          <a:solidFill>
            <a:schemeClr val="bg2">
              <a:lumMod val="90000"/>
            </a:schemeClr>
          </a:solidFill>
        </p:spPr>
        <p:txBody>
          <a:bodyPr wrap="square" rtlCol="0">
            <a:spAutoFit/>
          </a:bodyPr>
          <a:lstStyle/>
          <a:p>
            <a:r>
              <a:rPr lang="fr-FR" dirty="0"/>
              <a:t>Grandes différences entre Pose2Sim et MoCapIA sur </a:t>
            </a:r>
            <a:r>
              <a:rPr lang="fr-FR" dirty="0">
                <a:solidFill>
                  <a:srgbClr val="FF0000"/>
                </a:solidFill>
              </a:rPr>
              <a:t>le bas du corps</a:t>
            </a:r>
          </a:p>
        </p:txBody>
      </p:sp>
    </p:spTree>
    <p:extLst>
      <p:ext uri="{BB962C8B-B14F-4D97-AF65-F5344CB8AC3E}">
        <p14:creationId xmlns:p14="http://schemas.microsoft.com/office/powerpoint/2010/main" val="3373295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6E8346-D56D-E84C-F1FE-ACDF8F737B61}"/>
              </a:ext>
            </a:extLst>
          </p:cNvPr>
          <p:cNvSpPr>
            <a:spLocks noGrp="1"/>
          </p:cNvSpPr>
          <p:nvPr>
            <p:ph type="title"/>
          </p:nvPr>
        </p:nvSpPr>
        <p:spPr/>
        <p:txBody>
          <a:bodyPr/>
          <a:lstStyle/>
          <a:p>
            <a:endParaRPr lang="fr-FR"/>
          </a:p>
        </p:txBody>
      </p:sp>
      <p:sp>
        <p:nvSpPr>
          <p:cNvPr id="3" name="Espace réservé du pied de page 2">
            <a:extLst>
              <a:ext uri="{FF2B5EF4-FFF2-40B4-BE49-F238E27FC236}">
                <a16:creationId xmlns:a16="http://schemas.microsoft.com/office/drawing/2014/main" id="{F3A99A7C-D78E-4F1D-B951-C780EAF276A2}"/>
              </a:ext>
            </a:extLst>
          </p:cNvPr>
          <p:cNvSpPr>
            <a:spLocks noGrp="1"/>
          </p:cNvSpPr>
          <p:nvPr>
            <p:ph type="ftr" sz="quarter" idx="10"/>
          </p:nvPr>
        </p:nvSpPr>
        <p:spPr/>
        <p:txBody>
          <a:bodyPr/>
          <a:lstStyle/>
          <a:p>
            <a:r>
              <a:rPr lang="fr-FR"/>
              <a:t>26/02/2026 - Soutenance TN09 MoCapIA</a:t>
            </a:r>
            <a:endParaRPr lang="fr-FR" dirty="0"/>
          </a:p>
        </p:txBody>
      </p:sp>
      <p:sp>
        <p:nvSpPr>
          <p:cNvPr id="4" name="Espace réservé du numéro de diapositive 3">
            <a:extLst>
              <a:ext uri="{FF2B5EF4-FFF2-40B4-BE49-F238E27FC236}">
                <a16:creationId xmlns:a16="http://schemas.microsoft.com/office/drawing/2014/main" id="{9959FAF9-346C-6F54-821A-1E8A1DB7DBF8}"/>
              </a:ext>
            </a:extLst>
          </p:cNvPr>
          <p:cNvSpPr>
            <a:spLocks noGrp="1"/>
          </p:cNvSpPr>
          <p:nvPr>
            <p:ph type="sldNum" sz="quarter" idx="11"/>
          </p:nvPr>
        </p:nvSpPr>
        <p:spPr/>
        <p:txBody>
          <a:bodyPr/>
          <a:lstStyle/>
          <a:p>
            <a:fld id="{5FE832C7-580F-4527-9E2C-46AEE9BAF770}" type="slidenum">
              <a:rPr lang="fr-FR" smtClean="0"/>
              <a:t>17</a:t>
            </a:fld>
            <a:endParaRPr lang="fr-FR" dirty="0"/>
          </a:p>
        </p:txBody>
      </p:sp>
      <p:pic>
        <p:nvPicPr>
          <p:cNvPr id="6" name="Image 5">
            <a:extLst>
              <a:ext uri="{FF2B5EF4-FFF2-40B4-BE49-F238E27FC236}">
                <a16:creationId xmlns:a16="http://schemas.microsoft.com/office/drawing/2014/main" id="{8668D52F-080C-936B-EEBB-865BC6C54F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8339" y="988004"/>
            <a:ext cx="6015322" cy="4472751"/>
          </a:xfrm>
          <a:prstGeom prst="rect">
            <a:avLst/>
          </a:prstGeom>
        </p:spPr>
      </p:pic>
      <p:sp>
        <p:nvSpPr>
          <p:cNvPr id="7" name="ZoneTexte 6">
            <a:extLst>
              <a:ext uri="{FF2B5EF4-FFF2-40B4-BE49-F238E27FC236}">
                <a16:creationId xmlns:a16="http://schemas.microsoft.com/office/drawing/2014/main" id="{05762033-4F63-AAFE-E2BC-2FA23CD4D49D}"/>
              </a:ext>
            </a:extLst>
          </p:cNvPr>
          <p:cNvSpPr txBox="1"/>
          <p:nvPr/>
        </p:nvSpPr>
        <p:spPr>
          <a:xfrm>
            <a:off x="2197100" y="5577608"/>
            <a:ext cx="7797800" cy="584775"/>
          </a:xfrm>
          <a:prstGeom prst="rect">
            <a:avLst/>
          </a:prstGeom>
          <a:noFill/>
          <a:ln>
            <a:solidFill>
              <a:schemeClr val="tx1">
                <a:lumMod val="95000"/>
                <a:lumOff val="5000"/>
              </a:schemeClr>
            </a:solidFill>
          </a:ln>
        </p:spPr>
        <p:txBody>
          <a:bodyPr wrap="square" rtlCol="0">
            <a:spAutoFit/>
          </a:bodyPr>
          <a:lstStyle/>
          <a:p>
            <a:pPr algn="ctr"/>
            <a:r>
              <a:rPr lang="en-US" sz="1600" dirty="0"/>
              <a:t>Tao Jiang et al. “</a:t>
            </a:r>
            <a:r>
              <a:rPr lang="en-US" sz="1600" dirty="0" err="1"/>
              <a:t>RTMPose</a:t>
            </a:r>
            <a:r>
              <a:rPr lang="en-US" sz="1600" dirty="0"/>
              <a:t> : Real-Time Multi-Person Pose Estimation based on </a:t>
            </a:r>
            <a:r>
              <a:rPr lang="en-US" sz="1600" dirty="0" err="1"/>
              <a:t>MMPose</a:t>
            </a:r>
            <a:r>
              <a:rPr lang="en-US" sz="1600" dirty="0"/>
              <a:t>”.</a:t>
            </a:r>
          </a:p>
          <a:p>
            <a:pPr algn="ctr"/>
            <a:r>
              <a:rPr lang="en-US" sz="1600" dirty="0"/>
              <a:t>In : </a:t>
            </a:r>
            <a:r>
              <a:rPr lang="en-US" sz="1600" dirty="0" err="1"/>
              <a:t>arXiv</a:t>
            </a:r>
            <a:r>
              <a:rPr lang="en-US" sz="1600" dirty="0"/>
              <a:t> (2023) (cf. p. 15, 16, 35).</a:t>
            </a:r>
            <a:endParaRPr lang="fr-FR" sz="1600" dirty="0"/>
          </a:p>
        </p:txBody>
      </p:sp>
    </p:spTree>
    <p:extLst>
      <p:ext uri="{BB962C8B-B14F-4D97-AF65-F5344CB8AC3E}">
        <p14:creationId xmlns:p14="http://schemas.microsoft.com/office/powerpoint/2010/main" val="176703190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1605</Words>
  <Application>Microsoft Office PowerPoint</Application>
  <PresentationFormat>Grand écran</PresentationFormat>
  <Paragraphs>255</Paragraphs>
  <Slides>17</Slides>
  <Notes>7</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17</vt:i4>
      </vt:variant>
    </vt:vector>
  </HeadingPairs>
  <TitlesOfParts>
    <vt:vector size="22" baseType="lpstr">
      <vt:lpstr>Arial</vt:lpstr>
      <vt:lpstr>Calibri</vt:lpstr>
      <vt:lpstr>Tw Cen MT</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Masss -_-</dc:creator>
  <cp:lastModifiedBy>Masss -_-</cp:lastModifiedBy>
  <cp:revision>77</cp:revision>
  <dcterms:created xsi:type="dcterms:W3CDTF">2026-01-29T10:32:09Z</dcterms:created>
  <dcterms:modified xsi:type="dcterms:W3CDTF">2026-02-13T14:05:15Z</dcterms:modified>
</cp:coreProperties>
</file>