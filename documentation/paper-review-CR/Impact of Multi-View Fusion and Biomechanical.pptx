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8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7710F-7CAF-4AC4-99F4-A6A621696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FDAF50-971F-4581-B037-9AA8078F5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13565D-CFFF-4CBD-9733-6B9E9996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68830-2D5F-446C-8641-27EDA60C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3C674-899D-42DB-869F-BA9B0245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60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78CBE-BF88-413D-9ED3-F330F7C4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12AB85-6560-4162-BB11-281C567F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06265B-0533-4B44-8EB2-5474D816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1787CF-08AC-4C3E-A290-C1F69AE4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F90A99-1568-4745-A57F-E1C50CC9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2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4254C-CAD4-430C-B054-3E601D95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63CF9A-7B97-4019-8D97-FF3CBBA45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83BF24-ECDB-4561-BA5F-3558480D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A7D7AA-0675-404F-9C63-FA1B02E3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568D82-EF77-4D62-AF33-EB7848AA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72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A7C24-2282-4A72-BE12-E420492C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6BCD95-7604-4741-9098-3C70B2C52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2C8653-F13B-4BFC-846C-16D3AC586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3908DD-620F-4785-A957-C8D55ED4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511AB4-9BE7-4024-A132-1F8EB4F0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2F5C7A-9F36-4988-BFAC-2FAB3710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86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6C97E-4EF5-4D0B-B6A9-547B680E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3921AE-FD09-45DC-B98F-4283C8446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ADD6D4-2BB6-446C-82AE-E21751769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F2CC10-C076-498C-B745-B68D8AC64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B71E2B-6ACF-4964-BF9F-960E1A3F6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687D24B-B225-48FB-BE50-C804CF47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4EE8E9-5953-4276-A278-6040685A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8B0182-666A-4439-A283-6C36666A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42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229E9-B51A-4903-9CA8-140E9619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1C26DD-9035-474E-8855-812CC15B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7F4ED3-0283-49C0-BC49-BCF6AA4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38B52F-CA7C-4ACE-A4C3-6A46C5F0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7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5CE21E-ED58-4EC5-8868-2F5B2733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F9040E-90C1-4D47-8B7E-3E15584C2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05BAD6-7A9E-4C59-83F7-63FEF650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0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19C1C-19EC-4B8B-AF21-ED16BA69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88016D-2D52-4124-8B90-1C0C81920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CC5CEC-6EFD-4D94-ADCD-7BE7658DA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F9F188-63AF-474A-B4B2-FCD1C42D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CC1B68-32B0-4A56-AECE-50128FC9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D06C95-D19E-4B53-9A7A-43465557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56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B7282-FED0-4AC7-BE1A-CF5ED506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7300D74-421E-4518-995A-843847C28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705F4F-5A0B-49FB-834B-5E76486B9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388378-12F3-445B-89CC-3AC6D21C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762FFF-CBA8-42F5-89F1-852A954A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17757B-A42B-4875-8EA6-1D389374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81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091EC-38A6-42DD-8F23-F54F9865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00968B-B177-4848-90E0-9AA23E6C2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29A399-8FDC-47B1-B7D8-5F5B3238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7F3CAE-D53D-4303-ABCB-53BCBF8F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9EBC5D-D34A-477A-91FD-9DF3F0E0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87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927EF17-AA68-4D71-A7AB-7525A4FB1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466B60-DC0B-49D2-9590-ED1C99EDC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308C69-6BA9-4820-9F4B-9219BCE1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FC09B-C939-4F16-B0CF-5782CF00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C7AAAB-489C-41DB-87DA-7E005D601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53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979015-7221-4309-AEFB-BE169C7B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1B8FF8-5005-4B71-8512-7135C63D5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A3BCAC-5072-4D34-AC41-C8A5D4F7F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B402D-79F6-45BB-B490-B286944AB51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35679-28BF-41C7-B7F4-E2FD988FE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5EF60E-75A9-4183-8958-C8C0B96F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881E6-43D0-4A3C-882E-FE43C3185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9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24709-7290-45D2-A1E2-F10AD3B7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859536"/>
            <a:ext cx="10963656" cy="3217355"/>
          </a:xfrm>
        </p:spPr>
        <p:txBody>
          <a:bodyPr>
            <a:normAutofit fontScale="90000"/>
          </a:bodyPr>
          <a:lstStyle/>
          <a:p>
            <a:r>
              <a:rPr lang="en-US" dirty="0"/>
              <a:t>Impact of Multi-View Fusion and Biomechanical</a:t>
            </a:r>
            <a:br>
              <a:rPr lang="en-US" dirty="0"/>
            </a:br>
            <a:r>
              <a:rPr lang="en-US" dirty="0"/>
              <a:t>Modeling on Markerless Motion Tracking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46C5C2E-1E9E-4979-B334-85B1511C3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8308" y="4982782"/>
            <a:ext cx="4215384" cy="403034"/>
          </a:xfrm>
        </p:spPr>
        <p:txBody>
          <a:bodyPr>
            <a:normAutofit lnSpcReduction="10000"/>
          </a:bodyPr>
          <a:lstStyle/>
          <a:p>
            <a:r>
              <a:rPr lang="fr-FR" dirty="0" err="1"/>
              <a:t>Review</a:t>
            </a:r>
            <a:r>
              <a:rPr lang="fr-FR" dirty="0"/>
              <a:t> – 20/11/2025</a:t>
            </a:r>
          </a:p>
        </p:txBody>
      </p:sp>
    </p:spTree>
    <p:extLst>
      <p:ext uri="{BB962C8B-B14F-4D97-AF65-F5344CB8AC3E}">
        <p14:creationId xmlns:p14="http://schemas.microsoft.com/office/powerpoint/2010/main" val="207571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B73325-A63D-4907-9D06-B24E5F0AE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77196"/>
              </p:ext>
            </p:extLst>
          </p:nvPr>
        </p:nvGraphicFramePr>
        <p:xfrm>
          <a:off x="440436" y="1070924"/>
          <a:ext cx="11391900" cy="532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620">
                  <a:extLst>
                    <a:ext uri="{9D8B030D-6E8A-4147-A177-3AD203B41FA5}">
                      <a16:colId xmlns:a16="http://schemas.microsoft.com/office/drawing/2014/main" val="6504659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813313718"/>
                    </a:ext>
                  </a:extLst>
                </a:gridCol>
              </a:tblGrid>
              <a:tr h="52927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1 - Impact of </a:t>
                      </a:r>
                      <a:r>
                        <a:rPr lang="fr-FR" dirty="0" err="1"/>
                        <a:t>biomechanical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modelisation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2 - Multi-</a:t>
                      </a:r>
                      <a:r>
                        <a:rPr lang="fr-FR" dirty="0" err="1"/>
                        <a:t>view</a:t>
                      </a:r>
                      <a:r>
                        <a:rPr lang="fr-FR" dirty="0"/>
                        <a:t> vs Single-</a:t>
                      </a:r>
                      <a:r>
                        <a:rPr lang="fr-FR" dirty="0" err="1"/>
                        <a:t>view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985682"/>
                  </a:ext>
                </a:extLst>
              </a:tr>
              <a:tr h="4790883">
                <a:tc>
                  <a:txBody>
                    <a:bodyPr/>
                    <a:lstStyle/>
                    <a:p>
                      <a:pPr algn="l"/>
                      <a:endParaRPr lang="fr-FR" dirty="0"/>
                    </a:p>
                    <a:p>
                      <a:pPr algn="l"/>
                      <a:endParaRPr lang="fr-FR" dirty="0"/>
                    </a:p>
                    <a:p>
                      <a:pPr algn="l"/>
                      <a:r>
                        <a:rPr lang="fr-FR" dirty="0" err="1"/>
                        <a:t>Biomechanical</a:t>
                      </a:r>
                      <a:r>
                        <a:rPr lang="fr-FR" dirty="0"/>
                        <a:t> model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</a:t>
                      </a:r>
                    </a:p>
                    <a:p>
                      <a:pPr algn="l"/>
                      <a:r>
                        <a:rPr lang="fr-FR" dirty="0"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fr-FR" sz="2500" b="1" u="sng" dirty="0">
                          <a:sym typeface="Wingdings" panose="05000000000000000000" pitchFamily="2" charset="2"/>
                        </a:rPr>
                        <a:t>Hard</a:t>
                      </a:r>
                      <a:r>
                        <a:rPr lang="fr-FR" sz="2500" u="sng" dirty="0">
                          <a:sym typeface="Wingdings" panose="05000000000000000000" pitchFamily="2" charset="2"/>
                        </a:rPr>
                        <a:t> joint </a:t>
                      </a:r>
                      <a:r>
                        <a:rPr lang="fr-FR" sz="2500" u="sng" dirty="0" err="1">
                          <a:sym typeface="Wingdings" panose="05000000000000000000" pitchFamily="2" charset="2"/>
                        </a:rPr>
                        <a:t>constraints</a:t>
                      </a:r>
                      <a:endParaRPr lang="fr-FR" sz="2500" u="sng" dirty="0">
                        <a:sym typeface="Wingdings" panose="05000000000000000000" pitchFamily="2" charset="2"/>
                      </a:endParaRPr>
                    </a:p>
                    <a:p>
                      <a:pPr algn="l"/>
                      <a:endParaRPr lang="fr-FR" dirty="0">
                        <a:sym typeface="Wingdings" panose="05000000000000000000" pitchFamily="2" charset="2"/>
                      </a:endParaRPr>
                    </a:p>
                    <a:p>
                      <a:pPr algn="l"/>
                      <a:endParaRPr lang="fr-FR" dirty="0">
                        <a:sym typeface="Wingdings" panose="05000000000000000000" pitchFamily="2" charset="2"/>
                      </a:endParaRPr>
                    </a:p>
                    <a:p>
                      <a:pPr algn="l"/>
                      <a:endParaRPr lang="fr-FR" dirty="0">
                        <a:sym typeface="Wingdings" panose="05000000000000000000" pitchFamily="2" charset="2"/>
                      </a:endParaRPr>
                    </a:p>
                    <a:p>
                      <a:pPr algn="l"/>
                      <a:endParaRPr lang="fr-FR" dirty="0">
                        <a:sym typeface="Wingdings" panose="05000000000000000000" pitchFamily="2" charset="2"/>
                      </a:endParaRPr>
                    </a:p>
                    <a:p>
                      <a:pPr algn="l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02012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BF221F5-F890-4FD3-9857-7BAD6EBC5E61}"/>
              </a:ext>
            </a:extLst>
          </p:cNvPr>
          <p:cNvSpPr txBox="1"/>
          <p:nvPr/>
        </p:nvSpPr>
        <p:spPr>
          <a:xfrm>
            <a:off x="3310128" y="365760"/>
            <a:ext cx="4992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/>
              <a:t>Key </a:t>
            </a:r>
            <a:r>
              <a:rPr lang="fr-FR" sz="3000" dirty="0" err="1"/>
              <a:t>Hypotheses</a:t>
            </a:r>
            <a:endParaRPr lang="fr-FR" sz="3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6A6182-2E44-4EAB-978D-0E463AD0B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749" y="1746504"/>
            <a:ext cx="1423789" cy="126079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6B61C22-FD7C-4B05-A921-8D640F0FB41C}"/>
              </a:ext>
            </a:extLst>
          </p:cNvPr>
          <p:cNvSpPr txBox="1"/>
          <p:nvPr/>
        </p:nvSpPr>
        <p:spPr>
          <a:xfrm>
            <a:off x="6245352" y="1874520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13 single-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66A325-81AC-4C0C-A157-CDFFACECEEAF}"/>
              </a:ext>
            </a:extLst>
          </p:cNvPr>
          <p:cNvSpPr txBox="1"/>
          <p:nvPr/>
        </p:nvSpPr>
        <p:spPr>
          <a:xfrm>
            <a:off x="6245352" y="2540512"/>
            <a:ext cx="240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multi-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5CA89C4-E84B-4376-8FE8-E96BF1CAAF0D}"/>
              </a:ext>
            </a:extLst>
          </p:cNvPr>
          <p:cNvCxnSpPr>
            <a:cxnSpLocks/>
          </p:cNvCxnSpPr>
          <p:nvPr/>
        </p:nvCxnSpPr>
        <p:spPr>
          <a:xfrm flipH="1">
            <a:off x="6711696" y="3186843"/>
            <a:ext cx="118872" cy="562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BBBF29E8-4219-4163-8A6F-917D5619CA64}"/>
              </a:ext>
            </a:extLst>
          </p:cNvPr>
          <p:cNvSpPr txBox="1"/>
          <p:nvPr/>
        </p:nvSpPr>
        <p:spPr>
          <a:xfrm>
            <a:off x="6364224" y="3858768"/>
            <a:ext cx="1179576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Theida</a:t>
            </a:r>
            <a:r>
              <a:rPr lang="fr-FR" dirty="0"/>
              <a:t> 3D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ED89F6F-A509-48CB-AC49-181FF1950055}"/>
              </a:ext>
            </a:extLst>
          </p:cNvPr>
          <p:cNvCxnSpPr>
            <a:cxnSpLocks/>
          </p:cNvCxnSpPr>
          <p:nvPr/>
        </p:nvCxnSpPr>
        <p:spPr>
          <a:xfrm>
            <a:off x="7598664" y="2962744"/>
            <a:ext cx="704088" cy="466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46BB9683-1BF8-4851-9F3C-D2C80166E56B}"/>
              </a:ext>
            </a:extLst>
          </p:cNvPr>
          <p:cNvSpPr txBox="1"/>
          <p:nvPr/>
        </p:nvSpPr>
        <p:spPr>
          <a:xfrm>
            <a:off x="8060436" y="3580166"/>
            <a:ext cx="1627632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OpenCap</a:t>
            </a:r>
            <a:endParaRPr lang="fr-FR" dirty="0"/>
          </a:p>
          <a:p>
            <a:r>
              <a:rPr lang="fr-FR" dirty="0"/>
              <a:t>( ≈ </a:t>
            </a:r>
            <a:r>
              <a:rPr lang="fr-FR" dirty="0">
                <a:solidFill>
                  <a:srgbClr val="FF0000"/>
                </a:solidFill>
              </a:rPr>
              <a:t>MOCAPIA</a:t>
            </a:r>
            <a:r>
              <a:rPr lang="fr-FR" dirty="0"/>
              <a:t>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1182F15-BFB4-44DA-B94D-1C9E5665A199}"/>
              </a:ext>
            </a:extLst>
          </p:cNvPr>
          <p:cNvSpPr txBox="1"/>
          <p:nvPr/>
        </p:nvSpPr>
        <p:spPr>
          <a:xfrm>
            <a:off x="594360" y="3429000"/>
            <a:ext cx="532180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ym typeface="Wingdings" panose="05000000000000000000" pitchFamily="2" charset="2"/>
              </a:rPr>
              <a:t>SMPL</a:t>
            </a:r>
            <a:r>
              <a:rPr lang="fr-FR" dirty="0">
                <a:sym typeface="Wingdings" panose="05000000000000000000" pitchFamily="2" charset="2"/>
              </a:rPr>
              <a:t> model 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Skinned</a:t>
            </a:r>
            <a:r>
              <a:rPr lang="fr-FR" dirty="0">
                <a:effectLst/>
              </a:rPr>
              <a:t> Multi-Person </a:t>
            </a:r>
            <a:r>
              <a:rPr lang="fr-FR" dirty="0" err="1">
                <a:effectLst/>
              </a:rPr>
              <a:t>Linear</a:t>
            </a:r>
            <a:r>
              <a:rPr lang="fr-FR" dirty="0">
                <a:effectLst/>
              </a:rPr>
              <a:t> model)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= </a:t>
            </a:r>
            <a:r>
              <a:rPr lang="fr-FR" sz="2500" b="1" u="sng" dirty="0">
                <a:sym typeface="Wingdings" panose="05000000000000000000" pitchFamily="2" charset="2"/>
              </a:rPr>
              <a:t>Soft</a:t>
            </a:r>
            <a:r>
              <a:rPr lang="fr-FR" sz="2500" u="sng" dirty="0">
                <a:sym typeface="Wingdings" panose="05000000000000000000" pitchFamily="2" charset="2"/>
              </a:rPr>
              <a:t> joint </a:t>
            </a:r>
            <a:r>
              <a:rPr lang="fr-FR" sz="2500" u="sng" dirty="0" err="1">
                <a:sym typeface="Wingdings" panose="05000000000000000000" pitchFamily="2" charset="2"/>
              </a:rPr>
              <a:t>constraints</a:t>
            </a:r>
            <a:endParaRPr lang="fr-FR" sz="2500" u="sng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2F42C3-A3E3-4E34-8603-DB1E7E5B8A9A}"/>
              </a:ext>
            </a:extLst>
          </p:cNvPr>
          <p:cNvSpPr txBox="1"/>
          <p:nvPr/>
        </p:nvSpPr>
        <p:spPr>
          <a:xfrm>
            <a:off x="3705243" y="4966643"/>
            <a:ext cx="1828800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SMPL model + </a:t>
            </a:r>
            <a:r>
              <a:rPr lang="fr-FR" b="1" dirty="0" err="1"/>
              <a:t>OpenSim</a:t>
            </a:r>
            <a:endParaRPr lang="fr-FR" b="1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F6576A3-91E8-49D1-8B9C-C0C634C9CD09}"/>
              </a:ext>
            </a:extLst>
          </p:cNvPr>
          <p:cNvSpPr txBox="1"/>
          <p:nvPr/>
        </p:nvSpPr>
        <p:spPr>
          <a:xfrm>
            <a:off x="1034034" y="5102402"/>
            <a:ext cx="1828800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SMPL model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BE232F4-45F6-4B65-9546-05DE0080747F}"/>
              </a:ext>
            </a:extLst>
          </p:cNvPr>
          <p:cNvSpPr txBox="1"/>
          <p:nvPr/>
        </p:nvSpPr>
        <p:spPr>
          <a:xfrm>
            <a:off x="3051810" y="5102402"/>
            <a:ext cx="51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D1D460F-B7BD-4FC0-B8A3-73F6EE8556FE}"/>
              </a:ext>
            </a:extLst>
          </p:cNvPr>
          <p:cNvSpPr txBox="1"/>
          <p:nvPr/>
        </p:nvSpPr>
        <p:spPr>
          <a:xfrm>
            <a:off x="3160014" y="6124879"/>
            <a:ext cx="5952744" cy="4770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/>
              <a:t>What gains justify switching technology?</a:t>
            </a:r>
            <a:endParaRPr lang="fr-FR" sz="25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C76143-DDC2-4190-97D6-6711C09E1E94}"/>
              </a:ext>
            </a:extLst>
          </p:cNvPr>
          <p:cNvSpPr txBox="1"/>
          <p:nvPr/>
        </p:nvSpPr>
        <p:spPr>
          <a:xfrm>
            <a:off x="119634" y="6040240"/>
            <a:ext cx="1828800" cy="646331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Only</a:t>
            </a:r>
            <a:r>
              <a:rPr lang="fr-FR" dirty="0"/>
              <a:t> on </a:t>
            </a:r>
            <a:r>
              <a:rPr lang="fr-FR" b="1" dirty="0"/>
              <a:t>single-</a:t>
            </a:r>
            <a:r>
              <a:rPr lang="fr-FR" b="1" dirty="0" err="1"/>
              <a:t>view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!!</a:t>
            </a:r>
          </a:p>
        </p:txBody>
      </p:sp>
    </p:spTree>
    <p:extLst>
      <p:ext uri="{BB962C8B-B14F-4D97-AF65-F5344CB8AC3E}">
        <p14:creationId xmlns:p14="http://schemas.microsoft.com/office/powerpoint/2010/main" val="407608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19772B9A-96DB-46CE-94E0-2BA353969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18067"/>
              </p:ext>
            </p:extLst>
          </p:nvPr>
        </p:nvGraphicFramePr>
        <p:xfrm>
          <a:off x="542280" y="1277793"/>
          <a:ext cx="7093712" cy="5006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3712">
                  <a:extLst>
                    <a:ext uri="{9D8B030D-6E8A-4147-A177-3AD203B41FA5}">
                      <a16:colId xmlns:a16="http://schemas.microsoft.com/office/drawing/2014/main" val="4293104468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DATA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285611"/>
                  </a:ext>
                </a:extLst>
              </a:tr>
              <a:tr h="4467237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659232"/>
                  </a:ext>
                </a:extLst>
              </a:tr>
            </a:tbl>
          </a:graphicData>
        </a:graphic>
      </p:graphicFrame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5775A38-6487-43DA-BD16-07DBD16CE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428631"/>
              </p:ext>
            </p:extLst>
          </p:nvPr>
        </p:nvGraphicFramePr>
        <p:xfrm>
          <a:off x="4026976" y="4259049"/>
          <a:ext cx="28194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3458470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Marker Solution (</a:t>
                      </a:r>
                      <a:r>
                        <a:rPr lang="fr-FR" dirty="0" err="1"/>
                        <a:t>reference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53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20 IR cameras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100Hz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45 </a:t>
                      </a:r>
                      <a:r>
                        <a:rPr lang="fr-FR" dirty="0" err="1"/>
                        <a:t>physical</a:t>
                      </a:r>
                      <a:r>
                        <a:rPr lang="fr-FR" dirty="0"/>
                        <a:t> markers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A </a:t>
                      </a:r>
                      <a:r>
                        <a:rPr lang="fr-FR" dirty="0" err="1"/>
                        <a:t>wand</a:t>
                      </a:r>
                      <a:r>
                        <a:rPr lang="fr-FR" dirty="0"/>
                        <a:t> calibration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0312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6A62A0B-0EC8-44E9-8865-BD83C8D61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692661"/>
              </p:ext>
            </p:extLst>
          </p:nvPr>
        </p:nvGraphicFramePr>
        <p:xfrm>
          <a:off x="4026976" y="2697055"/>
          <a:ext cx="2819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3458470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Markerless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53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20 RGB cameras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100Hz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Calibration </a:t>
                      </a:r>
                      <a:r>
                        <a:rPr lang="fr-FR" dirty="0" err="1"/>
                        <a:t>board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0312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0CF55C08-C2E6-4313-B496-295CD48B5B3D}"/>
              </a:ext>
            </a:extLst>
          </p:cNvPr>
          <p:cNvSpPr txBox="1"/>
          <p:nvPr/>
        </p:nvSpPr>
        <p:spPr>
          <a:xfrm>
            <a:off x="1454648" y="2045889"/>
            <a:ext cx="483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23 participants – </a:t>
            </a:r>
            <a:r>
              <a:rPr lang="fr-FR" dirty="0" err="1"/>
              <a:t>controlled</a:t>
            </a:r>
            <a:r>
              <a:rPr lang="fr-FR" dirty="0"/>
              <a:t> indoor </a:t>
            </a:r>
            <a:r>
              <a:rPr lang="fr-FR" dirty="0" err="1"/>
              <a:t>environments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848F6A4-29E2-4A3E-867F-6FEAB00D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2" y="2697055"/>
            <a:ext cx="2667372" cy="3305636"/>
          </a:xfrm>
          <a:prstGeom prst="rect">
            <a:avLst/>
          </a:prstGeom>
        </p:spPr>
      </p:pic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A229C945-153D-4AA4-BEA3-F5415AC2F84F}"/>
              </a:ext>
            </a:extLst>
          </p:cNvPr>
          <p:cNvSpPr/>
          <p:nvPr/>
        </p:nvSpPr>
        <p:spPr>
          <a:xfrm rot="14916427">
            <a:off x="7556364" y="1807206"/>
            <a:ext cx="292608" cy="13037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7" name="Tableau 17">
            <a:extLst>
              <a:ext uri="{FF2B5EF4-FFF2-40B4-BE49-F238E27FC236}">
                <a16:creationId xmlns:a16="http://schemas.microsoft.com/office/drawing/2014/main" id="{A3B218D1-607C-4264-A11A-3566DC561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353053"/>
              </p:ext>
            </p:extLst>
          </p:nvPr>
        </p:nvGraphicFramePr>
        <p:xfrm>
          <a:off x="8610473" y="431846"/>
          <a:ext cx="2762504" cy="1668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504">
                  <a:extLst>
                    <a:ext uri="{9D8B030D-6E8A-4147-A177-3AD203B41FA5}">
                      <a16:colId xmlns:a16="http://schemas.microsoft.com/office/drawing/2014/main" val="3925234391"/>
                    </a:ext>
                  </a:extLst>
                </a:gridCol>
              </a:tblGrid>
              <a:tr h="406804">
                <a:tc>
                  <a:txBody>
                    <a:bodyPr/>
                    <a:lstStyle/>
                    <a:p>
                      <a:r>
                        <a:rPr lang="fr-FR" dirty="0"/>
                        <a:t>Single-</a:t>
                      </a:r>
                      <a:r>
                        <a:rPr lang="fr-FR" dirty="0" err="1"/>
                        <a:t>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methods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456434"/>
                  </a:ext>
                </a:extLst>
              </a:tr>
              <a:tr h="1261341">
                <a:tc>
                  <a:txBody>
                    <a:bodyPr/>
                    <a:lstStyle/>
                    <a:p>
                      <a:r>
                        <a:rPr lang="fr-FR" dirty="0"/>
                        <a:t>-  All of </a:t>
                      </a:r>
                      <a:r>
                        <a:rPr lang="fr-FR" dirty="0" err="1"/>
                        <a:t>them</a:t>
                      </a:r>
                      <a:r>
                        <a:rPr lang="fr-FR" dirty="0"/>
                        <a:t> are </a:t>
                      </a:r>
                      <a:r>
                        <a:rPr lang="fr-FR" dirty="0" err="1"/>
                        <a:t>based</a:t>
                      </a:r>
                      <a:r>
                        <a:rPr lang="fr-FR" dirty="0"/>
                        <a:t> the SMPL model	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983905"/>
                  </a:ext>
                </a:extLst>
              </a:tr>
            </a:tbl>
          </a:graphicData>
        </a:graphic>
      </p:graphicFrame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5D32BA73-8E97-4772-9291-6821E6FB7F97}"/>
              </a:ext>
            </a:extLst>
          </p:cNvPr>
          <p:cNvSpPr/>
          <p:nvPr/>
        </p:nvSpPr>
        <p:spPr>
          <a:xfrm rot="19179933">
            <a:off x="7556363" y="3662871"/>
            <a:ext cx="292608" cy="17918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2" name="Tableau 22">
            <a:extLst>
              <a:ext uri="{FF2B5EF4-FFF2-40B4-BE49-F238E27FC236}">
                <a16:creationId xmlns:a16="http://schemas.microsoft.com/office/drawing/2014/main" id="{270CDB41-DE47-402C-9DA6-A6C78FBDE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54410"/>
              </p:ext>
            </p:extLst>
          </p:nvPr>
        </p:nvGraphicFramePr>
        <p:xfrm>
          <a:off x="8455988" y="4624116"/>
          <a:ext cx="3376274" cy="1783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37">
                  <a:extLst>
                    <a:ext uri="{9D8B030D-6E8A-4147-A177-3AD203B41FA5}">
                      <a16:colId xmlns:a16="http://schemas.microsoft.com/office/drawing/2014/main" val="2698937789"/>
                    </a:ext>
                  </a:extLst>
                </a:gridCol>
                <a:gridCol w="1688137">
                  <a:extLst>
                    <a:ext uri="{9D8B030D-6E8A-4147-A177-3AD203B41FA5}">
                      <a16:colId xmlns:a16="http://schemas.microsoft.com/office/drawing/2014/main" val="527490180"/>
                    </a:ext>
                  </a:extLst>
                </a:gridCol>
              </a:tblGrid>
              <a:tr h="288325">
                <a:tc gridSpan="2">
                  <a:txBody>
                    <a:bodyPr/>
                    <a:lstStyle/>
                    <a:p>
                      <a:r>
                        <a:rPr lang="fr-FR" dirty="0"/>
                        <a:t>Multi-</a:t>
                      </a:r>
                      <a:r>
                        <a:rPr lang="fr-FR" dirty="0" err="1"/>
                        <a:t>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methods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30073"/>
                  </a:ext>
                </a:extLst>
              </a:tr>
              <a:tr h="288325">
                <a:tc>
                  <a:txBody>
                    <a:bodyPr/>
                    <a:lstStyle/>
                    <a:p>
                      <a:r>
                        <a:rPr lang="fr-FR" dirty="0" err="1"/>
                        <a:t>OpenCap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Theida</a:t>
                      </a:r>
                      <a:r>
                        <a:rPr lang="fr-FR" dirty="0"/>
                        <a:t> 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180476"/>
                  </a:ext>
                </a:extLst>
              </a:tr>
              <a:tr h="1052329">
                <a:tc gridSpan="2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No SMPL model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But a IK correction </a:t>
                      </a:r>
                      <a:r>
                        <a:rPr lang="fr-FR" dirty="0" err="1"/>
                        <a:t>with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OpenSim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270846"/>
                  </a:ext>
                </a:extLst>
              </a:tr>
            </a:tbl>
          </a:graphicData>
        </a:graphic>
      </p:graphicFrame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6DDB48A8-6FA0-47F2-A8C7-2460CD6F53C0}"/>
              </a:ext>
            </a:extLst>
          </p:cNvPr>
          <p:cNvCxnSpPr>
            <a:cxnSpLocks/>
          </p:cNvCxnSpPr>
          <p:nvPr/>
        </p:nvCxnSpPr>
        <p:spPr>
          <a:xfrm flipV="1">
            <a:off x="10077450" y="4005703"/>
            <a:ext cx="0" cy="61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64A9443-3467-486E-A5E1-6DAE1F9BFF4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991725" y="2099991"/>
            <a:ext cx="0" cy="59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3971D7F5-0EDF-4F88-BADB-F48AA73AC2B0}"/>
              </a:ext>
            </a:extLst>
          </p:cNvPr>
          <p:cNvSpPr txBox="1"/>
          <p:nvPr/>
        </p:nvSpPr>
        <p:spPr>
          <a:xfrm>
            <a:off x="8681921" y="2857828"/>
            <a:ext cx="2924408" cy="92333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Use a </a:t>
            </a:r>
            <a:r>
              <a:rPr lang="fr-FR" dirty="0" err="1"/>
              <a:t>static</a:t>
            </a:r>
            <a:r>
              <a:rPr lang="fr-FR" dirty="0"/>
              <a:t> pose to </a:t>
            </a:r>
            <a:r>
              <a:rPr lang="en-US" dirty="0"/>
              <a:t>prevent a discrepancy between physical and virtual markers</a:t>
            </a:r>
          </a:p>
        </p:txBody>
      </p:sp>
    </p:spTree>
    <p:extLst>
      <p:ext uri="{BB962C8B-B14F-4D97-AF65-F5344CB8AC3E}">
        <p14:creationId xmlns:p14="http://schemas.microsoft.com/office/powerpoint/2010/main" val="349002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0F927F-A2D4-4887-9203-57CD9E05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1750"/>
            <a:ext cx="10515600" cy="1325563"/>
          </a:xfrm>
        </p:spPr>
        <p:txBody>
          <a:bodyPr/>
          <a:lstStyle/>
          <a:p>
            <a:r>
              <a:rPr lang="fr-FR" dirty="0"/>
              <a:t>Tools of </a:t>
            </a:r>
            <a:r>
              <a:rPr lang="fr-FR" dirty="0" err="1"/>
              <a:t>evaluation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690205C-1BFB-49A9-9744-50E57EE8C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7314"/>
                <a:ext cx="10515600" cy="44434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è"/>
                </a:pPr>
                <a:r>
                  <a:rPr lang="fr-FR" b="1" dirty="0">
                    <a:sym typeface="Wingdings" panose="05000000000000000000" pitchFamily="2" charset="2"/>
                  </a:rPr>
                  <a:t>RMSD</a:t>
                </a:r>
                <a:r>
                  <a:rPr lang="fr-FR" dirty="0">
                    <a:sym typeface="Wingdings" panose="05000000000000000000" pitchFamily="2" charset="2"/>
                  </a:rPr>
                  <a:t> (Root </a:t>
                </a:r>
                <a:r>
                  <a:rPr lang="fr-FR" dirty="0" err="1">
                    <a:sym typeface="Wingdings" panose="05000000000000000000" pitchFamily="2" charset="2"/>
                  </a:rPr>
                  <a:t>Mean</a:t>
                </a:r>
                <a:r>
                  <a:rPr lang="fr-FR" dirty="0">
                    <a:sym typeface="Wingdings" panose="05000000000000000000" pitchFamily="2" charset="2"/>
                  </a:rPr>
                  <a:t> Square </a:t>
                </a:r>
                <a:r>
                  <a:rPr lang="fr-FR" dirty="0" err="1">
                    <a:sym typeface="Wingdings" panose="05000000000000000000" pitchFamily="2" charset="2"/>
                  </a:rPr>
                  <a:t>Difference</a:t>
                </a:r>
                <a:r>
                  <a:rPr lang="fr-FR" dirty="0"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fr-FR" dirty="0">
                    <a:sym typeface="Wingdings" panose="05000000000000000000" pitchFamily="2" charset="2"/>
                  </a:rPr>
                  <a:t>A </a:t>
                </a:r>
                <a:r>
                  <a:rPr lang="fr-FR" dirty="0" err="1">
                    <a:sym typeface="Wingdings" panose="05000000000000000000" pitchFamily="2" charset="2"/>
                  </a:rPr>
                  <a:t>biomechanical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tool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fr-FR" b="1" dirty="0">
                    <a:sym typeface="Wingdings" panose="05000000000000000000" pitchFamily="2" charset="2"/>
                  </a:rPr>
                  <a:t>PA-MPJPE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fr-FR" dirty="0">
                    <a:sym typeface="Wingdings" panose="05000000000000000000" pitchFamily="2" charset="2"/>
                  </a:rPr>
                  <a:t>A computer-vision </a:t>
                </a:r>
                <a:r>
                  <a:rPr lang="fr-FR" dirty="0" err="1">
                    <a:sym typeface="Wingdings" panose="05000000000000000000" pitchFamily="2" charset="2"/>
                  </a:rPr>
                  <a:t>tool</a:t>
                </a:r>
                <a:endParaRPr lang="fr-FR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è"/>
                </a:pP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b="1" dirty="0" err="1">
                    <a:sym typeface="Wingdings" panose="05000000000000000000" pitchFamily="2" charset="2"/>
                  </a:rPr>
                  <a:t>Linear</a:t>
                </a:r>
                <a:r>
                  <a:rPr lang="fr-FR" b="1" dirty="0">
                    <a:sym typeface="Wingdings" panose="05000000000000000000" pitchFamily="2" charset="2"/>
                  </a:rPr>
                  <a:t> Mixed-</a:t>
                </a:r>
                <a:r>
                  <a:rPr lang="fr-FR" b="1" dirty="0" err="1">
                    <a:sym typeface="Wingdings" panose="05000000000000000000" pitchFamily="2" charset="2"/>
                  </a:rPr>
                  <a:t>Effects</a:t>
                </a:r>
                <a:r>
                  <a:rPr lang="fr-FR" b="1" dirty="0">
                    <a:sym typeface="Wingdings" panose="05000000000000000000" pitchFamily="2" charset="2"/>
                  </a:rPr>
                  <a:t> Model</a:t>
                </a:r>
                <a:r>
                  <a:rPr lang="fr-FR" dirty="0">
                    <a:sym typeface="Wingdings" panose="05000000000000000000" pitchFamily="2" charset="2"/>
                  </a:rPr>
                  <a:t> + </a:t>
                </a:r>
                <a:r>
                  <a:rPr lang="fr-FR" b="1" dirty="0">
                    <a:sym typeface="Wingdings" panose="05000000000000000000" pitchFamily="2" charset="2"/>
                  </a:rPr>
                  <a:t>ANOVA III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fr-FR" u="sng" dirty="0">
                    <a:sym typeface="Wingdings" panose="05000000000000000000" pitchFamily="2" charset="2"/>
                  </a:rPr>
                  <a:t>LMEM</a:t>
                </a:r>
                <a:r>
                  <a:rPr lang="fr-FR" dirty="0">
                    <a:sym typeface="Wingdings" panose="05000000000000000000" pitchFamily="2" charset="2"/>
                  </a:rPr>
                  <a:t>: split the fix </a:t>
                </a:r>
                <a:r>
                  <a:rPr lang="fr-FR" dirty="0" err="1">
                    <a:sym typeface="Wingdings" panose="05000000000000000000" pitchFamily="2" charset="2"/>
                  </a:rPr>
                  <a:t>effects</a:t>
                </a:r>
                <a:r>
                  <a:rPr lang="fr-FR" dirty="0">
                    <a:sym typeface="Wingdings" panose="05000000000000000000" pitchFamily="2" charset="2"/>
                  </a:rPr>
                  <a:t>(motion capture </a:t>
                </a:r>
                <a:r>
                  <a:rPr lang="fr-FR" dirty="0" err="1">
                    <a:sym typeface="Wingdings" panose="05000000000000000000" pitchFamily="2" charset="2"/>
                  </a:rPr>
                  <a:t>methods</a:t>
                </a:r>
                <a:r>
                  <a:rPr lang="fr-FR" dirty="0">
                    <a:sym typeface="Wingdings" panose="05000000000000000000" pitchFamily="2" charset="2"/>
                  </a:rPr>
                  <a:t>) and </a:t>
                </a:r>
                <a:r>
                  <a:rPr lang="fr-FR" dirty="0" err="1">
                    <a:sym typeface="Wingdings" panose="05000000000000000000" pitchFamily="2" charset="2"/>
                  </a:rPr>
                  <a:t>random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effects</a:t>
                </a:r>
                <a:r>
                  <a:rPr lang="fr-FR" dirty="0">
                    <a:sym typeface="Wingdings" panose="05000000000000000000" pitchFamily="2" charset="2"/>
                  </a:rPr>
                  <a:t> (size, </a:t>
                </a:r>
                <a:r>
                  <a:rPr lang="fr-FR" dirty="0" err="1">
                    <a:sym typeface="Wingdings" panose="05000000000000000000" pitchFamily="2" charset="2"/>
                  </a:rPr>
                  <a:t>weight</a:t>
                </a:r>
                <a:r>
                  <a:rPr lang="fr-FR" dirty="0">
                    <a:sym typeface="Wingdings" panose="05000000000000000000" pitchFamily="2" charset="2"/>
                  </a:rPr>
                  <a:t> of the </a:t>
                </a:r>
                <a:r>
                  <a:rPr lang="fr-FR" dirty="0" err="1">
                    <a:sym typeface="Wingdings" panose="05000000000000000000" pitchFamily="2" charset="2"/>
                  </a:rPr>
                  <a:t>subject</a:t>
                </a:r>
                <a:r>
                  <a:rPr lang="fr-FR" dirty="0">
                    <a:sym typeface="Wingdings" panose="05000000000000000000" pitchFamily="2" charset="2"/>
                  </a:rPr>
                  <a:t>)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fr-FR" u="sng" dirty="0">
                    <a:sym typeface="Wingdings" panose="05000000000000000000" pitchFamily="2" charset="2"/>
                  </a:rPr>
                  <a:t>ANOVA</a:t>
                </a:r>
                <a:r>
                  <a:rPr lang="fr-FR" dirty="0">
                    <a:sym typeface="Wingdings" panose="05000000000000000000" pitchFamily="2" charset="2"/>
                  </a:rPr>
                  <a:t>: </a:t>
                </a:r>
                <a:r>
                  <a:rPr lang="fr-FR" dirty="0" err="1">
                    <a:sym typeface="Wingdings" panose="05000000000000000000" pitchFamily="2" charset="2"/>
                  </a:rPr>
                  <a:t>evaluate</a:t>
                </a:r>
                <a:r>
                  <a:rPr lang="fr-FR" dirty="0">
                    <a:sym typeface="Wingdings" panose="05000000000000000000" pitchFamily="2" charset="2"/>
                  </a:rPr>
                  <a:t> if the </a:t>
                </a:r>
                <a:r>
                  <a:rPr lang="fr-FR" dirty="0" err="1">
                    <a:sym typeface="Wingdings" panose="05000000000000000000" pitchFamily="2" charset="2"/>
                  </a:rPr>
                  <a:t>result</a:t>
                </a:r>
                <a:r>
                  <a:rPr lang="fr-FR" dirty="0">
                    <a:sym typeface="Wingdings" panose="05000000000000000000" pitchFamily="2" charset="2"/>
                  </a:rPr>
                  <a:t> (RMSD) </a:t>
                </a:r>
                <a:r>
                  <a:rPr lang="fr-FR" dirty="0" err="1">
                    <a:sym typeface="Wingdings" panose="05000000000000000000" pitchFamily="2" charset="2"/>
                  </a:rPr>
                  <a:t>is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statistically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true</a:t>
                </a:r>
                <a:r>
                  <a:rPr lang="fr-FR" dirty="0">
                    <a:sym typeface="Wingdings" panose="05000000000000000000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fr-FR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&lt;0,05</m:t>
                    </m:r>
                    <m:r>
                      <a:rPr lang="fr-FR" b="0" i="0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fr-FR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690205C-1BFB-49A9-9744-50E57EE8C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7314"/>
                <a:ext cx="10515600" cy="4443412"/>
              </a:xfrm>
              <a:blipFill>
                <a:blip r:embed="rId2"/>
                <a:stretch>
                  <a:fillRect l="-1217" t="-13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93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540FC-FF65-4D4B-AA46-492B67FF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16253"/>
            <a:ext cx="10515600" cy="1564805"/>
          </a:xfrm>
        </p:spPr>
        <p:txBody>
          <a:bodyPr>
            <a:normAutofit/>
          </a:bodyPr>
          <a:lstStyle/>
          <a:p>
            <a:r>
              <a:rPr lang="fr-FR" dirty="0"/>
              <a:t>Process 2/4 – </a:t>
            </a:r>
            <a:r>
              <a:rPr lang="fr-FR" dirty="0" err="1"/>
              <a:t>Primary</a:t>
            </a:r>
            <a:br>
              <a:rPr lang="fr-FR" dirty="0"/>
            </a:br>
            <a:r>
              <a:rPr lang="fr-FR" dirty="0"/>
              <a:t> 				</a:t>
            </a:r>
            <a:r>
              <a:rPr lang="fr-FR" dirty="0" err="1"/>
              <a:t>evaluation</a:t>
            </a:r>
            <a:endParaRPr lang="fr-FR" dirty="0"/>
          </a:p>
        </p:txBody>
      </p:sp>
      <p:graphicFrame>
        <p:nvGraphicFramePr>
          <p:cNvPr id="4" name="Tableau 30">
            <a:extLst>
              <a:ext uri="{FF2B5EF4-FFF2-40B4-BE49-F238E27FC236}">
                <a16:creationId xmlns:a16="http://schemas.microsoft.com/office/drawing/2014/main" id="{004B9376-48FF-4D7A-AD72-3BB5B304B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181859"/>
              </p:ext>
            </p:extLst>
          </p:nvPr>
        </p:nvGraphicFramePr>
        <p:xfrm>
          <a:off x="497491" y="1893367"/>
          <a:ext cx="7540085" cy="443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0085">
                  <a:extLst>
                    <a:ext uri="{9D8B030D-6E8A-4147-A177-3AD203B41FA5}">
                      <a16:colId xmlns:a16="http://schemas.microsoft.com/office/drawing/2014/main" val="1979278077"/>
                    </a:ext>
                  </a:extLst>
                </a:gridCol>
              </a:tblGrid>
              <a:tr h="676008">
                <a:tc>
                  <a:txBody>
                    <a:bodyPr/>
                    <a:lstStyle/>
                    <a:p>
                      <a:r>
                        <a:rPr lang="fr-FR" dirty="0"/>
                        <a:t>Evaluation of 13 single </a:t>
                      </a:r>
                      <a:r>
                        <a:rPr lang="fr-FR" dirty="0" err="1"/>
                        <a:t>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methods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892883"/>
                  </a:ext>
                </a:extLst>
              </a:tr>
              <a:tr h="375827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Evaluated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across</a:t>
                      </a:r>
                      <a:r>
                        <a:rPr lang="fr-FR" dirty="0"/>
                        <a:t> all 10 cameras – 33Hz (</a:t>
                      </a:r>
                      <a:r>
                        <a:rPr lang="fr-FR" dirty="0" err="1"/>
                        <a:t>same</a:t>
                      </a:r>
                      <a:r>
                        <a:rPr lang="fr-FR" dirty="0"/>
                        <a:t> as us)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fr-FR" dirty="0">
                          <a:sym typeface="Wingdings" panose="05000000000000000000" pitchFamily="2" charset="2"/>
                        </a:rPr>
                        <a:t>Average RMSD 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across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 all 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views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after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 a 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Kruskal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-Wallis test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>
                        <a:sym typeface="Wingdings" panose="05000000000000000000" pitchFamily="2" charset="2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fr-FR" dirty="0"/>
                        <a:t>WHAM </a:t>
                      </a:r>
                      <a:r>
                        <a:rPr lang="fr-FR" dirty="0" err="1"/>
                        <a:t>achieved</a:t>
                      </a:r>
                      <a:r>
                        <a:rPr lang="fr-FR" dirty="0"/>
                        <a:t> the </a:t>
                      </a:r>
                      <a:r>
                        <a:rPr lang="fr-FR" dirty="0" err="1"/>
                        <a:t>lowest</a:t>
                      </a:r>
                      <a:r>
                        <a:rPr lang="fr-FR" dirty="0"/>
                        <a:t> RMSD </a:t>
                      </a:r>
                      <a:r>
                        <a:rPr lang="fr-FR" dirty="0" err="1"/>
                        <a:t>with</a:t>
                      </a:r>
                      <a:r>
                        <a:rPr lang="fr-FR" dirty="0"/>
                        <a:t> 7.6°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74718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FC8B00EA-D778-4A09-9A95-67E5333E8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29000"/>
            <a:ext cx="6566864" cy="212604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BE22FED-C46F-458C-8C20-2E23393B5A0E}"/>
              </a:ext>
            </a:extLst>
          </p:cNvPr>
          <p:cNvSpPr/>
          <p:nvPr/>
        </p:nvSpPr>
        <p:spPr>
          <a:xfrm>
            <a:off x="6363367" y="5189035"/>
            <a:ext cx="493776" cy="2972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568B046-DD8F-4A54-94DE-32379A423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318" y="116253"/>
            <a:ext cx="5457432" cy="2912751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3000000" sx="101000" sy="101000" algn="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9FD969D-E683-40C7-B66B-ED91F104AE8E}"/>
              </a:ext>
            </a:extLst>
          </p:cNvPr>
          <p:cNvSpPr/>
          <p:nvPr/>
        </p:nvSpPr>
        <p:spPr>
          <a:xfrm>
            <a:off x="7970161" y="2214431"/>
            <a:ext cx="859514" cy="6763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449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37229-510B-4E6F-B180-4C5CC702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96"/>
            <a:ext cx="10515600" cy="1325563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- </a:t>
            </a:r>
            <a:r>
              <a:rPr lang="fr-FR" dirty="0" err="1"/>
              <a:t>hypothese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07F94A-0F37-4C9C-8190-F9BCDCBCA0B1}"/>
              </a:ext>
            </a:extLst>
          </p:cNvPr>
          <p:cNvSpPr txBox="1"/>
          <p:nvPr/>
        </p:nvSpPr>
        <p:spPr>
          <a:xfrm>
            <a:off x="502919" y="1874520"/>
            <a:ext cx="1698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WHAM model</a:t>
            </a:r>
          </a:p>
          <a:p>
            <a:r>
              <a:rPr lang="fr-FR" dirty="0"/>
              <a:t>(camera 7)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194288-A9B1-4BDC-8134-43E7799AD218}"/>
              </a:ext>
            </a:extLst>
          </p:cNvPr>
          <p:cNvSpPr txBox="1"/>
          <p:nvPr/>
        </p:nvSpPr>
        <p:spPr>
          <a:xfrm>
            <a:off x="408433" y="3244937"/>
            <a:ext cx="2377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WHAM model</a:t>
            </a:r>
          </a:p>
          <a:p>
            <a:r>
              <a:rPr lang="fr-FR" dirty="0"/>
              <a:t>(camera 7)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46BD236C-1DE4-455B-93F7-95FED89D59F3}"/>
              </a:ext>
            </a:extLst>
          </p:cNvPr>
          <p:cNvSpPr/>
          <p:nvPr/>
        </p:nvSpPr>
        <p:spPr>
          <a:xfrm rot="16200000">
            <a:off x="2263140" y="1928568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48C6-F7C9-40C3-AD22-DC22399D2591}"/>
              </a:ext>
            </a:extLst>
          </p:cNvPr>
          <p:cNvSpPr txBox="1"/>
          <p:nvPr/>
        </p:nvSpPr>
        <p:spPr>
          <a:xfrm>
            <a:off x="2785872" y="1790067"/>
            <a:ext cx="234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Use of the </a:t>
            </a:r>
            <a:r>
              <a:rPr lang="fr-FR" b="1" dirty="0"/>
              <a:t>SMPL</a:t>
            </a:r>
            <a:r>
              <a:rPr lang="fr-FR" dirty="0"/>
              <a:t> model on WHAM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0EA7E7F-35F5-43FA-8B9A-D27C0AAE7E81}"/>
              </a:ext>
            </a:extLst>
          </p:cNvPr>
          <p:cNvSpPr txBox="1"/>
          <p:nvPr/>
        </p:nvSpPr>
        <p:spPr>
          <a:xfrm>
            <a:off x="2785873" y="3134531"/>
            <a:ext cx="234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Use of the </a:t>
            </a:r>
            <a:r>
              <a:rPr lang="fr-FR" b="1" dirty="0"/>
              <a:t>SMPL</a:t>
            </a:r>
            <a:r>
              <a:rPr lang="fr-FR" dirty="0"/>
              <a:t> model on WHAM</a:t>
            </a:r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CC3F884C-04E4-4CF8-98C8-DCC6CD936E38}"/>
              </a:ext>
            </a:extLst>
          </p:cNvPr>
          <p:cNvSpPr/>
          <p:nvPr/>
        </p:nvSpPr>
        <p:spPr>
          <a:xfrm rot="16200000">
            <a:off x="2263141" y="3244937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106CBF00-28A0-4E57-8EB3-DA2783B2ADA0}"/>
              </a:ext>
            </a:extLst>
          </p:cNvPr>
          <p:cNvSpPr/>
          <p:nvPr/>
        </p:nvSpPr>
        <p:spPr>
          <a:xfrm rot="16200000">
            <a:off x="4852155" y="3280206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D9C62E2-E3DB-4A07-9E95-D304DFC4AAB8}"/>
              </a:ext>
            </a:extLst>
          </p:cNvPr>
          <p:cNvSpPr txBox="1"/>
          <p:nvPr/>
        </p:nvSpPr>
        <p:spPr>
          <a:xfrm>
            <a:off x="5293398" y="3003206"/>
            <a:ext cx="1486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29 markers </a:t>
            </a:r>
            <a:r>
              <a:rPr lang="fr-FR" dirty="0" err="1"/>
              <a:t>used</a:t>
            </a:r>
            <a:r>
              <a:rPr lang="fr-FR" dirty="0"/>
              <a:t> for </a:t>
            </a:r>
          </a:p>
          <a:p>
            <a:r>
              <a:rPr lang="fr-FR" dirty="0" err="1"/>
              <a:t>OpenSim</a:t>
            </a:r>
            <a:r>
              <a:rPr lang="fr-FR" dirty="0"/>
              <a:t> IK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64C0C56-C436-439C-A9BC-7D4BA97DA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947" y="338420"/>
            <a:ext cx="3534269" cy="3302737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7D7B99F1-3248-4B92-BD44-B49E8AA231BC}"/>
              </a:ext>
            </a:extLst>
          </p:cNvPr>
          <p:cNvSpPr/>
          <p:nvPr/>
        </p:nvSpPr>
        <p:spPr>
          <a:xfrm>
            <a:off x="8804439" y="1340359"/>
            <a:ext cx="1710750" cy="13255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3D80B41-6AA1-4BFC-B356-9363244EA284}"/>
              </a:ext>
            </a:extLst>
          </p:cNvPr>
          <p:cNvSpPr/>
          <p:nvPr/>
        </p:nvSpPr>
        <p:spPr>
          <a:xfrm>
            <a:off x="310896" y="1517904"/>
            <a:ext cx="7073440" cy="12618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51AB6FD-46A0-4807-AA3B-9880089D5552}"/>
              </a:ext>
            </a:extLst>
          </p:cNvPr>
          <p:cNvSpPr/>
          <p:nvPr/>
        </p:nvSpPr>
        <p:spPr>
          <a:xfrm>
            <a:off x="237112" y="2864983"/>
            <a:ext cx="7985835" cy="12618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710DA16C-870C-43D1-B883-E07AFCBE3525}"/>
              </a:ext>
            </a:extLst>
          </p:cNvPr>
          <p:cNvSpPr/>
          <p:nvPr/>
        </p:nvSpPr>
        <p:spPr>
          <a:xfrm rot="16200000">
            <a:off x="6687491" y="3279944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4B1E559-9A21-4168-B6ED-B2F201A0C338}"/>
              </a:ext>
            </a:extLst>
          </p:cNvPr>
          <p:cNvSpPr txBox="1"/>
          <p:nvPr/>
        </p:nvSpPr>
        <p:spPr>
          <a:xfrm>
            <a:off x="6995601" y="3258169"/>
            <a:ext cx="148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bioWHAM</a:t>
            </a:r>
            <a:endParaRPr lang="fr-FR" b="1" dirty="0"/>
          </a:p>
        </p:txBody>
      </p:sp>
      <p:sp>
        <p:nvSpPr>
          <p:cNvPr id="22" name="Flèche : bas 21">
            <a:extLst>
              <a:ext uri="{FF2B5EF4-FFF2-40B4-BE49-F238E27FC236}">
                <a16:creationId xmlns:a16="http://schemas.microsoft.com/office/drawing/2014/main" id="{17B2A389-0F59-4BA9-9331-DFA62E4F82F3}"/>
              </a:ext>
            </a:extLst>
          </p:cNvPr>
          <p:cNvSpPr/>
          <p:nvPr/>
        </p:nvSpPr>
        <p:spPr>
          <a:xfrm rot="16200000">
            <a:off x="4738116" y="1927122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947A3D2-ECA2-442F-8220-ACF5BB2A86D9}"/>
              </a:ext>
            </a:extLst>
          </p:cNvPr>
          <p:cNvSpPr txBox="1"/>
          <p:nvPr/>
        </p:nvSpPr>
        <p:spPr>
          <a:xfrm>
            <a:off x="4980433" y="1784065"/>
            <a:ext cx="216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WHAM </a:t>
            </a:r>
            <a:r>
              <a:rPr lang="fr-FR" dirty="0" err="1"/>
              <a:t>with</a:t>
            </a:r>
            <a:r>
              <a:rPr lang="fr-FR" dirty="0"/>
              <a:t> «soft» </a:t>
            </a:r>
            <a:r>
              <a:rPr lang="fr-FR" dirty="0" err="1"/>
              <a:t>constraints</a:t>
            </a:r>
            <a:endParaRPr lang="fr-FR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D45CE71-47D0-487B-8353-AA0C0B06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152" y="3807029"/>
            <a:ext cx="3795740" cy="2761127"/>
          </a:xfrm>
          <a:prstGeom prst="rect">
            <a:avLst/>
          </a:prstGeom>
        </p:spPr>
      </p:pic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CAB01FA9-66AB-440C-93D7-C62DC2E463D1}"/>
              </a:ext>
            </a:extLst>
          </p:cNvPr>
          <p:cNvSpPr/>
          <p:nvPr/>
        </p:nvSpPr>
        <p:spPr>
          <a:xfrm rot="17573576">
            <a:off x="10527970" y="5672417"/>
            <a:ext cx="435865" cy="822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FA9ADCEE-7DA1-45C0-83E5-CCE02DEC0D32}"/>
              </a:ext>
            </a:extLst>
          </p:cNvPr>
          <p:cNvSpPr/>
          <p:nvPr/>
        </p:nvSpPr>
        <p:spPr>
          <a:xfrm rot="19655936">
            <a:off x="9147261" y="5226058"/>
            <a:ext cx="435865" cy="822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EAF5A1D6-C5D6-4340-92B8-146D32C02B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6"/>
          <a:stretch/>
        </p:blipFill>
        <p:spPr>
          <a:xfrm>
            <a:off x="1104062" y="4237261"/>
            <a:ext cx="6075992" cy="2601355"/>
          </a:xfrm>
          <a:prstGeom prst="rect">
            <a:avLst/>
          </a:prstGeom>
        </p:spPr>
      </p:pic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C0D56A62-F7EB-4724-81C7-DFF3362F3F65}"/>
              </a:ext>
            </a:extLst>
          </p:cNvPr>
          <p:cNvSpPr/>
          <p:nvPr/>
        </p:nvSpPr>
        <p:spPr>
          <a:xfrm rot="7300219">
            <a:off x="3650448" y="4951951"/>
            <a:ext cx="394336" cy="6963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3948FBF6-4B10-49F4-B1CC-C9283D66106A}"/>
              </a:ext>
            </a:extLst>
          </p:cNvPr>
          <p:cNvSpPr/>
          <p:nvPr/>
        </p:nvSpPr>
        <p:spPr>
          <a:xfrm rot="1728568">
            <a:off x="1773196" y="4594574"/>
            <a:ext cx="435865" cy="822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314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89C927F-2321-48E4-84EA-399FA133CF7B}"/>
              </a:ext>
            </a:extLst>
          </p:cNvPr>
          <p:cNvSpPr/>
          <p:nvPr/>
        </p:nvSpPr>
        <p:spPr>
          <a:xfrm>
            <a:off x="8086173" y="3677953"/>
            <a:ext cx="3712465" cy="2405312"/>
          </a:xfrm>
          <a:prstGeom prst="roundRect">
            <a:avLst>
              <a:gd name="adj" fmla="val 3995"/>
            </a:avLst>
          </a:prstGeom>
          <a:solidFill>
            <a:srgbClr val="24387A">
              <a:alpha val="27000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D91E86-29D6-4C16-9CB2-714305D9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42"/>
            <a:ext cx="10515600" cy="1325563"/>
          </a:xfrm>
        </p:spPr>
        <p:txBody>
          <a:bodyPr/>
          <a:lstStyle/>
          <a:p>
            <a:r>
              <a:rPr lang="fr-FR" dirty="0"/>
              <a:t>Process 4/4 – </a:t>
            </a:r>
            <a:r>
              <a:rPr lang="fr-FR" dirty="0" err="1"/>
              <a:t>Hypothese</a:t>
            </a:r>
            <a:r>
              <a:rPr lang="fr-FR" dirty="0"/>
              <a:t> 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8B0665-CBCC-4846-B5BF-DFE31B563E5E}"/>
              </a:ext>
            </a:extLst>
          </p:cNvPr>
          <p:cNvSpPr txBox="1"/>
          <p:nvPr/>
        </p:nvSpPr>
        <p:spPr>
          <a:xfrm>
            <a:off x="439175" y="1242902"/>
            <a:ext cx="169899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 err="1"/>
              <a:t>OpenCap</a:t>
            </a:r>
            <a:endParaRPr lang="fr-FR" sz="2500" b="1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80EB8E3-C248-41BA-953E-70100C602A92}"/>
              </a:ext>
            </a:extLst>
          </p:cNvPr>
          <p:cNvSpPr/>
          <p:nvPr/>
        </p:nvSpPr>
        <p:spPr>
          <a:xfrm>
            <a:off x="196595" y="994028"/>
            <a:ext cx="11776329" cy="5235322"/>
          </a:xfrm>
          <a:prstGeom prst="roundRect">
            <a:avLst>
              <a:gd name="adj" fmla="val 54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C8241A21-D555-47C6-8F60-9A55B8040AE2}"/>
              </a:ext>
            </a:extLst>
          </p:cNvPr>
          <p:cNvSpPr/>
          <p:nvPr/>
        </p:nvSpPr>
        <p:spPr>
          <a:xfrm rot="16200000">
            <a:off x="3240039" y="2294272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C8D8A866-94AE-4349-B68F-5C55A77B74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8" t="28487" r="16933"/>
          <a:stretch/>
        </p:blipFill>
        <p:spPr>
          <a:xfrm>
            <a:off x="3649639" y="1774095"/>
            <a:ext cx="3712464" cy="2766060"/>
          </a:xfrm>
          <a:prstGeom prst="rect">
            <a:avLst/>
          </a:prstGeom>
        </p:spPr>
      </p:pic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FBDC1A88-2B43-401D-8F6A-2D409743D700}"/>
              </a:ext>
            </a:extLst>
          </p:cNvPr>
          <p:cNvSpPr/>
          <p:nvPr/>
        </p:nvSpPr>
        <p:spPr>
          <a:xfrm>
            <a:off x="5359709" y="3313689"/>
            <a:ext cx="35642" cy="42914"/>
          </a:xfrm>
          <a:custGeom>
            <a:avLst/>
            <a:gdLst>
              <a:gd name="connsiteX0" fmla="*/ 14288 w 35642"/>
              <a:gd name="connsiteY0" fmla="*/ 19958 h 42914"/>
              <a:gd name="connsiteX1" fmla="*/ 21431 w 35642"/>
              <a:gd name="connsiteY1" fmla="*/ 31864 h 42914"/>
              <a:gd name="connsiteX2" fmla="*/ 14288 w 35642"/>
              <a:gd name="connsiteY2" fmla="*/ 41389 h 42914"/>
              <a:gd name="connsiteX3" fmla="*/ 11906 w 35642"/>
              <a:gd name="connsiteY3" fmla="*/ 8051 h 42914"/>
              <a:gd name="connsiteX4" fmla="*/ 14288 w 35642"/>
              <a:gd name="connsiteY4" fmla="*/ 908 h 42914"/>
              <a:gd name="connsiteX5" fmla="*/ 26194 w 35642"/>
              <a:gd name="connsiteY5" fmla="*/ 10433 h 42914"/>
              <a:gd name="connsiteX6" fmla="*/ 28575 w 35642"/>
              <a:gd name="connsiteY6" fmla="*/ 24720 h 42914"/>
              <a:gd name="connsiteX7" fmla="*/ 21431 w 35642"/>
              <a:gd name="connsiteY7" fmla="*/ 19958 h 42914"/>
              <a:gd name="connsiteX8" fmla="*/ 23813 w 35642"/>
              <a:gd name="connsiteY8" fmla="*/ 10433 h 42914"/>
              <a:gd name="connsiteX9" fmla="*/ 26194 w 35642"/>
              <a:gd name="connsiteY9" fmla="*/ 19958 h 42914"/>
              <a:gd name="connsiteX10" fmla="*/ 21431 w 35642"/>
              <a:gd name="connsiteY10" fmla="*/ 29483 h 42914"/>
              <a:gd name="connsiteX11" fmla="*/ 7144 w 35642"/>
              <a:gd name="connsiteY11" fmla="*/ 19958 h 42914"/>
              <a:gd name="connsiteX12" fmla="*/ 9525 w 35642"/>
              <a:gd name="connsiteY12" fmla="*/ 12814 h 42914"/>
              <a:gd name="connsiteX13" fmla="*/ 19050 w 35642"/>
              <a:gd name="connsiteY13" fmla="*/ 22339 h 42914"/>
              <a:gd name="connsiteX14" fmla="*/ 21431 w 35642"/>
              <a:gd name="connsiteY14" fmla="*/ 31864 h 42914"/>
              <a:gd name="connsiteX15" fmla="*/ 14288 w 35642"/>
              <a:gd name="connsiteY15" fmla="*/ 27101 h 42914"/>
              <a:gd name="connsiteX16" fmla="*/ 11906 w 35642"/>
              <a:gd name="connsiteY16" fmla="*/ 17576 h 42914"/>
              <a:gd name="connsiteX17" fmla="*/ 23813 w 35642"/>
              <a:gd name="connsiteY17" fmla="*/ 19958 h 42914"/>
              <a:gd name="connsiteX18" fmla="*/ 19050 w 35642"/>
              <a:gd name="connsiteY18" fmla="*/ 31864 h 42914"/>
              <a:gd name="connsiteX19" fmla="*/ 9525 w 35642"/>
              <a:gd name="connsiteY19" fmla="*/ 19958 h 42914"/>
              <a:gd name="connsiteX20" fmla="*/ 21431 w 35642"/>
              <a:gd name="connsiteY20" fmla="*/ 3289 h 42914"/>
              <a:gd name="connsiteX21" fmla="*/ 33338 w 35642"/>
              <a:gd name="connsiteY21" fmla="*/ 41389 h 42914"/>
              <a:gd name="connsiteX22" fmla="*/ 11906 w 35642"/>
              <a:gd name="connsiteY22" fmla="*/ 36626 h 42914"/>
              <a:gd name="connsiteX23" fmla="*/ 19050 w 35642"/>
              <a:gd name="connsiteY23" fmla="*/ 24720 h 42914"/>
              <a:gd name="connsiteX24" fmla="*/ 23813 w 35642"/>
              <a:gd name="connsiteY24" fmla="*/ 39008 h 42914"/>
              <a:gd name="connsiteX25" fmla="*/ 14288 w 35642"/>
              <a:gd name="connsiteY25" fmla="*/ 17576 h 42914"/>
              <a:gd name="connsiteX26" fmla="*/ 16669 w 35642"/>
              <a:gd name="connsiteY26" fmla="*/ 8051 h 42914"/>
              <a:gd name="connsiteX27" fmla="*/ 30956 w 35642"/>
              <a:gd name="connsiteY27" fmla="*/ 24720 h 42914"/>
              <a:gd name="connsiteX28" fmla="*/ 26194 w 35642"/>
              <a:gd name="connsiteY28" fmla="*/ 31864 h 42914"/>
              <a:gd name="connsiteX29" fmla="*/ 0 w 35642"/>
              <a:gd name="connsiteY29" fmla="*/ 22339 h 42914"/>
              <a:gd name="connsiteX30" fmla="*/ 14288 w 35642"/>
              <a:gd name="connsiteY30" fmla="*/ 34245 h 42914"/>
              <a:gd name="connsiteX31" fmla="*/ 7144 w 35642"/>
              <a:gd name="connsiteY31" fmla="*/ 41389 h 42914"/>
              <a:gd name="connsiteX32" fmla="*/ 0 w 35642"/>
              <a:gd name="connsiteY32" fmla="*/ 22339 h 42914"/>
              <a:gd name="connsiteX33" fmla="*/ 19050 w 35642"/>
              <a:gd name="connsiteY33" fmla="*/ 19958 h 42914"/>
              <a:gd name="connsiteX34" fmla="*/ 14288 w 35642"/>
              <a:gd name="connsiteY34" fmla="*/ 19958 h 42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642" h="42914">
                <a:moveTo>
                  <a:pt x="14288" y="19958"/>
                </a:moveTo>
                <a:cubicBezTo>
                  <a:pt x="14685" y="21942"/>
                  <a:pt x="21431" y="27236"/>
                  <a:pt x="21431" y="31864"/>
                </a:cubicBezTo>
                <a:cubicBezTo>
                  <a:pt x="21431" y="35833"/>
                  <a:pt x="15762" y="45074"/>
                  <a:pt x="14288" y="41389"/>
                </a:cubicBezTo>
                <a:cubicBezTo>
                  <a:pt x="10150" y="31045"/>
                  <a:pt x="12700" y="19164"/>
                  <a:pt x="11906" y="8051"/>
                </a:cubicBezTo>
                <a:cubicBezTo>
                  <a:pt x="12700" y="5670"/>
                  <a:pt x="11958" y="1840"/>
                  <a:pt x="14288" y="908"/>
                </a:cubicBezTo>
                <a:cubicBezTo>
                  <a:pt x="23299" y="-2696"/>
                  <a:pt x="25040" y="5241"/>
                  <a:pt x="26194" y="10433"/>
                </a:cubicBezTo>
                <a:cubicBezTo>
                  <a:pt x="27241" y="15146"/>
                  <a:pt x="30734" y="20402"/>
                  <a:pt x="28575" y="24720"/>
                </a:cubicBezTo>
                <a:cubicBezTo>
                  <a:pt x="27295" y="27280"/>
                  <a:pt x="23812" y="21545"/>
                  <a:pt x="21431" y="19958"/>
                </a:cubicBezTo>
                <a:cubicBezTo>
                  <a:pt x="22225" y="16783"/>
                  <a:pt x="20540" y="10433"/>
                  <a:pt x="23813" y="10433"/>
                </a:cubicBezTo>
                <a:cubicBezTo>
                  <a:pt x="27086" y="10433"/>
                  <a:pt x="26600" y="16711"/>
                  <a:pt x="26194" y="19958"/>
                </a:cubicBezTo>
                <a:cubicBezTo>
                  <a:pt x="25754" y="23480"/>
                  <a:pt x="23019" y="26308"/>
                  <a:pt x="21431" y="29483"/>
                </a:cubicBezTo>
                <a:cubicBezTo>
                  <a:pt x="16669" y="26308"/>
                  <a:pt x="10471" y="24616"/>
                  <a:pt x="7144" y="19958"/>
                </a:cubicBezTo>
                <a:cubicBezTo>
                  <a:pt x="5685" y="17915"/>
                  <a:pt x="7064" y="12322"/>
                  <a:pt x="9525" y="12814"/>
                </a:cubicBezTo>
                <a:cubicBezTo>
                  <a:pt x="13928" y="13695"/>
                  <a:pt x="15875" y="19164"/>
                  <a:pt x="19050" y="22339"/>
                </a:cubicBezTo>
                <a:cubicBezTo>
                  <a:pt x="19844" y="25514"/>
                  <a:pt x="23745" y="29550"/>
                  <a:pt x="21431" y="31864"/>
                </a:cubicBezTo>
                <a:cubicBezTo>
                  <a:pt x="19407" y="33888"/>
                  <a:pt x="15875" y="29482"/>
                  <a:pt x="14288" y="27101"/>
                </a:cubicBezTo>
                <a:cubicBezTo>
                  <a:pt x="12473" y="24378"/>
                  <a:pt x="9288" y="19540"/>
                  <a:pt x="11906" y="17576"/>
                </a:cubicBezTo>
                <a:cubicBezTo>
                  <a:pt x="15144" y="15148"/>
                  <a:pt x="19844" y="19164"/>
                  <a:pt x="23813" y="19958"/>
                </a:cubicBezTo>
                <a:cubicBezTo>
                  <a:pt x="22225" y="23927"/>
                  <a:pt x="23324" y="31864"/>
                  <a:pt x="19050" y="31864"/>
                </a:cubicBezTo>
                <a:cubicBezTo>
                  <a:pt x="13968" y="31864"/>
                  <a:pt x="9103" y="25023"/>
                  <a:pt x="9525" y="19958"/>
                </a:cubicBezTo>
                <a:cubicBezTo>
                  <a:pt x="10092" y="13153"/>
                  <a:pt x="17462" y="8845"/>
                  <a:pt x="21431" y="3289"/>
                </a:cubicBezTo>
                <a:cubicBezTo>
                  <a:pt x="24179" y="8098"/>
                  <a:pt x="41866" y="33927"/>
                  <a:pt x="33338" y="41389"/>
                </a:cubicBezTo>
                <a:cubicBezTo>
                  <a:pt x="27830" y="46208"/>
                  <a:pt x="19050" y="38214"/>
                  <a:pt x="11906" y="36626"/>
                </a:cubicBezTo>
                <a:cubicBezTo>
                  <a:pt x="14287" y="32657"/>
                  <a:pt x="14512" y="23812"/>
                  <a:pt x="19050" y="24720"/>
                </a:cubicBezTo>
                <a:cubicBezTo>
                  <a:pt x="23973" y="25705"/>
                  <a:pt x="26598" y="43185"/>
                  <a:pt x="23813" y="39008"/>
                </a:cubicBezTo>
                <a:cubicBezTo>
                  <a:pt x="19477" y="32503"/>
                  <a:pt x="17463" y="24720"/>
                  <a:pt x="14288" y="17576"/>
                </a:cubicBezTo>
                <a:cubicBezTo>
                  <a:pt x="15082" y="14401"/>
                  <a:pt x="13863" y="9735"/>
                  <a:pt x="16669" y="8051"/>
                </a:cubicBezTo>
                <a:cubicBezTo>
                  <a:pt x="27665" y="1454"/>
                  <a:pt x="30372" y="22969"/>
                  <a:pt x="30956" y="24720"/>
                </a:cubicBezTo>
                <a:cubicBezTo>
                  <a:pt x="29369" y="27101"/>
                  <a:pt x="29017" y="31393"/>
                  <a:pt x="26194" y="31864"/>
                </a:cubicBezTo>
                <a:cubicBezTo>
                  <a:pt x="2099" y="35880"/>
                  <a:pt x="4206" y="34959"/>
                  <a:pt x="0" y="22339"/>
                </a:cubicBezTo>
                <a:cubicBezTo>
                  <a:pt x="8258" y="16834"/>
                  <a:pt x="14288" y="9431"/>
                  <a:pt x="14288" y="34245"/>
                </a:cubicBezTo>
                <a:lnTo>
                  <a:pt x="7144" y="41389"/>
                </a:lnTo>
                <a:cubicBezTo>
                  <a:pt x="4763" y="35039"/>
                  <a:pt x="0" y="29121"/>
                  <a:pt x="0" y="22339"/>
                </a:cubicBezTo>
                <a:cubicBezTo>
                  <a:pt x="0" y="3800"/>
                  <a:pt x="15310" y="16966"/>
                  <a:pt x="19050" y="19958"/>
                </a:cubicBezTo>
                <a:cubicBezTo>
                  <a:pt x="19670" y="20454"/>
                  <a:pt x="13891" y="17974"/>
                  <a:pt x="14288" y="19958"/>
                </a:cubicBez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6E214F60-B464-4B25-8FDD-CE24C3C7CB26}"/>
              </a:ext>
            </a:extLst>
          </p:cNvPr>
          <p:cNvSpPr/>
          <p:nvPr/>
        </p:nvSpPr>
        <p:spPr>
          <a:xfrm>
            <a:off x="5806416" y="3547994"/>
            <a:ext cx="52066" cy="35718"/>
          </a:xfrm>
          <a:custGeom>
            <a:avLst/>
            <a:gdLst>
              <a:gd name="connsiteX0" fmla="*/ 11645 w 52066"/>
              <a:gd name="connsiteY0" fmla="*/ 16668 h 35718"/>
              <a:gd name="connsiteX1" fmla="*/ 9264 w 52066"/>
              <a:gd name="connsiteY1" fmla="*/ 28575 h 35718"/>
              <a:gd name="connsiteX2" fmla="*/ 2120 w 52066"/>
              <a:gd name="connsiteY2" fmla="*/ 19050 h 35718"/>
              <a:gd name="connsiteX3" fmla="*/ 11645 w 52066"/>
              <a:gd name="connsiteY3" fmla="*/ 11906 h 35718"/>
              <a:gd name="connsiteX4" fmla="*/ 23551 w 52066"/>
              <a:gd name="connsiteY4" fmla="*/ 19050 h 35718"/>
              <a:gd name="connsiteX5" fmla="*/ 28314 w 52066"/>
              <a:gd name="connsiteY5" fmla="*/ 19050 h 35718"/>
              <a:gd name="connsiteX6" fmla="*/ 44983 w 52066"/>
              <a:gd name="connsiteY6" fmla="*/ 21431 h 35718"/>
              <a:gd name="connsiteX7" fmla="*/ 42601 w 52066"/>
              <a:gd name="connsiteY7" fmla="*/ 33337 h 35718"/>
              <a:gd name="connsiteX8" fmla="*/ 30695 w 52066"/>
              <a:gd name="connsiteY8" fmla="*/ 23812 h 35718"/>
              <a:gd name="connsiteX9" fmla="*/ 44983 w 52066"/>
              <a:gd name="connsiteY9" fmla="*/ 2381 h 35718"/>
              <a:gd name="connsiteX10" fmla="*/ 40220 w 52066"/>
              <a:gd name="connsiteY10" fmla="*/ 33337 h 35718"/>
              <a:gd name="connsiteX11" fmla="*/ 11645 w 52066"/>
              <a:gd name="connsiteY11" fmla="*/ 19050 h 35718"/>
              <a:gd name="connsiteX12" fmla="*/ 6883 w 52066"/>
              <a:gd name="connsiteY12" fmla="*/ 7143 h 35718"/>
              <a:gd name="connsiteX13" fmla="*/ 30695 w 52066"/>
              <a:gd name="connsiteY13" fmla="*/ 19050 h 35718"/>
              <a:gd name="connsiteX14" fmla="*/ 16408 w 52066"/>
              <a:gd name="connsiteY14" fmla="*/ 33337 h 35718"/>
              <a:gd name="connsiteX15" fmla="*/ 2120 w 52066"/>
              <a:gd name="connsiteY15" fmla="*/ 30956 h 35718"/>
              <a:gd name="connsiteX16" fmla="*/ 25933 w 52066"/>
              <a:gd name="connsiteY16" fmla="*/ 0 h 35718"/>
              <a:gd name="connsiteX17" fmla="*/ 37839 w 52066"/>
              <a:gd name="connsiteY17" fmla="*/ 14287 h 35718"/>
              <a:gd name="connsiteX18" fmla="*/ 35458 w 52066"/>
              <a:gd name="connsiteY18" fmla="*/ 30956 h 35718"/>
              <a:gd name="connsiteX19" fmla="*/ 23551 w 52066"/>
              <a:gd name="connsiteY19" fmla="*/ 19050 h 35718"/>
              <a:gd name="connsiteX20" fmla="*/ 28314 w 52066"/>
              <a:gd name="connsiteY20" fmla="*/ 7143 h 35718"/>
              <a:gd name="connsiteX21" fmla="*/ 37839 w 52066"/>
              <a:gd name="connsiteY21" fmla="*/ 2381 h 35718"/>
              <a:gd name="connsiteX22" fmla="*/ 30695 w 52066"/>
              <a:gd name="connsiteY22" fmla="*/ 35718 h 35718"/>
              <a:gd name="connsiteX23" fmla="*/ 16408 w 52066"/>
              <a:gd name="connsiteY23" fmla="*/ 26193 h 35718"/>
              <a:gd name="connsiteX24" fmla="*/ 9264 w 52066"/>
              <a:gd name="connsiteY24" fmla="*/ 14287 h 35718"/>
              <a:gd name="connsiteX25" fmla="*/ 30695 w 52066"/>
              <a:gd name="connsiteY25" fmla="*/ 21431 h 35718"/>
              <a:gd name="connsiteX26" fmla="*/ 25933 w 52066"/>
              <a:gd name="connsiteY26" fmla="*/ 23812 h 35718"/>
              <a:gd name="connsiteX27" fmla="*/ 30695 w 52066"/>
              <a:gd name="connsiteY27" fmla="*/ 30956 h 35718"/>
              <a:gd name="connsiteX28" fmla="*/ 23551 w 52066"/>
              <a:gd name="connsiteY28" fmla="*/ 9525 h 35718"/>
              <a:gd name="connsiteX29" fmla="*/ 35458 w 52066"/>
              <a:gd name="connsiteY29" fmla="*/ 14287 h 35718"/>
              <a:gd name="connsiteX30" fmla="*/ 11645 w 52066"/>
              <a:gd name="connsiteY30" fmla="*/ 16668 h 35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066" h="35718">
                <a:moveTo>
                  <a:pt x="11645" y="16668"/>
                </a:moveTo>
                <a:cubicBezTo>
                  <a:pt x="7279" y="19049"/>
                  <a:pt x="13191" y="27593"/>
                  <a:pt x="9264" y="28575"/>
                </a:cubicBezTo>
                <a:cubicBezTo>
                  <a:pt x="5414" y="29538"/>
                  <a:pt x="1559" y="22979"/>
                  <a:pt x="2120" y="19050"/>
                </a:cubicBezTo>
                <a:cubicBezTo>
                  <a:pt x="2681" y="15121"/>
                  <a:pt x="8470" y="14287"/>
                  <a:pt x="11645" y="11906"/>
                </a:cubicBezTo>
                <a:cubicBezTo>
                  <a:pt x="15614" y="14287"/>
                  <a:pt x="20774" y="15347"/>
                  <a:pt x="23551" y="19050"/>
                </a:cubicBezTo>
                <a:cubicBezTo>
                  <a:pt x="28565" y="25735"/>
                  <a:pt x="23302" y="44114"/>
                  <a:pt x="28314" y="19050"/>
                </a:cubicBezTo>
                <a:cubicBezTo>
                  <a:pt x="33870" y="19844"/>
                  <a:pt x="40077" y="18705"/>
                  <a:pt x="44983" y="21431"/>
                </a:cubicBezTo>
                <a:cubicBezTo>
                  <a:pt x="60432" y="30014"/>
                  <a:pt x="46349" y="32088"/>
                  <a:pt x="42601" y="33337"/>
                </a:cubicBezTo>
                <a:cubicBezTo>
                  <a:pt x="38632" y="30162"/>
                  <a:pt x="32032" y="28715"/>
                  <a:pt x="30695" y="23812"/>
                </a:cubicBezTo>
                <a:cubicBezTo>
                  <a:pt x="26564" y="8664"/>
                  <a:pt x="36352" y="6696"/>
                  <a:pt x="44983" y="2381"/>
                </a:cubicBezTo>
                <a:cubicBezTo>
                  <a:pt x="46575" y="7159"/>
                  <a:pt x="58856" y="32172"/>
                  <a:pt x="40220" y="33337"/>
                </a:cubicBezTo>
                <a:cubicBezTo>
                  <a:pt x="29592" y="34001"/>
                  <a:pt x="21170" y="23812"/>
                  <a:pt x="11645" y="19050"/>
                </a:cubicBezTo>
                <a:cubicBezTo>
                  <a:pt x="10058" y="15081"/>
                  <a:pt x="2608" y="7143"/>
                  <a:pt x="6883" y="7143"/>
                </a:cubicBezTo>
                <a:cubicBezTo>
                  <a:pt x="15757" y="7143"/>
                  <a:pt x="27662" y="10710"/>
                  <a:pt x="30695" y="19050"/>
                </a:cubicBezTo>
                <a:cubicBezTo>
                  <a:pt x="32997" y="25379"/>
                  <a:pt x="21170" y="28575"/>
                  <a:pt x="16408" y="33337"/>
                </a:cubicBezTo>
                <a:cubicBezTo>
                  <a:pt x="11645" y="32543"/>
                  <a:pt x="4679" y="35050"/>
                  <a:pt x="2120" y="30956"/>
                </a:cubicBezTo>
                <a:cubicBezTo>
                  <a:pt x="-7927" y="14882"/>
                  <a:pt x="20699" y="3489"/>
                  <a:pt x="25933" y="0"/>
                </a:cubicBezTo>
                <a:cubicBezTo>
                  <a:pt x="29902" y="4762"/>
                  <a:pt x="36016" y="8362"/>
                  <a:pt x="37839" y="14287"/>
                </a:cubicBezTo>
                <a:cubicBezTo>
                  <a:pt x="39490" y="19652"/>
                  <a:pt x="40783" y="29181"/>
                  <a:pt x="35458" y="30956"/>
                </a:cubicBezTo>
                <a:cubicBezTo>
                  <a:pt x="30133" y="32731"/>
                  <a:pt x="27520" y="23019"/>
                  <a:pt x="23551" y="19050"/>
                </a:cubicBezTo>
                <a:cubicBezTo>
                  <a:pt x="25139" y="15081"/>
                  <a:pt x="25532" y="10389"/>
                  <a:pt x="28314" y="7143"/>
                </a:cubicBezTo>
                <a:cubicBezTo>
                  <a:pt x="30624" y="4448"/>
                  <a:pt x="37544" y="-1156"/>
                  <a:pt x="37839" y="2381"/>
                </a:cubicBezTo>
                <a:cubicBezTo>
                  <a:pt x="38783" y="13706"/>
                  <a:pt x="33076" y="24606"/>
                  <a:pt x="30695" y="35718"/>
                </a:cubicBezTo>
                <a:cubicBezTo>
                  <a:pt x="25933" y="32543"/>
                  <a:pt x="20455" y="30240"/>
                  <a:pt x="16408" y="26193"/>
                </a:cubicBezTo>
                <a:cubicBezTo>
                  <a:pt x="13135" y="22920"/>
                  <a:pt x="4873" y="15751"/>
                  <a:pt x="9264" y="14287"/>
                </a:cubicBezTo>
                <a:lnTo>
                  <a:pt x="30695" y="21431"/>
                </a:lnTo>
                <a:cubicBezTo>
                  <a:pt x="42299" y="38836"/>
                  <a:pt x="31975" y="20792"/>
                  <a:pt x="25933" y="23812"/>
                </a:cubicBezTo>
                <a:cubicBezTo>
                  <a:pt x="23373" y="25092"/>
                  <a:pt x="31166" y="33779"/>
                  <a:pt x="30695" y="30956"/>
                </a:cubicBezTo>
                <a:cubicBezTo>
                  <a:pt x="29457" y="23528"/>
                  <a:pt x="21482" y="16765"/>
                  <a:pt x="23551" y="9525"/>
                </a:cubicBezTo>
                <a:cubicBezTo>
                  <a:pt x="24725" y="5415"/>
                  <a:pt x="32120" y="11617"/>
                  <a:pt x="35458" y="14287"/>
                </a:cubicBezTo>
                <a:cubicBezTo>
                  <a:pt x="36698" y="15279"/>
                  <a:pt x="16011" y="14287"/>
                  <a:pt x="11645" y="16668"/>
                </a:cubicBez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C579A06F-FD69-4D6D-8295-34DEB257EEB8}"/>
              </a:ext>
            </a:extLst>
          </p:cNvPr>
          <p:cNvSpPr/>
          <p:nvPr/>
        </p:nvSpPr>
        <p:spPr>
          <a:xfrm>
            <a:off x="4701255" y="3677953"/>
            <a:ext cx="48116" cy="39076"/>
          </a:xfrm>
          <a:custGeom>
            <a:avLst/>
            <a:gdLst>
              <a:gd name="connsiteX0" fmla="*/ 11906 w 48116"/>
              <a:gd name="connsiteY0" fmla="*/ 29584 h 39076"/>
              <a:gd name="connsiteX1" fmla="*/ 14287 w 48116"/>
              <a:gd name="connsiteY1" fmla="*/ 17678 h 39076"/>
              <a:gd name="connsiteX2" fmla="*/ 26194 w 48116"/>
              <a:gd name="connsiteY2" fmla="*/ 31966 h 39076"/>
              <a:gd name="connsiteX3" fmla="*/ 19050 w 48116"/>
              <a:gd name="connsiteY3" fmla="*/ 22441 h 39076"/>
              <a:gd name="connsiteX4" fmla="*/ 28575 w 48116"/>
              <a:gd name="connsiteY4" fmla="*/ 17678 h 39076"/>
              <a:gd name="connsiteX5" fmla="*/ 30956 w 48116"/>
              <a:gd name="connsiteY5" fmla="*/ 36728 h 39076"/>
              <a:gd name="connsiteX6" fmla="*/ 16669 w 48116"/>
              <a:gd name="connsiteY6" fmla="*/ 29584 h 39076"/>
              <a:gd name="connsiteX7" fmla="*/ 26194 w 48116"/>
              <a:gd name="connsiteY7" fmla="*/ 20059 h 39076"/>
              <a:gd name="connsiteX8" fmla="*/ 30956 w 48116"/>
              <a:gd name="connsiteY8" fmla="*/ 34347 h 39076"/>
              <a:gd name="connsiteX9" fmla="*/ 23812 w 48116"/>
              <a:gd name="connsiteY9" fmla="*/ 20059 h 39076"/>
              <a:gd name="connsiteX10" fmla="*/ 28575 w 48116"/>
              <a:gd name="connsiteY10" fmla="*/ 12916 h 39076"/>
              <a:gd name="connsiteX11" fmla="*/ 38100 w 48116"/>
              <a:gd name="connsiteY11" fmla="*/ 27203 h 39076"/>
              <a:gd name="connsiteX12" fmla="*/ 33337 w 48116"/>
              <a:gd name="connsiteY12" fmla="*/ 34347 h 39076"/>
              <a:gd name="connsiteX13" fmla="*/ 19050 w 48116"/>
              <a:gd name="connsiteY13" fmla="*/ 10534 h 39076"/>
              <a:gd name="connsiteX14" fmla="*/ 30956 w 48116"/>
              <a:gd name="connsiteY14" fmla="*/ 3391 h 39076"/>
              <a:gd name="connsiteX15" fmla="*/ 45244 w 48116"/>
              <a:gd name="connsiteY15" fmla="*/ 27203 h 39076"/>
              <a:gd name="connsiteX16" fmla="*/ 28575 w 48116"/>
              <a:gd name="connsiteY16" fmla="*/ 22441 h 39076"/>
              <a:gd name="connsiteX17" fmla="*/ 23812 w 48116"/>
              <a:gd name="connsiteY17" fmla="*/ 12916 h 39076"/>
              <a:gd name="connsiteX18" fmla="*/ 28575 w 48116"/>
              <a:gd name="connsiteY18" fmla="*/ 20059 h 39076"/>
              <a:gd name="connsiteX19" fmla="*/ 19050 w 48116"/>
              <a:gd name="connsiteY19" fmla="*/ 24822 h 39076"/>
              <a:gd name="connsiteX20" fmla="*/ 9525 w 48116"/>
              <a:gd name="connsiteY20" fmla="*/ 8153 h 39076"/>
              <a:gd name="connsiteX21" fmla="*/ 21431 w 48116"/>
              <a:gd name="connsiteY21" fmla="*/ 1009 h 39076"/>
              <a:gd name="connsiteX22" fmla="*/ 33337 w 48116"/>
              <a:gd name="connsiteY22" fmla="*/ 15297 h 39076"/>
              <a:gd name="connsiteX23" fmla="*/ 28575 w 48116"/>
              <a:gd name="connsiteY23" fmla="*/ 29584 h 39076"/>
              <a:gd name="connsiteX24" fmla="*/ 14287 w 48116"/>
              <a:gd name="connsiteY24" fmla="*/ 24822 h 39076"/>
              <a:gd name="connsiteX25" fmla="*/ 11906 w 48116"/>
              <a:gd name="connsiteY25" fmla="*/ 24822 h 39076"/>
              <a:gd name="connsiteX26" fmla="*/ 26194 w 48116"/>
              <a:gd name="connsiteY26" fmla="*/ 10534 h 39076"/>
              <a:gd name="connsiteX27" fmla="*/ 35719 w 48116"/>
              <a:gd name="connsiteY27" fmla="*/ 15297 h 39076"/>
              <a:gd name="connsiteX28" fmla="*/ 38100 w 48116"/>
              <a:gd name="connsiteY28" fmla="*/ 29584 h 39076"/>
              <a:gd name="connsiteX29" fmla="*/ 9525 w 48116"/>
              <a:gd name="connsiteY29" fmla="*/ 22441 h 39076"/>
              <a:gd name="connsiteX30" fmla="*/ 21431 w 48116"/>
              <a:gd name="connsiteY30" fmla="*/ 3391 h 39076"/>
              <a:gd name="connsiteX31" fmla="*/ 30956 w 48116"/>
              <a:gd name="connsiteY31" fmla="*/ 1009 h 39076"/>
              <a:gd name="connsiteX32" fmla="*/ 38100 w 48116"/>
              <a:gd name="connsiteY32" fmla="*/ 22441 h 39076"/>
              <a:gd name="connsiteX33" fmla="*/ 35719 w 48116"/>
              <a:gd name="connsiteY33" fmla="*/ 31966 h 39076"/>
              <a:gd name="connsiteX34" fmla="*/ 19050 w 48116"/>
              <a:gd name="connsiteY34" fmla="*/ 22441 h 39076"/>
              <a:gd name="connsiteX35" fmla="*/ 28575 w 48116"/>
              <a:gd name="connsiteY35" fmla="*/ 5772 h 39076"/>
              <a:gd name="connsiteX36" fmla="*/ 30956 w 48116"/>
              <a:gd name="connsiteY36" fmla="*/ 36728 h 39076"/>
              <a:gd name="connsiteX37" fmla="*/ 19050 w 48116"/>
              <a:gd name="connsiteY37" fmla="*/ 29584 h 39076"/>
              <a:gd name="connsiteX38" fmla="*/ 14287 w 48116"/>
              <a:gd name="connsiteY38" fmla="*/ 22441 h 39076"/>
              <a:gd name="connsiteX39" fmla="*/ 30956 w 48116"/>
              <a:gd name="connsiteY39" fmla="*/ 34347 h 39076"/>
              <a:gd name="connsiteX40" fmla="*/ 4762 w 48116"/>
              <a:gd name="connsiteY40" fmla="*/ 29584 h 39076"/>
              <a:gd name="connsiteX41" fmla="*/ 0 w 48116"/>
              <a:gd name="connsiteY41" fmla="*/ 20059 h 39076"/>
              <a:gd name="connsiteX42" fmla="*/ 4762 w 48116"/>
              <a:gd name="connsiteY42" fmla="*/ 12916 h 39076"/>
              <a:gd name="connsiteX43" fmla="*/ 14287 w 48116"/>
              <a:gd name="connsiteY43" fmla="*/ 24822 h 39076"/>
              <a:gd name="connsiteX44" fmla="*/ 11906 w 48116"/>
              <a:gd name="connsiteY44" fmla="*/ 36728 h 39076"/>
              <a:gd name="connsiteX45" fmla="*/ 4762 w 48116"/>
              <a:gd name="connsiteY45" fmla="*/ 34347 h 39076"/>
              <a:gd name="connsiteX46" fmla="*/ 11906 w 48116"/>
              <a:gd name="connsiteY46" fmla="*/ 29584 h 3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8116" h="39076">
                <a:moveTo>
                  <a:pt x="11906" y="29584"/>
                </a:moveTo>
                <a:cubicBezTo>
                  <a:pt x="13493" y="26806"/>
                  <a:pt x="10395" y="18790"/>
                  <a:pt x="14287" y="17678"/>
                </a:cubicBezTo>
                <a:cubicBezTo>
                  <a:pt x="35605" y="11588"/>
                  <a:pt x="28003" y="26538"/>
                  <a:pt x="26194" y="31966"/>
                </a:cubicBezTo>
                <a:cubicBezTo>
                  <a:pt x="23813" y="28791"/>
                  <a:pt x="18398" y="26356"/>
                  <a:pt x="19050" y="22441"/>
                </a:cubicBezTo>
                <a:cubicBezTo>
                  <a:pt x="19634" y="18939"/>
                  <a:pt x="26302" y="14951"/>
                  <a:pt x="28575" y="17678"/>
                </a:cubicBezTo>
                <a:cubicBezTo>
                  <a:pt x="32672" y="22594"/>
                  <a:pt x="35481" y="32203"/>
                  <a:pt x="30956" y="36728"/>
                </a:cubicBezTo>
                <a:cubicBezTo>
                  <a:pt x="27191" y="40493"/>
                  <a:pt x="21431" y="31965"/>
                  <a:pt x="16669" y="29584"/>
                </a:cubicBezTo>
                <a:cubicBezTo>
                  <a:pt x="19844" y="26409"/>
                  <a:pt x="21749" y="20694"/>
                  <a:pt x="26194" y="20059"/>
                </a:cubicBezTo>
                <a:cubicBezTo>
                  <a:pt x="38679" y="18276"/>
                  <a:pt x="31743" y="31986"/>
                  <a:pt x="30956" y="34347"/>
                </a:cubicBezTo>
                <a:cubicBezTo>
                  <a:pt x="28575" y="29584"/>
                  <a:pt x="24400" y="25351"/>
                  <a:pt x="23812" y="20059"/>
                </a:cubicBezTo>
                <a:cubicBezTo>
                  <a:pt x="23496" y="17215"/>
                  <a:pt x="26015" y="11636"/>
                  <a:pt x="28575" y="12916"/>
                </a:cubicBezTo>
                <a:cubicBezTo>
                  <a:pt x="33694" y="15476"/>
                  <a:pt x="34925" y="22441"/>
                  <a:pt x="38100" y="27203"/>
                </a:cubicBezTo>
                <a:cubicBezTo>
                  <a:pt x="36512" y="29584"/>
                  <a:pt x="36199" y="34347"/>
                  <a:pt x="33337" y="34347"/>
                </a:cubicBezTo>
                <a:cubicBezTo>
                  <a:pt x="22221" y="34347"/>
                  <a:pt x="20488" y="15569"/>
                  <a:pt x="19050" y="10534"/>
                </a:cubicBezTo>
                <a:cubicBezTo>
                  <a:pt x="23019" y="8153"/>
                  <a:pt x="26351" y="2930"/>
                  <a:pt x="30956" y="3391"/>
                </a:cubicBezTo>
                <a:cubicBezTo>
                  <a:pt x="31500" y="3445"/>
                  <a:pt x="56401" y="19765"/>
                  <a:pt x="45244" y="27203"/>
                </a:cubicBezTo>
                <a:cubicBezTo>
                  <a:pt x="40436" y="30408"/>
                  <a:pt x="34131" y="24028"/>
                  <a:pt x="28575" y="22441"/>
                </a:cubicBezTo>
                <a:cubicBezTo>
                  <a:pt x="26987" y="19266"/>
                  <a:pt x="23812" y="16466"/>
                  <a:pt x="23812" y="12916"/>
                </a:cubicBezTo>
                <a:cubicBezTo>
                  <a:pt x="23812" y="10054"/>
                  <a:pt x="29638" y="17402"/>
                  <a:pt x="28575" y="20059"/>
                </a:cubicBezTo>
                <a:cubicBezTo>
                  <a:pt x="27257" y="23355"/>
                  <a:pt x="22225" y="23234"/>
                  <a:pt x="19050" y="24822"/>
                </a:cubicBezTo>
                <a:cubicBezTo>
                  <a:pt x="15875" y="19266"/>
                  <a:pt x="8888" y="14521"/>
                  <a:pt x="9525" y="8153"/>
                </a:cubicBezTo>
                <a:cubicBezTo>
                  <a:pt x="9985" y="3548"/>
                  <a:pt x="16998" y="-321"/>
                  <a:pt x="21431" y="1009"/>
                </a:cubicBezTo>
                <a:cubicBezTo>
                  <a:pt x="27369" y="2790"/>
                  <a:pt x="29368" y="10534"/>
                  <a:pt x="33337" y="15297"/>
                </a:cubicBezTo>
                <a:cubicBezTo>
                  <a:pt x="31750" y="20059"/>
                  <a:pt x="33065" y="27339"/>
                  <a:pt x="28575" y="29584"/>
                </a:cubicBezTo>
                <a:cubicBezTo>
                  <a:pt x="24085" y="31829"/>
                  <a:pt x="14287" y="19802"/>
                  <a:pt x="14287" y="24822"/>
                </a:cubicBezTo>
                <a:cubicBezTo>
                  <a:pt x="14287" y="27147"/>
                  <a:pt x="55134" y="55698"/>
                  <a:pt x="11906" y="24822"/>
                </a:cubicBezTo>
                <a:cubicBezTo>
                  <a:pt x="16669" y="20059"/>
                  <a:pt x="19940" y="13035"/>
                  <a:pt x="26194" y="10534"/>
                </a:cubicBezTo>
                <a:cubicBezTo>
                  <a:pt x="29490" y="9216"/>
                  <a:pt x="33838" y="12287"/>
                  <a:pt x="35719" y="15297"/>
                </a:cubicBezTo>
                <a:cubicBezTo>
                  <a:pt x="38278" y="19391"/>
                  <a:pt x="42758" y="28314"/>
                  <a:pt x="38100" y="29584"/>
                </a:cubicBezTo>
                <a:cubicBezTo>
                  <a:pt x="28628" y="32167"/>
                  <a:pt x="19050" y="24822"/>
                  <a:pt x="9525" y="22441"/>
                </a:cubicBezTo>
                <a:cubicBezTo>
                  <a:pt x="13494" y="16091"/>
                  <a:pt x="16136" y="8686"/>
                  <a:pt x="21431" y="3391"/>
                </a:cubicBezTo>
                <a:cubicBezTo>
                  <a:pt x="23745" y="1077"/>
                  <a:pt x="28801" y="-1454"/>
                  <a:pt x="30956" y="1009"/>
                </a:cubicBezTo>
                <a:cubicBezTo>
                  <a:pt x="35915" y="6676"/>
                  <a:pt x="35719" y="15297"/>
                  <a:pt x="38100" y="22441"/>
                </a:cubicBezTo>
                <a:cubicBezTo>
                  <a:pt x="37306" y="25616"/>
                  <a:pt x="38992" y="31966"/>
                  <a:pt x="35719" y="31966"/>
                </a:cubicBezTo>
                <a:cubicBezTo>
                  <a:pt x="29320" y="31966"/>
                  <a:pt x="20734" y="28615"/>
                  <a:pt x="19050" y="22441"/>
                </a:cubicBezTo>
                <a:cubicBezTo>
                  <a:pt x="17366" y="16267"/>
                  <a:pt x="25400" y="11328"/>
                  <a:pt x="28575" y="5772"/>
                </a:cubicBezTo>
                <a:cubicBezTo>
                  <a:pt x="33296" y="12853"/>
                  <a:pt x="48970" y="27721"/>
                  <a:pt x="30956" y="36728"/>
                </a:cubicBezTo>
                <a:cubicBezTo>
                  <a:pt x="26816" y="38798"/>
                  <a:pt x="23019" y="31965"/>
                  <a:pt x="19050" y="29584"/>
                </a:cubicBezTo>
                <a:cubicBezTo>
                  <a:pt x="17462" y="27203"/>
                  <a:pt x="13593" y="25217"/>
                  <a:pt x="14287" y="22441"/>
                </a:cubicBezTo>
                <a:cubicBezTo>
                  <a:pt x="23134" y="-12951"/>
                  <a:pt x="31898" y="33405"/>
                  <a:pt x="30956" y="34347"/>
                </a:cubicBezTo>
                <a:cubicBezTo>
                  <a:pt x="24681" y="40622"/>
                  <a:pt x="13493" y="31172"/>
                  <a:pt x="4762" y="29584"/>
                </a:cubicBezTo>
                <a:cubicBezTo>
                  <a:pt x="3175" y="26409"/>
                  <a:pt x="0" y="23609"/>
                  <a:pt x="0" y="20059"/>
                </a:cubicBezTo>
                <a:cubicBezTo>
                  <a:pt x="0" y="17197"/>
                  <a:pt x="2047" y="12011"/>
                  <a:pt x="4762" y="12916"/>
                </a:cubicBezTo>
                <a:cubicBezTo>
                  <a:pt x="9584" y="14523"/>
                  <a:pt x="11112" y="20853"/>
                  <a:pt x="14287" y="24822"/>
                </a:cubicBezTo>
                <a:cubicBezTo>
                  <a:pt x="13493" y="28791"/>
                  <a:pt x="14768" y="33866"/>
                  <a:pt x="11906" y="36728"/>
                </a:cubicBezTo>
                <a:cubicBezTo>
                  <a:pt x="10131" y="38503"/>
                  <a:pt x="5884" y="36592"/>
                  <a:pt x="4762" y="34347"/>
                </a:cubicBezTo>
                <a:cubicBezTo>
                  <a:pt x="3639" y="32102"/>
                  <a:pt x="10319" y="32362"/>
                  <a:pt x="11906" y="29584"/>
                </a:cubicBez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30D43D36-8FA3-489F-A7C7-702302EC6E51}"/>
              </a:ext>
            </a:extLst>
          </p:cNvPr>
          <p:cNvCxnSpPr>
            <a:cxnSpLocks/>
            <a:endCxn id="34" idx="13"/>
          </p:cNvCxnSpPr>
          <p:nvPr/>
        </p:nvCxnSpPr>
        <p:spPr>
          <a:xfrm flipH="1">
            <a:off x="4720305" y="3338444"/>
            <a:ext cx="650081" cy="3500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83078B6-F3D0-4DF6-9BBF-624545D6B3BA}"/>
              </a:ext>
            </a:extLst>
          </p:cNvPr>
          <p:cNvCxnSpPr>
            <a:cxnSpLocks/>
            <a:stCxn id="33" idx="20"/>
          </p:cNvCxnSpPr>
          <p:nvPr/>
        </p:nvCxnSpPr>
        <p:spPr>
          <a:xfrm flipH="1" flipV="1">
            <a:off x="5384674" y="3338444"/>
            <a:ext cx="450056" cy="2166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92CFA6DA-E8F5-4993-9367-88040CF75703}"/>
              </a:ext>
            </a:extLst>
          </p:cNvPr>
          <p:cNvSpPr/>
          <p:nvPr/>
        </p:nvSpPr>
        <p:spPr>
          <a:xfrm>
            <a:off x="5172742" y="3428931"/>
            <a:ext cx="388144" cy="85725"/>
          </a:xfrm>
          <a:custGeom>
            <a:avLst/>
            <a:gdLst>
              <a:gd name="connsiteX0" fmla="*/ 0 w 388144"/>
              <a:gd name="connsiteY0" fmla="*/ 26194 h 85725"/>
              <a:gd name="connsiteX1" fmla="*/ 7144 w 388144"/>
              <a:gd name="connsiteY1" fmla="*/ 38100 h 85725"/>
              <a:gd name="connsiteX2" fmla="*/ 16669 w 388144"/>
              <a:gd name="connsiteY2" fmla="*/ 47625 h 85725"/>
              <a:gd name="connsiteX3" fmla="*/ 52388 w 388144"/>
              <a:gd name="connsiteY3" fmla="*/ 71438 h 85725"/>
              <a:gd name="connsiteX4" fmla="*/ 64294 w 388144"/>
              <a:gd name="connsiteY4" fmla="*/ 73819 h 85725"/>
              <a:gd name="connsiteX5" fmla="*/ 76200 w 388144"/>
              <a:gd name="connsiteY5" fmla="*/ 78581 h 85725"/>
              <a:gd name="connsiteX6" fmla="*/ 116682 w 388144"/>
              <a:gd name="connsiteY6" fmla="*/ 83344 h 85725"/>
              <a:gd name="connsiteX7" fmla="*/ 130969 w 388144"/>
              <a:gd name="connsiteY7" fmla="*/ 85725 h 85725"/>
              <a:gd name="connsiteX8" fmla="*/ 221457 w 388144"/>
              <a:gd name="connsiteY8" fmla="*/ 83344 h 85725"/>
              <a:gd name="connsiteX9" fmla="*/ 233363 w 388144"/>
              <a:gd name="connsiteY9" fmla="*/ 80963 h 85725"/>
              <a:gd name="connsiteX10" fmla="*/ 266700 w 388144"/>
              <a:gd name="connsiteY10" fmla="*/ 78581 h 85725"/>
              <a:gd name="connsiteX11" fmla="*/ 292894 w 388144"/>
              <a:gd name="connsiteY11" fmla="*/ 66675 h 85725"/>
              <a:gd name="connsiteX12" fmla="*/ 300038 w 388144"/>
              <a:gd name="connsiteY12" fmla="*/ 61913 h 85725"/>
              <a:gd name="connsiteX13" fmla="*/ 316707 w 388144"/>
              <a:gd name="connsiteY13" fmla="*/ 52388 h 85725"/>
              <a:gd name="connsiteX14" fmla="*/ 326232 w 388144"/>
              <a:gd name="connsiteY14" fmla="*/ 45244 h 85725"/>
              <a:gd name="connsiteX15" fmla="*/ 338138 w 388144"/>
              <a:gd name="connsiteY15" fmla="*/ 38100 h 85725"/>
              <a:gd name="connsiteX16" fmla="*/ 354807 w 388144"/>
              <a:gd name="connsiteY16" fmla="*/ 28575 h 85725"/>
              <a:gd name="connsiteX17" fmla="*/ 369094 w 388144"/>
              <a:gd name="connsiteY17" fmla="*/ 16669 h 85725"/>
              <a:gd name="connsiteX18" fmla="*/ 378619 w 388144"/>
              <a:gd name="connsiteY18" fmla="*/ 11906 h 85725"/>
              <a:gd name="connsiteX19" fmla="*/ 388144 w 388144"/>
              <a:gd name="connsiteY19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144" h="85725">
                <a:moveTo>
                  <a:pt x="0" y="26194"/>
                </a:moveTo>
                <a:cubicBezTo>
                  <a:pt x="2381" y="30163"/>
                  <a:pt x="4302" y="34447"/>
                  <a:pt x="7144" y="38100"/>
                </a:cubicBezTo>
                <a:cubicBezTo>
                  <a:pt x="9901" y="41644"/>
                  <a:pt x="13241" y="44725"/>
                  <a:pt x="16669" y="47625"/>
                </a:cubicBezTo>
                <a:cubicBezTo>
                  <a:pt x="27920" y="57145"/>
                  <a:pt x="38468" y="66376"/>
                  <a:pt x="52388" y="71438"/>
                </a:cubicBezTo>
                <a:cubicBezTo>
                  <a:pt x="56192" y="72821"/>
                  <a:pt x="60417" y="72656"/>
                  <a:pt x="64294" y="73819"/>
                </a:cubicBezTo>
                <a:cubicBezTo>
                  <a:pt x="68388" y="75047"/>
                  <a:pt x="72076" y="77456"/>
                  <a:pt x="76200" y="78581"/>
                </a:cubicBezTo>
                <a:cubicBezTo>
                  <a:pt x="86401" y="81363"/>
                  <a:pt x="108804" y="82417"/>
                  <a:pt x="116682" y="83344"/>
                </a:cubicBezTo>
                <a:cubicBezTo>
                  <a:pt x="121477" y="83908"/>
                  <a:pt x="126207" y="84931"/>
                  <a:pt x="130969" y="85725"/>
                </a:cubicBezTo>
                <a:cubicBezTo>
                  <a:pt x="161132" y="84931"/>
                  <a:pt x="191316" y="84746"/>
                  <a:pt x="221457" y="83344"/>
                </a:cubicBezTo>
                <a:cubicBezTo>
                  <a:pt x="225500" y="83156"/>
                  <a:pt x="229338" y="81387"/>
                  <a:pt x="233363" y="80963"/>
                </a:cubicBezTo>
                <a:cubicBezTo>
                  <a:pt x="244442" y="79797"/>
                  <a:pt x="255588" y="79375"/>
                  <a:pt x="266700" y="78581"/>
                </a:cubicBezTo>
                <a:cubicBezTo>
                  <a:pt x="278364" y="73916"/>
                  <a:pt x="281244" y="73147"/>
                  <a:pt x="292894" y="66675"/>
                </a:cubicBezTo>
                <a:cubicBezTo>
                  <a:pt x="295396" y="65285"/>
                  <a:pt x="297584" y="63385"/>
                  <a:pt x="300038" y="61913"/>
                </a:cubicBezTo>
                <a:cubicBezTo>
                  <a:pt x="305526" y="58621"/>
                  <a:pt x="311308" y="55824"/>
                  <a:pt x="316707" y="52388"/>
                </a:cubicBezTo>
                <a:cubicBezTo>
                  <a:pt x="320055" y="50257"/>
                  <a:pt x="322930" y="47446"/>
                  <a:pt x="326232" y="45244"/>
                </a:cubicBezTo>
                <a:cubicBezTo>
                  <a:pt x="330083" y="42677"/>
                  <a:pt x="334213" y="40553"/>
                  <a:pt x="338138" y="38100"/>
                </a:cubicBezTo>
                <a:cubicBezTo>
                  <a:pt x="351597" y="29688"/>
                  <a:pt x="338553" y="36703"/>
                  <a:pt x="354807" y="28575"/>
                </a:cubicBezTo>
                <a:cubicBezTo>
                  <a:pt x="361376" y="22005"/>
                  <a:pt x="361355" y="21091"/>
                  <a:pt x="369094" y="16669"/>
                </a:cubicBezTo>
                <a:cubicBezTo>
                  <a:pt x="372176" y="14908"/>
                  <a:pt x="375730" y="13969"/>
                  <a:pt x="378619" y="11906"/>
                </a:cubicBezTo>
                <a:cubicBezTo>
                  <a:pt x="385153" y="7239"/>
                  <a:pt x="385240" y="5809"/>
                  <a:pt x="388144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9482798-C0DA-4EED-B60F-0F27C4F21984}"/>
              </a:ext>
            </a:extLst>
          </p:cNvPr>
          <p:cNvSpPr txBox="1"/>
          <p:nvPr/>
        </p:nvSpPr>
        <p:spPr>
          <a:xfrm>
            <a:off x="4915964" y="3100485"/>
            <a:ext cx="49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90°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3A67DC3-A5ED-4A74-BFD7-7E9A94FCA6D0}"/>
              </a:ext>
            </a:extLst>
          </p:cNvPr>
          <p:cNvSpPr txBox="1"/>
          <p:nvPr/>
        </p:nvSpPr>
        <p:spPr>
          <a:xfrm>
            <a:off x="3423429" y="4481032"/>
            <a:ext cx="442345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same</a:t>
            </a:r>
            <a:r>
              <a:rPr lang="fr-FR" dirty="0"/>
              <a:t> calibration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for </a:t>
            </a:r>
            <a:r>
              <a:rPr lang="fr-FR" dirty="0" err="1"/>
              <a:t>OpenCap</a:t>
            </a:r>
            <a:r>
              <a:rPr lang="fr-FR" dirty="0"/>
              <a:t> et Theia3D – no reprojection </a:t>
            </a:r>
            <a:r>
              <a:rPr lang="fr-FR" dirty="0" err="1"/>
              <a:t>error</a:t>
            </a:r>
            <a:r>
              <a:rPr lang="fr-FR" dirty="0"/>
              <a:t> </a:t>
            </a:r>
            <a:r>
              <a:rPr lang="fr-FR" dirty="0" err="1"/>
              <a:t>study</a:t>
            </a:r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D549641-33F1-4D9F-95A9-9257DD7CDC18}"/>
              </a:ext>
            </a:extLst>
          </p:cNvPr>
          <p:cNvSpPr txBox="1"/>
          <p:nvPr/>
        </p:nvSpPr>
        <p:spPr>
          <a:xfrm>
            <a:off x="5138214" y="1429604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Calibration</a:t>
            </a: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C9D102EF-DD62-4F05-9437-9A65DDC5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60810"/>
              </p:ext>
            </p:extLst>
          </p:nvPr>
        </p:nvGraphicFramePr>
        <p:xfrm>
          <a:off x="437823" y="1887331"/>
          <a:ext cx="2700874" cy="305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874">
                  <a:extLst>
                    <a:ext uri="{9D8B030D-6E8A-4147-A177-3AD203B41FA5}">
                      <a16:colId xmlns:a16="http://schemas.microsoft.com/office/drawing/2014/main" val="905891644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r>
                        <a:rPr lang="fr-FR" dirty="0"/>
                        <a:t>2 cameras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226911"/>
                  </a:ext>
                </a:extLst>
              </a:tr>
              <a:tr h="244692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65480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F9D0ECA7-F65A-4A0B-95E4-A1A4C41C1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50" y="2121471"/>
            <a:ext cx="2459047" cy="3315463"/>
          </a:xfrm>
          <a:prstGeom prst="rect">
            <a:avLst/>
          </a:prstGeo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15684733-9B9A-4BC7-B46F-BEA9A1931C2D}"/>
              </a:ext>
            </a:extLst>
          </p:cNvPr>
          <p:cNvSpPr/>
          <p:nvPr/>
        </p:nvSpPr>
        <p:spPr>
          <a:xfrm rot="5400000">
            <a:off x="649790" y="5048761"/>
            <a:ext cx="1066800" cy="72030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26960E-09A5-44E3-858A-FD6D4E094281}"/>
              </a:ext>
            </a:extLst>
          </p:cNvPr>
          <p:cNvSpPr txBox="1"/>
          <p:nvPr/>
        </p:nvSpPr>
        <p:spPr>
          <a:xfrm>
            <a:off x="1686730" y="5436934"/>
            <a:ext cx="2714495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 </a:t>
            </a:r>
            <a:r>
              <a:rPr lang="fr-FR" dirty="0" err="1"/>
              <a:t>accuracy</a:t>
            </a:r>
            <a:r>
              <a:rPr lang="fr-FR" dirty="0"/>
              <a:t> gains by </a:t>
            </a:r>
            <a:r>
              <a:rPr lang="fr-FR" dirty="0" err="1"/>
              <a:t>adding</a:t>
            </a:r>
            <a:r>
              <a:rPr lang="fr-FR" dirty="0"/>
              <a:t> cameras</a:t>
            </a: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06C69C6A-56F5-4B18-80F3-618B69DC4537}"/>
              </a:ext>
            </a:extLst>
          </p:cNvPr>
          <p:cNvSpPr/>
          <p:nvPr/>
        </p:nvSpPr>
        <p:spPr>
          <a:xfrm rot="16200000">
            <a:off x="7598359" y="2294272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1" name="Tableau 11">
            <a:extLst>
              <a:ext uri="{FF2B5EF4-FFF2-40B4-BE49-F238E27FC236}">
                <a16:creationId xmlns:a16="http://schemas.microsoft.com/office/drawing/2014/main" id="{6896237F-6016-4D57-84AC-9069E3D09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362478"/>
              </p:ext>
            </p:extLst>
          </p:nvPr>
        </p:nvGraphicFramePr>
        <p:xfrm>
          <a:off x="8008322" y="1887331"/>
          <a:ext cx="3507019" cy="162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327">
                  <a:extLst>
                    <a:ext uri="{9D8B030D-6E8A-4147-A177-3AD203B41FA5}">
                      <a16:colId xmlns:a16="http://schemas.microsoft.com/office/drawing/2014/main" val="1395594393"/>
                    </a:ext>
                  </a:extLst>
                </a:gridCol>
                <a:gridCol w="1957692">
                  <a:extLst>
                    <a:ext uri="{9D8B030D-6E8A-4147-A177-3AD203B41FA5}">
                      <a16:colId xmlns:a16="http://schemas.microsoft.com/office/drawing/2014/main" val="1767925427"/>
                    </a:ext>
                  </a:extLst>
                </a:gridCol>
              </a:tblGrid>
              <a:tr h="494284">
                <a:tc gridSpan="2">
                  <a:txBody>
                    <a:bodyPr/>
                    <a:lstStyle/>
                    <a:p>
                      <a:r>
                        <a:rPr lang="fr-FR" dirty="0"/>
                        <a:t>Estimateur de pose 2D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78990"/>
                  </a:ext>
                </a:extLst>
              </a:tr>
              <a:tr h="494284">
                <a:tc>
                  <a:txBody>
                    <a:bodyPr/>
                    <a:lstStyle/>
                    <a:p>
                      <a:r>
                        <a:rPr lang="fr-FR" dirty="0" err="1"/>
                        <a:t>HRNet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OpenPose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375455"/>
                  </a:ext>
                </a:extLst>
              </a:tr>
              <a:tr h="494284">
                <a:tc gridSpan="2">
                  <a:txBody>
                    <a:bodyPr/>
                    <a:lstStyle/>
                    <a:p>
                      <a:r>
                        <a:rPr lang="fr-FR" dirty="0" err="1"/>
                        <a:t>Considered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less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accurate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than</a:t>
                      </a:r>
                      <a:r>
                        <a:rPr lang="fr-FR" dirty="0"/>
                        <a:t> </a:t>
                      </a:r>
                      <a:r>
                        <a:rPr lang="fr-FR" b="1" dirty="0" err="1"/>
                        <a:t>RTMPose</a:t>
                      </a:r>
                      <a:r>
                        <a:rPr lang="fr-FR" b="0" dirty="0"/>
                        <a:t> (</a:t>
                      </a:r>
                      <a:r>
                        <a:rPr lang="fr-FR" b="0" dirty="0" err="1"/>
                        <a:t>used</a:t>
                      </a:r>
                      <a:r>
                        <a:rPr lang="fr-FR" b="0" dirty="0"/>
                        <a:t> in </a:t>
                      </a:r>
                      <a:r>
                        <a:rPr lang="fr-FR" b="1" dirty="0" err="1"/>
                        <a:t>MoCapIA</a:t>
                      </a:r>
                      <a:r>
                        <a:rPr lang="fr-FR" b="0" dirty="0"/>
                        <a:t>)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048111"/>
                  </a:ext>
                </a:extLst>
              </a:tr>
            </a:tbl>
          </a:graphicData>
        </a:graphic>
      </p:graphicFrame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D72E8157-AAE7-412B-B94C-3AFBB5B7D648}"/>
              </a:ext>
            </a:extLst>
          </p:cNvPr>
          <p:cNvSpPr/>
          <p:nvPr/>
        </p:nvSpPr>
        <p:spPr>
          <a:xfrm rot="16200000">
            <a:off x="10340677" y="3880697"/>
            <a:ext cx="246888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28CB101-72E8-462E-B574-5E767A3C5D08}"/>
              </a:ext>
            </a:extLst>
          </p:cNvPr>
          <p:cNvSpPr txBox="1"/>
          <p:nvPr/>
        </p:nvSpPr>
        <p:spPr>
          <a:xfrm>
            <a:off x="10683302" y="3803164"/>
            <a:ext cx="999664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filtering</a:t>
            </a:r>
            <a:endParaRPr lang="fr-FR" dirty="0"/>
          </a:p>
        </p:txBody>
      </p:sp>
      <p:sp>
        <p:nvSpPr>
          <p:cNvPr id="41" name="Flèche : angle droit 40">
            <a:extLst>
              <a:ext uri="{FF2B5EF4-FFF2-40B4-BE49-F238E27FC236}">
                <a16:creationId xmlns:a16="http://schemas.microsoft.com/office/drawing/2014/main" id="{4A3434DB-48BD-4ABD-834C-BCB2DF992B99}"/>
              </a:ext>
            </a:extLst>
          </p:cNvPr>
          <p:cNvSpPr/>
          <p:nvPr/>
        </p:nvSpPr>
        <p:spPr>
          <a:xfrm rot="5400000">
            <a:off x="8286253" y="3662968"/>
            <a:ext cx="624371" cy="42730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3E2C563-60B6-429D-8716-6DBC59D5053A}"/>
              </a:ext>
            </a:extLst>
          </p:cNvPr>
          <p:cNvSpPr txBox="1"/>
          <p:nvPr/>
        </p:nvSpPr>
        <p:spPr>
          <a:xfrm>
            <a:off x="8829466" y="3848056"/>
            <a:ext cx="1386137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triangulation</a:t>
            </a:r>
          </a:p>
        </p:txBody>
      </p:sp>
      <p:sp>
        <p:nvSpPr>
          <p:cNvPr id="43" name="Flèche : angle droit 42">
            <a:extLst>
              <a:ext uri="{FF2B5EF4-FFF2-40B4-BE49-F238E27FC236}">
                <a16:creationId xmlns:a16="http://schemas.microsoft.com/office/drawing/2014/main" id="{58F7C171-0413-4993-B2F1-D321E27FD2BC}"/>
              </a:ext>
            </a:extLst>
          </p:cNvPr>
          <p:cNvSpPr/>
          <p:nvPr/>
        </p:nvSpPr>
        <p:spPr>
          <a:xfrm rot="5400000" flipV="1">
            <a:off x="10664856" y="4317051"/>
            <a:ext cx="624371" cy="49255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3C4776E-A1F3-456E-A1EF-F2EBD7F7F979}"/>
              </a:ext>
            </a:extLst>
          </p:cNvPr>
          <p:cNvSpPr txBox="1"/>
          <p:nvPr/>
        </p:nvSpPr>
        <p:spPr>
          <a:xfrm>
            <a:off x="8414170" y="4517199"/>
            <a:ext cx="2269132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Marker Augmentation</a:t>
            </a:r>
          </a:p>
        </p:txBody>
      </p:sp>
      <p:sp>
        <p:nvSpPr>
          <p:cNvPr id="45" name="Flèche : angle droit 44">
            <a:extLst>
              <a:ext uri="{FF2B5EF4-FFF2-40B4-BE49-F238E27FC236}">
                <a16:creationId xmlns:a16="http://schemas.microsoft.com/office/drawing/2014/main" id="{F6A90050-3FF8-4566-B9B1-9605C676B493}"/>
              </a:ext>
            </a:extLst>
          </p:cNvPr>
          <p:cNvSpPr/>
          <p:nvPr/>
        </p:nvSpPr>
        <p:spPr>
          <a:xfrm rot="5400000">
            <a:off x="8727461" y="5075677"/>
            <a:ext cx="624371" cy="49255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E384CEF-EA7F-4D82-B201-16C843706344}"/>
              </a:ext>
            </a:extLst>
          </p:cNvPr>
          <p:cNvSpPr txBox="1"/>
          <p:nvPr/>
        </p:nvSpPr>
        <p:spPr>
          <a:xfrm>
            <a:off x="9353719" y="5290736"/>
            <a:ext cx="2269132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IK on </a:t>
            </a:r>
            <a:r>
              <a:rPr lang="fr-FR" dirty="0" err="1"/>
              <a:t>OpenSim</a:t>
            </a:r>
            <a:endParaRPr lang="fr-FR" dirty="0"/>
          </a:p>
        </p:txBody>
      </p:sp>
      <p:sp>
        <p:nvSpPr>
          <p:cNvPr id="47" name="Flèche : angle droit 46">
            <a:extLst>
              <a:ext uri="{FF2B5EF4-FFF2-40B4-BE49-F238E27FC236}">
                <a16:creationId xmlns:a16="http://schemas.microsoft.com/office/drawing/2014/main" id="{021D8F78-D4E9-432D-A539-930E6FC6BF97}"/>
              </a:ext>
            </a:extLst>
          </p:cNvPr>
          <p:cNvSpPr/>
          <p:nvPr/>
        </p:nvSpPr>
        <p:spPr>
          <a:xfrm rot="5400000">
            <a:off x="9047332" y="3136119"/>
            <a:ext cx="447675" cy="6634139"/>
          </a:xfrm>
          <a:prstGeom prst="bentUpArrow">
            <a:avLst>
              <a:gd name="adj1" fmla="val 33511"/>
              <a:gd name="adj2" fmla="val 3102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01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89468-36F4-4E8E-A406-BCF13817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" y="10193"/>
            <a:ext cx="10515600" cy="1325563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– </a:t>
            </a:r>
            <a:r>
              <a:rPr lang="fr-FR" dirty="0" err="1"/>
              <a:t>Hypothese</a:t>
            </a:r>
            <a:r>
              <a:rPr lang="fr-FR" dirty="0"/>
              <a:t> 2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4F4DF9A-06DE-4176-8495-233D32FE12BD}"/>
              </a:ext>
            </a:extLst>
          </p:cNvPr>
          <p:cNvSpPr/>
          <p:nvPr/>
        </p:nvSpPr>
        <p:spPr>
          <a:xfrm>
            <a:off x="67855" y="1005132"/>
            <a:ext cx="4728310" cy="4364104"/>
          </a:xfrm>
          <a:custGeom>
            <a:avLst/>
            <a:gdLst>
              <a:gd name="connsiteX0" fmla="*/ 0 w 6448425"/>
              <a:gd name="connsiteY0" fmla="*/ 409621 h 5006976"/>
              <a:gd name="connsiteX1" fmla="*/ 409621 w 6448425"/>
              <a:gd name="connsiteY1" fmla="*/ 0 h 5006976"/>
              <a:gd name="connsiteX2" fmla="*/ 6038804 w 6448425"/>
              <a:gd name="connsiteY2" fmla="*/ 0 h 5006976"/>
              <a:gd name="connsiteX3" fmla="*/ 6448425 w 6448425"/>
              <a:gd name="connsiteY3" fmla="*/ 409621 h 5006976"/>
              <a:gd name="connsiteX4" fmla="*/ 6448425 w 6448425"/>
              <a:gd name="connsiteY4" fmla="*/ 4597355 h 5006976"/>
              <a:gd name="connsiteX5" fmla="*/ 6038804 w 6448425"/>
              <a:gd name="connsiteY5" fmla="*/ 5006976 h 5006976"/>
              <a:gd name="connsiteX6" fmla="*/ 409621 w 6448425"/>
              <a:gd name="connsiteY6" fmla="*/ 5006976 h 5006976"/>
              <a:gd name="connsiteX7" fmla="*/ 0 w 6448425"/>
              <a:gd name="connsiteY7" fmla="*/ 4597355 h 5006976"/>
              <a:gd name="connsiteX8" fmla="*/ 0 w 6448425"/>
              <a:gd name="connsiteY8" fmla="*/ 409621 h 5006976"/>
              <a:gd name="connsiteX0" fmla="*/ 0 w 6448425"/>
              <a:gd name="connsiteY0" fmla="*/ 409621 h 5006976"/>
              <a:gd name="connsiteX1" fmla="*/ 409621 w 6448425"/>
              <a:gd name="connsiteY1" fmla="*/ 0 h 5006976"/>
              <a:gd name="connsiteX2" fmla="*/ 6038804 w 6448425"/>
              <a:gd name="connsiteY2" fmla="*/ 0 h 5006976"/>
              <a:gd name="connsiteX3" fmla="*/ 6448425 w 6448425"/>
              <a:gd name="connsiteY3" fmla="*/ 409621 h 5006976"/>
              <a:gd name="connsiteX4" fmla="*/ 6448425 w 6448425"/>
              <a:gd name="connsiteY4" fmla="*/ 4597355 h 5006976"/>
              <a:gd name="connsiteX5" fmla="*/ 4285419 w 6448425"/>
              <a:gd name="connsiteY5" fmla="*/ 2659702 h 5006976"/>
              <a:gd name="connsiteX6" fmla="*/ 409621 w 6448425"/>
              <a:gd name="connsiteY6" fmla="*/ 5006976 h 5006976"/>
              <a:gd name="connsiteX7" fmla="*/ 0 w 6448425"/>
              <a:gd name="connsiteY7" fmla="*/ 4597355 h 5006976"/>
              <a:gd name="connsiteX8" fmla="*/ 0 w 6448425"/>
              <a:gd name="connsiteY8" fmla="*/ 409621 h 5006976"/>
              <a:gd name="connsiteX0" fmla="*/ 0 w 6457852"/>
              <a:gd name="connsiteY0" fmla="*/ 409621 h 5006976"/>
              <a:gd name="connsiteX1" fmla="*/ 409621 w 6457852"/>
              <a:gd name="connsiteY1" fmla="*/ 0 h 5006976"/>
              <a:gd name="connsiteX2" fmla="*/ 6038804 w 6457852"/>
              <a:gd name="connsiteY2" fmla="*/ 0 h 5006976"/>
              <a:gd name="connsiteX3" fmla="*/ 6448425 w 6457852"/>
              <a:gd name="connsiteY3" fmla="*/ 409621 h 5006976"/>
              <a:gd name="connsiteX4" fmla="*/ 6457852 w 6457852"/>
              <a:gd name="connsiteY4" fmla="*/ 2664860 h 5006976"/>
              <a:gd name="connsiteX5" fmla="*/ 4285419 w 6457852"/>
              <a:gd name="connsiteY5" fmla="*/ 2659702 h 5006976"/>
              <a:gd name="connsiteX6" fmla="*/ 409621 w 6457852"/>
              <a:gd name="connsiteY6" fmla="*/ 5006976 h 5006976"/>
              <a:gd name="connsiteX7" fmla="*/ 0 w 6457852"/>
              <a:gd name="connsiteY7" fmla="*/ 4597355 h 5006976"/>
              <a:gd name="connsiteX8" fmla="*/ 0 w 6457852"/>
              <a:gd name="connsiteY8" fmla="*/ 409621 h 5006976"/>
              <a:gd name="connsiteX0" fmla="*/ 0 w 6457852"/>
              <a:gd name="connsiteY0" fmla="*/ 409621 h 5016403"/>
              <a:gd name="connsiteX1" fmla="*/ 409621 w 6457852"/>
              <a:gd name="connsiteY1" fmla="*/ 0 h 5016403"/>
              <a:gd name="connsiteX2" fmla="*/ 6038804 w 6457852"/>
              <a:gd name="connsiteY2" fmla="*/ 0 h 5016403"/>
              <a:gd name="connsiteX3" fmla="*/ 6448425 w 6457852"/>
              <a:gd name="connsiteY3" fmla="*/ 409621 h 5016403"/>
              <a:gd name="connsiteX4" fmla="*/ 6457852 w 6457852"/>
              <a:gd name="connsiteY4" fmla="*/ 2664860 h 5016403"/>
              <a:gd name="connsiteX5" fmla="*/ 4285419 w 6457852"/>
              <a:gd name="connsiteY5" fmla="*/ 2659702 h 5016403"/>
              <a:gd name="connsiteX6" fmla="*/ 400194 w 6457852"/>
              <a:gd name="connsiteY6" fmla="*/ 5016403 h 5016403"/>
              <a:gd name="connsiteX7" fmla="*/ 0 w 6457852"/>
              <a:gd name="connsiteY7" fmla="*/ 4597355 h 5016403"/>
              <a:gd name="connsiteX8" fmla="*/ 0 w 6457852"/>
              <a:gd name="connsiteY8" fmla="*/ 409621 h 5016403"/>
              <a:gd name="connsiteX0" fmla="*/ 0 w 6457852"/>
              <a:gd name="connsiteY0" fmla="*/ 409621 h 5068147"/>
              <a:gd name="connsiteX1" fmla="*/ 409621 w 6457852"/>
              <a:gd name="connsiteY1" fmla="*/ 0 h 5068147"/>
              <a:gd name="connsiteX2" fmla="*/ 6038804 w 6457852"/>
              <a:gd name="connsiteY2" fmla="*/ 0 h 5068147"/>
              <a:gd name="connsiteX3" fmla="*/ 6448425 w 6457852"/>
              <a:gd name="connsiteY3" fmla="*/ 409621 h 5068147"/>
              <a:gd name="connsiteX4" fmla="*/ 6457852 w 6457852"/>
              <a:gd name="connsiteY4" fmla="*/ 2664860 h 5068147"/>
              <a:gd name="connsiteX5" fmla="*/ 4285419 w 6457852"/>
              <a:gd name="connsiteY5" fmla="*/ 2659702 h 5068147"/>
              <a:gd name="connsiteX6" fmla="*/ 3910256 w 6457852"/>
              <a:gd name="connsiteY6" fmla="*/ 4905474 h 5068147"/>
              <a:gd name="connsiteX7" fmla="*/ 400194 w 6457852"/>
              <a:gd name="connsiteY7" fmla="*/ 5016403 h 5068147"/>
              <a:gd name="connsiteX8" fmla="*/ 0 w 6457852"/>
              <a:gd name="connsiteY8" fmla="*/ 4597355 h 5068147"/>
              <a:gd name="connsiteX9" fmla="*/ 0 w 6457852"/>
              <a:gd name="connsiteY9" fmla="*/ 409621 h 5068147"/>
              <a:gd name="connsiteX0" fmla="*/ 0 w 6457852"/>
              <a:gd name="connsiteY0" fmla="*/ 409621 h 5118417"/>
              <a:gd name="connsiteX1" fmla="*/ 409621 w 6457852"/>
              <a:gd name="connsiteY1" fmla="*/ 0 h 5118417"/>
              <a:gd name="connsiteX2" fmla="*/ 6038804 w 6457852"/>
              <a:gd name="connsiteY2" fmla="*/ 0 h 5118417"/>
              <a:gd name="connsiteX3" fmla="*/ 6448425 w 6457852"/>
              <a:gd name="connsiteY3" fmla="*/ 409621 h 5118417"/>
              <a:gd name="connsiteX4" fmla="*/ 6457852 w 6457852"/>
              <a:gd name="connsiteY4" fmla="*/ 2664860 h 5118417"/>
              <a:gd name="connsiteX5" fmla="*/ 4285419 w 6457852"/>
              <a:gd name="connsiteY5" fmla="*/ 2659702 h 5118417"/>
              <a:gd name="connsiteX6" fmla="*/ 3910256 w 6457852"/>
              <a:gd name="connsiteY6" fmla="*/ 4905474 h 5118417"/>
              <a:gd name="connsiteX7" fmla="*/ 400194 w 6457852"/>
              <a:gd name="connsiteY7" fmla="*/ 5016403 h 5118417"/>
              <a:gd name="connsiteX8" fmla="*/ 0 w 6457852"/>
              <a:gd name="connsiteY8" fmla="*/ 4597355 h 5118417"/>
              <a:gd name="connsiteX9" fmla="*/ 0 w 6457852"/>
              <a:gd name="connsiteY9" fmla="*/ 409621 h 5118417"/>
              <a:gd name="connsiteX0" fmla="*/ 0 w 6457852"/>
              <a:gd name="connsiteY0" fmla="*/ 409621 h 5238351"/>
              <a:gd name="connsiteX1" fmla="*/ 409621 w 6457852"/>
              <a:gd name="connsiteY1" fmla="*/ 0 h 5238351"/>
              <a:gd name="connsiteX2" fmla="*/ 6038804 w 6457852"/>
              <a:gd name="connsiteY2" fmla="*/ 0 h 5238351"/>
              <a:gd name="connsiteX3" fmla="*/ 6448425 w 6457852"/>
              <a:gd name="connsiteY3" fmla="*/ 409621 h 5238351"/>
              <a:gd name="connsiteX4" fmla="*/ 6457852 w 6457852"/>
              <a:gd name="connsiteY4" fmla="*/ 2664860 h 5238351"/>
              <a:gd name="connsiteX5" fmla="*/ 4285419 w 6457852"/>
              <a:gd name="connsiteY5" fmla="*/ 2659702 h 5238351"/>
              <a:gd name="connsiteX6" fmla="*/ 3957390 w 6457852"/>
              <a:gd name="connsiteY6" fmla="*/ 5075157 h 5238351"/>
              <a:gd name="connsiteX7" fmla="*/ 400194 w 6457852"/>
              <a:gd name="connsiteY7" fmla="*/ 5016403 h 5238351"/>
              <a:gd name="connsiteX8" fmla="*/ 0 w 6457852"/>
              <a:gd name="connsiteY8" fmla="*/ 4597355 h 5238351"/>
              <a:gd name="connsiteX9" fmla="*/ 0 w 6457852"/>
              <a:gd name="connsiteY9" fmla="*/ 409621 h 5238351"/>
              <a:gd name="connsiteX0" fmla="*/ 0 w 6457852"/>
              <a:gd name="connsiteY0" fmla="*/ 409621 h 5075157"/>
              <a:gd name="connsiteX1" fmla="*/ 409621 w 6457852"/>
              <a:gd name="connsiteY1" fmla="*/ 0 h 5075157"/>
              <a:gd name="connsiteX2" fmla="*/ 6038804 w 6457852"/>
              <a:gd name="connsiteY2" fmla="*/ 0 h 5075157"/>
              <a:gd name="connsiteX3" fmla="*/ 6448425 w 6457852"/>
              <a:gd name="connsiteY3" fmla="*/ 409621 h 5075157"/>
              <a:gd name="connsiteX4" fmla="*/ 6457852 w 6457852"/>
              <a:gd name="connsiteY4" fmla="*/ 2664860 h 5075157"/>
              <a:gd name="connsiteX5" fmla="*/ 4285419 w 6457852"/>
              <a:gd name="connsiteY5" fmla="*/ 2659702 h 5075157"/>
              <a:gd name="connsiteX6" fmla="*/ 3957390 w 6457852"/>
              <a:gd name="connsiteY6" fmla="*/ 5075157 h 5075157"/>
              <a:gd name="connsiteX7" fmla="*/ 400194 w 6457852"/>
              <a:gd name="connsiteY7" fmla="*/ 5016403 h 5075157"/>
              <a:gd name="connsiteX8" fmla="*/ 0 w 6457852"/>
              <a:gd name="connsiteY8" fmla="*/ 4597355 h 5075157"/>
              <a:gd name="connsiteX9" fmla="*/ 0 w 6457852"/>
              <a:gd name="connsiteY9" fmla="*/ 409621 h 5075157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285419 w 6457852"/>
              <a:gd name="connsiteY5" fmla="*/ 2659702 h 5028023"/>
              <a:gd name="connsiteX6" fmla="*/ 3938536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285419 w 6457852"/>
              <a:gd name="connsiteY5" fmla="*/ 2659702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285419 w 6457852"/>
              <a:gd name="connsiteY5" fmla="*/ 2659702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191150 w 6457852"/>
              <a:gd name="connsiteY5" fmla="*/ 2659702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191150 w 6457852"/>
              <a:gd name="connsiteY5" fmla="*/ 2659702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106309 w 6457852"/>
              <a:gd name="connsiteY5" fmla="*/ 2650275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106309 w 6457852"/>
              <a:gd name="connsiteY5" fmla="*/ 2650275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096882 w 6457852"/>
              <a:gd name="connsiteY5" fmla="*/ 2895372 h 5028023"/>
              <a:gd name="connsiteX6" fmla="*/ 4127072 w 6457852"/>
              <a:gd name="connsiteY6" fmla="*/ 5028023 h 5028023"/>
              <a:gd name="connsiteX7" fmla="*/ 400194 w 6457852"/>
              <a:gd name="connsiteY7" fmla="*/ 5016403 h 5028023"/>
              <a:gd name="connsiteX8" fmla="*/ 0 w 6457852"/>
              <a:gd name="connsiteY8" fmla="*/ 4597355 h 5028023"/>
              <a:gd name="connsiteX9" fmla="*/ 0 w 6457852"/>
              <a:gd name="connsiteY9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607840 w 6457852"/>
              <a:gd name="connsiteY5" fmla="*/ 2841004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7072 w 6457852"/>
              <a:gd name="connsiteY7" fmla="*/ 5028023 h 5028023"/>
              <a:gd name="connsiteX8" fmla="*/ 400194 w 6457852"/>
              <a:gd name="connsiteY8" fmla="*/ 5016403 h 5028023"/>
              <a:gd name="connsiteX9" fmla="*/ 0 w 6457852"/>
              <a:gd name="connsiteY9" fmla="*/ 4597355 h 5028023"/>
              <a:gd name="connsiteX10" fmla="*/ 0 w 6457852"/>
              <a:gd name="connsiteY10" fmla="*/ 409621 h 5028023"/>
              <a:gd name="connsiteX0" fmla="*/ 0 w 6457852"/>
              <a:gd name="connsiteY0" fmla="*/ 409621 h 5133449"/>
              <a:gd name="connsiteX1" fmla="*/ 409621 w 6457852"/>
              <a:gd name="connsiteY1" fmla="*/ 0 h 5133449"/>
              <a:gd name="connsiteX2" fmla="*/ 6038804 w 6457852"/>
              <a:gd name="connsiteY2" fmla="*/ 0 h 5133449"/>
              <a:gd name="connsiteX3" fmla="*/ 6448425 w 6457852"/>
              <a:gd name="connsiteY3" fmla="*/ 409621 h 5133449"/>
              <a:gd name="connsiteX4" fmla="*/ 6457852 w 6457852"/>
              <a:gd name="connsiteY4" fmla="*/ 2664860 h 5133449"/>
              <a:gd name="connsiteX5" fmla="*/ 4362743 w 6457852"/>
              <a:gd name="connsiteY5" fmla="*/ 2671322 h 5133449"/>
              <a:gd name="connsiteX6" fmla="*/ 4096882 w 6457852"/>
              <a:gd name="connsiteY6" fmla="*/ 2895372 h 5133449"/>
              <a:gd name="connsiteX7" fmla="*/ 4123145 w 6457852"/>
              <a:gd name="connsiteY7" fmla="*/ 4957518 h 5133449"/>
              <a:gd name="connsiteX8" fmla="*/ 4127072 w 6457852"/>
              <a:gd name="connsiteY8" fmla="*/ 5028023 h 5133449"/>
              <a:gd name="connsiteX9" fmla="*/ 400194 w 6457852"/>
              <a:gd name="connsiteY9" fmla="*/ 5016403 h 5133449"/>
              <a:gd name="connsiteX10" fmla="*/ 0 w 6457852"/>
              <a:gd name="connsiteY10" fmla="*/ 4597355 h 5133449"/>
              <a:gd name="connsiteX11" fmla="*/ 0 w 6457852"/>
              <a:gd name="connsiteY11" fmla="*/ 409621 h 5133449"/>
              <a:gd name="connsiteX0" fmla="*/ 0 w 6457852"/>
              <a:gd name="connsiteY0" fmla="*/ 409621 h 5039390"/>
              <a:gd name="connsiteX1" fmla="*/ 409621 w 6457852"/>
              <a:gd name="connsiteY1" fmla="*/ 0 h 5039390"/>
              <a:gd name="connsiteX2" fmla="*/ 6038804 w 6457852"/>
              <a:gd name="connsiteY2" fmla="*/ 0 h 5039390"/>
              <a:gd name="connsiteX3" fmla="*/ 6448425 w 6457852"/>
              <a:gd name="connsiteY3" fmla="*/ 409621 h 5039390"/>
              <a:gd name="connsiteX4" fmla="*/ 6457852 w 6457852"/>
              <a:gd name="connsiteY4" fmla="*/ 2664860 h 5039390"/>
              <a:gd name="connsiteX5" fmla="*/ 4362743 w 6457852"/>
              <a:gd name="connsiteY5" fmla="*/ 2671322 h 5039390"/>
              <a:gd name="connsiteX6" fmla="*/ 4096882 w 6457852"/>
              <a:gd name="connsiteY6" fmla="*/ 2895372 h 5039390"/>
              <a:gd name="connsiteX7" fmla="*/ 4123145 w 6457852"/>
              <a:gd name="connsiteY7" fmla="*/ 4781306 h 5039390"/>
              <a:gd name="connsiteX8" fmla="*/ 4127072 w 6457852"/>
              <a:gd name="connsiteY8" fmla="*/ 5028023 h 5039390"/>
              <a:gd name="connsiteX9" fmla="*/ 400194 w 6457852"/>
              <a:gd name="connsiteY9" fmla="*/ 5016403 h 5039390"/>
              <a:gd name="connsiteX10" fmla="*/ 0 w 6457852"/>
              <a:gd name="connsiteY10" fmla="*/ 4597355 h 5039390"/>
              <a:gd name="connsiteX11" fmla="*/ 0 w 6457852"/>
              <a:gd name="connsiteY11" fmla="*/ 409621 h 5039390"/>
              <a:gd name="connsiteX0" fmla="*/ 0 w 6457852"/>
              <a:gd name="connsiteY0" fmla="*/ 409621 h 5039390"/>
              <a:gd name="connsiteX1" fmla="*/ 409621 w 6457852"/>
              <a:gd name="connsiteY1" fmla="*/ 0 h 5039390"/>
              <a:gd name="connsiteX2" fmla="*/ 6038804 w 6457852"/>
              <a:gd name="connsiteY2" fmla="*/ 0 h 5039390"/>
              <a:gd name="connsiteX3" fmla="*/ 6448425 w 6457852"/>
              <a:gd name="connsiteY3" fmla="*/ 409621 h 5039390"/>
              <a:gd name="connsiteX4" fmla="*/ 6457852 w 6457852"/>
              <a:gd name="connsiteY4" fmla="*/ 2664860 h 5039390"/>
              <a:gd name="connsiteX5" fmla="*/ 4362743 w 6457852"/>
              <a:gd name="connsiteY5" fmla="*/ 2671322 h 5039390"/>
              <a:gd name="connsiteX6" fmla="*/ 4096882 w 6457852"/>
              <a:gd name="connsiteY6" fmla="*/ 2895372 h 5039390"/>
              <a:gd name="connsiteX7" fmla="*/ 4123145 w 6457852"/>
              <a:gd name="connsiteY7" fmla="*/ 4781306 h 5039390"/>
              <a:gd name="connsiteX8" fmla="*/ 3912760 w 6457852"/>
              <a:gd name="connsiteY8" fmla="*/ 5028023 h 5039390"/>
              <a:gd name="connsiteX9" fmla="*/ 400194 w 6457852"/>
              <a:gd name="connsiteY9" fmla="*/ 5016403 h 5039390"/>
              <a:gd name="connsiteX10" fmla="*/ 0 w 6457852"/>
              <a:gd name="connsiteY10" fmla="*/ 4597355 h 5039390"/>
              <a:gd name="connsiteX11" fmla="*/ 0 w 6457852"/>
              <a:gd name="connsiteY11" fmla="*/ 409621 h 5039390"/>
              <a:gd name="connsiteX0" fmla="*/ 0 w 6457852"/>
              <a:gd name="connsiteY0" fmla="*/ 409621 h 5042517"/>
              <a:gd name="connsiteX1" fmla="*/ 409621 w 6457852"/>
              <a:gd name="connsiteY1" fmla="*/ 0 h 5042517"/>
              <a:gd name="connsiteX2" fmla="*/ 6038804 w 6457852"/>
              <a:gd name="connsiteY2" fmla="*/ 0 h 5042517"/>
              <a:gd name="connsiteX3" fmla="*/ 6448425 w 6457852"/>
              <a:gd name="connsiteY3" fmla="*/ 409621 h 5042517"/>
              <a:gd name="connsiteX4" fmla="*/ 6457852 w 6457852"/>
              <a:gd name="connsiteY4" fmla="*/ 2664860 h 5042517"/>
              <a:gd name="connsiteX5" fmla="*/ 4362743 w 6457852"/>
              <a:gd name="connsiteY5" fmla="*/ 2671322 h 5042517"/>
              <a:gd name="connsiteX6" fmla="*/ 4096882 w 6457852"/>
              <a:gd name="connsiteY6" fmla="*/ 2895372 h 5042517"/>
              <a:gd name="connsiteX7" fmla="*/ 4123145 w 6457852"/>
              <a:gd name="connsiteY7" fmla="*/ 4781306 h 5042517"/>
              <a:gd name="connsiteX8" fmla="*/ 3912760 w 6457852"/>
              <a:gd name="connsiteY8" fmla="*/ 5028023 h 5042517"/>
              <a:gd name="connsiteX9" fmla="*/ 400194 w 6457852"/>
              <a:gd name="connsiteY9" fmla="*/ 5016403 h 5042517"/>
              <a:gd name="connsiteX10" fmla="*/ 0 w 6457852"/>
              <a:gd name="connsiteY10" fmla="*/ 4597355 h 5042517"/>
              <a:gd name="connsiteX11" fmla="*/ 0 w 6457852"/>
              <a:gd name="connsiteY11" fmla="*/ 409621 h 5042517"/>
              <a:gd name="connsiteX0" fmla="*/ 0 w 6457852"/>
              <a:gd name="connsiteY0" fmla="*/ 409621 h 5029652"/>
              <a:gd name="connsiteX1" fmla="*/ 409621 w 6457852"/>
              <a:gd name="connsiteY1" fmla="*/ 0 h 5029652"/>
              <a:gd name="connsiteX2" fmla="*/ 6038804 w 6457852"/>
              <a:gd name="connsiteY2" fmla="*/ 0 h 5029652"/>
              <a:gd name="connsiteX3" fmla="*/ 6448425 w 6457852"/>
              <a:gd name="connsiteY3" fmla="*/ 409621 h 5029652"/>
              <a:gd name="connsiteX4" fmla="*/ 6457852 w 6457852"/>
              <a:gd name="connsiteY4" fmla="*/ 2664860 h 5029652"/>
              <a:gd name="connsiteX5" fmla="*/ 4362743 w 6457852"/>
              <a:gd name="connsiteY5" fmla="*/ 2671322 h 5029652"/>
              <a:gd name="connsiteX6" fmla="*/ 4096882 w 6457852"/>
              <a:gd name="connsiteY6" fmla="*/ 2895372 h 5029652"/>
              <a:gd name="connsiteX7" fmla="*/ 4123145 w 6457852"/>
              <a:gd name="connsiteY7" fmla="*/ 4781306 h 5029652"/>
              <a:gd name="connsiteX8" fmla="*/ 3912760 w 6457852"/>
              <a:gd name="connsiteY8" fmla="*/ 5028023 h 5029652"/>
              <a:gd name="connsiteX9" fmla="*/ 400194 w 6457852"/>
              <a:gd name="connsiteY9" fmla="*/ 5016403 h 5029652"/>
              <a:gd name="connsiteX10" fmla="*/ 0 w 6457852"/>
              <a:gd name="connsiteY10" fmla="*/ 4597355 h 5029652"/>
              <a:gd name="connsiteX11" fmla="*/ 0 w 6457852"/>
              <a:gd name="connsiteY11" fmla="*/ 409621 h 5029652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3145 w 6457852"/>
              <a:gd name="connsiteY7" fmla="*/ 4781306 h 5028023"/>
              <a:gd name="connsiteX8" fmla="*/ 3912760 w 6457852"/>
              <a:gd name="connsiteY8" fmla="*/ 5028023 h 5028023"/>
              <a:gd name="connsiteX9" fmla="*/ 400194 w 6457852"/>
              <a:gd name="connsiteY9" fmla="*/ 5016403 h 5028023"/>
              <a:gd name="connsiteX10" fmla="*/ 0 w 6457852"/>
              <a:gd name="connsiteY10" fmla="*/ 4597355 h 5028023"/>
              <a:gd name="connsiteX11" fmla="*/ 0 w 6457852"/>
              <a:gd name="connsiteY11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3145 w 6457852"/>
              <a:gd name="connsiteY7" fmla="*/ 4781306 h 5028023"/>
              <a:gd name="connsiteX8" fmla="*/ 3912760 w 6457852"/>
              <a:gd name="connsiteY8" fmla="*/ 5028023 h 5028023"/>
              <a:gd name="connsiteX9" fmla="*/ 400194 w 6457852"/>
              <a:gd name="connsiteY9" fmla="*/ 5016403 h 5028023"/>
              <a:gd name="connsiteX10" fmla="*/ 0 w 6457852"/>
              <a:gd name="connsiteY10" fmla="*/ 4597355 h 5028023"/>
              <a:gd name="connsiteX11" fmla="*/ 0 w 6457852"/>
              <a:gd name="connsiteY11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3145 w 6457852"/>
              <a:gd name="connsiteY7" fmla="*/ 4781306 h 5028023"/>
              <a:gd name="connsiteX8" fmla="*/ 3912760 w 6457852"/>
              <a:gd name="connsiteY8" fmla="*/ 5028023 h 5028023"/>
              <a:gd name="connsiteX9" fmla="*/ 400194 w 6457852"/>
              <a:gd name="connsiteY9" fmla="*/ 5016403 h 5028023"/>
              <a:gd name="connsiteX10" fmla="*/ 0 w 6457852"/>
              <a:gd name="connsiteY10" fmla="*/ 4597355 h 5028023"/>
              <a:gd name="connsiteX11" fmla="*/ 0 w 6457852"/>
              <a:gd name="connsiteY11" fmla="*/ 409621 h 5028023"/>
              <a:gd name="connsiteX0" fmla="*/ 0 w 6457852"/>
              <a:gd name="connsiteY0" fmla="*/ 409621 h 5028023"/>
              <a:gd name="connsiteX1" fmla="*/ 409621 w 6457852"/>
              <a:gd name="connsiteY1" fmla="*/ 0 h 5028023"/>
              <a:gd name="connsiteX2" fmla="*/ 6038804 w 6457852"/>
              <a:gd name="connsiteY2" fmla="*/ 0 h 5028023"/>
              <a:gd name="connsiteX3" fmla="*/ 6448425 w 6457852"/>
              <a:gd name="connsiteY3" fmla="*/ 409621 h 5028023"/>
              <a:gd name="connsiteX4" fmla="*/ 6457852 w 6457852"/>
              <a:gd name="connsiteY4" fmla="*/ 2664860 h 5028023"/>
              <a:gd name="connsiteX5" fmla="*/ 4362743 w 6457852"/>
              <a:gd name="connsiteY5" fmla="*/ 2671322 h 5028023"/>
              <a:gd name="connsiteX6" fmla="*/ 4096882 w 6457852"/>
              <a:gd name="connsiteY6" fmla="*/ 2895372 h 5028023"/>
              <a:gd name="connsiteX7" fmla="*/ 4123145 w 6457852"/>
              <a:gd name="connsiteY7" fmla="*/ 4781306 h 5028023"/>
              <a:gd name="connsiteX8" fmla="*/ 3912760 w 6457852"/>
              <a:gd name="connsiteY8" fmla="*/ 5028023 h 5028023"/>
              <a:gd name="connsiteX9" fmla="*/ 400194 w 6457852"/>
              <a:gd name="connsiteY9" fmla="*/ 5016403 h 5028023"/>
              <a:gd name="connsiteX10" fmla="*/ 0 w 6457852"/>
              <a:gd name="connsiteY10" fmla="*/ 4597355 h 5028023"/>
              <a:gd name="connsiteX11" fmla="*/ 0 w 6457852"/>
              <a:gd name="connsiteY11" fmla="*/ 409621 h 5028023"/>
              <a:gd name="connsiteX0" fmla="*/ 0 w 6610933"/>
              <a:gd name="connsiteY0" fmla="*/ 409621 h 5028023"/>
              <a:gd name="connsiteX1" fmla="*/ 409621 w 6610933"/>
              <a:gd name="connsiteY1" fmla="*/ 0 h 5028023"/>
              <a:gd name="connsiteX2" fmla="*/ 6038804 w 6610933"/>
              <a:gd name="connsiteY2" fmla="*/ 0 h 5028023"/>
              <a:gd name="connsiteX3" fmla="*/ 6448425 w 6610933"/>
              <a:gd name="connsiteY3" fmla="*/ 409621 h 5028023"/>
              <a:gd name="connsiteX4" fmla="*/ 6450420 w 6610933"/>
              <a:gd name="connsiteY4" fmla="*/ 2563569 h 5028023"/>
              <a:gd name="connsiteX5" fmla="*/ 6457852 w 6610933"/>
              <a:gd name="connsiteY5" fmla="*/ 2664860 h 5028023"/>
              <a:gd name="connsiteX6" fmla="*/ 4362743 w 6610933"/>
              <a:gd name="connsiteY6" fmla="*/ 2671322 h 5028023"/>
              <a:gd name="connsiteX7" fmla="*/ 4096882 w 6610933"/>
              <a:gd name="connsiteY7" fmla="*/ 2895372 h 5028023"/>
              <a:gd name="connsiteX8" fmla="*/ 4123145 w 6610933"/>
              <a:gd name="connsiteY8" fmla="*/ 4781306 h 5028023"/>
              <a:gd name="connsiteX9" fmla="*/ 3912760 w 6610933"/>
              <a:gd name="connsiteY9" fmla="*/ 5028023 h 5028023"/>
              <a:gd name="connsiteX10" fmla="*/ 400194 w 6610933"/>
              <a:gd name="connsiteY10" fmla="*/ 5016403 h 5028023"/>
              <a:gd name="connsiteX11" fmla="*/ 0 w 6610933"/>
              <a:gd name="connsiteY11" fmla="*/ 4597355 h 5028023"/>
              <a:gd name="connsiteX12" fmla="*/ 0 w 6610933"/>
              <a:gd name="connsiteY12" fmla="*/ 409621 h 5028023"/>
              <a:gd name="connsiteX0" fmla="*/ 0 w 6614227"/>
              <a:gd name="connsiteY0" fmla="*/ 409621 h 5028023"/>
              <a:gd name="connsiteX1" fmla="*/ 409621 w 6614227"/>
              <a:gd name="connsiteY1" fmla="*/ 0 h 5028023"/>
              <a:gd name="connsiteX2" fmla="*/ 6038804 w 6614227"/>
              <a:gd name="connsiteY2" fmla="*/ 0 h 5028023"/>
              <a:gd name="connsiteX3" fmla="*/ 6448425 w 6614227"/>
              <a:gd name="connsiteY3" fmla="*/ 409621 h 5028023"/>
              <a:gd name="connsiteX4" fmla="*/ 6463120 w 6614227"/>
              <a:gd name="connsiteY4" fmla="*/ 2274644 h 5028023"/>
              <a:gd name="connsiteX5" fmla="*/ 6457852 w 6614227"/>
              <a:gd name="connsiteY5" fmla="*/ 2664860 h 5028023"/>
              <a:gd name="connsiteX6" fmla="*/ 4362743 w 6614227"/>
              <a:gd name="connsiteY6" fmla="*/ 2671322 h 5028023"/>
              <a:gd name="connsiteX7" fmla="*/ 4096882 w 6614227"/>
              <a:gd name="connsiteY7" fmla="*/ 2895372 h 5028023"/>
              <a:gd name="connsiteX8" fmla="*/ 4123145 w 6614227"/>
              <a:gd name="connsiteY8" fmla="*/ 4781306 h 5028023"/>
              <a:gd name="connsiteX9" fmla="*/ 3912760 w 6614227"/>
              <a:gd name="connsiteY9" fmla="*/ 5028023 h 5028023"/>
              <a:gd name="connsiteX10" fmla="*/ 400194 w 6614227"/>
              <a:gd name="connsiteY10" fmla="*/ 5016403 h 5028023"/>
              <a:gd name="connsiteX11" fmla="*/ 0 w 6614227"/>
              <a:gd name="connsiteY11" fmla="*/ 4597355 h 5028023"/>
              <a:gd name="connsiteX12" fmla="*/ 0 w 6614227"/>
              <a:gd name="connsiteY12" fmla="*/ 409621 h 5028023"/>
              <a:gd name="connsiteX0" fmla="*/ 0 w 6482822"/>
              <a:gd name="connsiteY0" fmla="*/ 409621 h 5028023"/>
              <a:gd name="connsiteX1" fmla="*/ 409621 w 6482822"/>
              <a:gd name="connsiteY1" fmla="*/ 0 h 5028023"/>
              <a:gd name="connsiteX2" fmla="*/ 6038804 w 6482822"/>
              <a:gd name="connsiteY2" fmla="*/ 0 h 5028023"/>
              <a:gd name="connsiteX3" fmla="*/ 6448425 w 6482822"/>
              <a:gd name="connsiteY3" fmla="*/ 409621 h 5028023"/>
              <a:gd name="connsiteX4" fmla="*/ 6463120 w 6482822"/>
              <a:gd name="connsiteY4" fmla="*/ 2274644 h 5028023"/>
              <a:gd name="connsiteX5" fmla="*/ 6114952 w 6482822"/>
              <a:gd name="connsiteY5" fmla="*/ 2668035 h 5028023"/>
              <a:gd name="connsiteX6" fmla="*/ 4362743 w 6482822"/>
              <a:gd name="connsiteY6" fmla="*/ 2671322 h 5028023"/>
              <a:gd name="connsiteX7" fmla="*/ 4096882 w 6482822"/>
              <a:gd name="connsiteY7" fmla="*/ 2895372 h 5028023"/>
              <a:gd name="connsiteX8" fmla="*/ 4123145 w 6482822"/>
              <a:gd name="connsiteY8" fmla="*/ 4781306 h 5028023"/>
              <a:gd name="connsiteX9" fmla="*/ 3912760 w 6482822"/>
              <a:gd name="connsiteY9" fmla="*/ 5028023 h 5028023"/>
              <a:gd name="connsiteX10" fmla="*/ 400194 w 6482822"/>
              <a:gd name="connsiteY10" fmla="*/ 5016403 h 5028023"/>
              <a:gd name="connsiteX11" fmla="*/ 0 w 6482822"/>
              <a:gd name="connsiteY11" fmla="*/ 4597355 h 5028023"/>
              <a:gd name="connsiteX12" fmla="*/ 0 w 6482822"/>
              <a:gd name="connsiteY12" fmla="*/ 409621 h 5028023"/>
              <a:gd name="connsiteX0" fmla="*/ 0 w 6463292"/>
              <a:gd name="connsiteY0" fmla="*/ 409621 h 5028023"/>
              <a:gd name="connsiteX1" fmla="*/ 409621 w 6463292"/>
              <a:gd name="connsiteY1" fmla="*/ 0 h 5028023"/>
              <a:gd name="connsiteX2" fmla="*/ 6038804 w 6463292"/>
              <a:gd name="connsiteY2" fmla="*/ 0 h 5028023"/>
              <a:gd name="connsiteX3" fmla="*/ 6448425 w 6463292"/>
              <a:gd name="connsiteY3" fmla="*/ 409621 h 5028023"/>
              <a:gd name="connsiteX4" fmla="*/ 6463120 w 6463292"/>
              <a:gd name="connsiteY4" fmla="*/ 2274644 h 5028023"/>
              <a:gd name="connsiteX5" fmla="*/ 6114952 w 6463292"/>
              <a:gd name="connsiteY5" fmla="*/ 2668035 h 5028023"/>
              <a:gd name="connsiteX6" fmla="*/ 4362743 w 6463292"/>
              <a:gd name="connsiteY6" fmla="*/ 2671322 h 5028023"/>
              <a:gd name="connsiteX7" fmla="*/ 4096882 w 6463292"/>
              <a:gd name="connsiteY7" fmla="*/ 2895372 h 5028023"/>
              <a:gd name="connsiteX8" fmla="*/ 4123145 w 6463292"/>
              <a:gd name="connsiteY8" fmla="*/ 4781306 h 5028023"/>
              <a:gd name="connsiteX9" fmla="*/ 3912760 w 6463292"/>
              <a:gd name="connsiteY9" fmla="*/ 5028023 h 5028023"/>
              <a:gd name="connsiteX10" fmla="*/ 400194 w 6463292"/>
              <a:gd name="connsiteY10" fmla="*/ 5016403 h 5028023"/>
              <a:gd name="connsiteX11" fmla="*/ 0 w 6463292"/>
              <a:gd name="connsiteY11" fmla="*/ 4597355 h 5028023"/>
              <a:gd name="connsiteX12" fmla="*/ 0 w 6463292"/>
              <a:gd name="connsiteY12" fmla="*/ 409621 h 502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63292" h="5028023">
                <a:moveTo>
                  <a:pt x="0" y="409621"/>
                </a:moveTo>
                <a:cubicBezTo>
                  <a:pt x="0" y="183394"/>
                  <a:pt x="183394" y="0"/>
                  <a:pt x="409621" y="0"/>
                </a:cubicBezTo>
                <a:lnTo>
                  <a:pt x="6038804" y="0"/>
                </a:lnTo>
                <a:cubicBezTo>
                  <a:pt x="6265031" y="0"/>
                  <a:pt x="6448425" y="183394"/>
                  <a:pt x="6448425" y="409621"/>
                </a:cubicBezTo>
                <a:cubicBezTo>
                  <a:pt x="6459878" y="855933"/>
                  <a:pt x="6461549" y="1898771"/>
                  <a:pt x="6463120" y="2274644"/>
                </a:cubicBezTo>
                <a:cubicBezTo>
                  <a:pt x="6464691" y="2650517"/>
                  <a:pt x="6462898" y="2650076"/>
                  <a:pt x="6114952" y="2668035"/>
                </a:cubicBezTo>
                <a:cubicBezTo>
                  <a:pt x="5657359" y="2677339"/>
                  <a:pt x="4765665" y="2670610"/>
                  <a:pt x="4362743" y="2671322"/>
                </a:cubicBezTo>
                <a:cubicBezTo>
                  <a:pt x="4204500" y="2680184"/>
                  <a:pt x="4095361" y="2616005"/>
                  <a:pt x="4096882" y="2895372"/>
                </a:cubicBezTo>
                <a:cubicBezTo>
                  <a:pt x="4095049" y="3271642"/>
                  <a:pt x="4132401" y="4416339"/>
                  <a:pt x="4123145" y="4781306"/>
                </a:cubicBezTo>
                <a:cubicBezTo>
                  <a:pt x="4128177" y="5079599"/>
                  <a:pt x="4166540" y="5013446"/>
                  <a:pt x="3912760" y="5028023"/>
                </a:cubicBezTo>
                <a:lnTo>
                  <a:pt x="400194" y="5016403"/>
                </a:lnTo>
                <a:cubicBezTo>
                  <a:pt x="173967" y="5016403"/>
                  <a:pt x="0" y="4823582"/>
                  <a:pt x="0" y="4597355"/>
                </a:cubicBezTo>
                <a:lnTo>
                  <a:pt x="0" y="40962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A2BFC2-465E-43DA-A2DE-A25A3420ADE1}"/>
              </a:ext>
            </a:extLst>
          </p:cNvPr>
          <p:cNvSpPr txBox="1"/>
          <p:nvPr/>
        </p:nvSpPr>
        <p:spPr>
          <a:xfrm>
            <a:off x="210730" y="1049451"/>
            <a:ext cx="11184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/>
              <a:t>Theia3D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A0B30388-9BA2-4D79-BDC5-4CEA500D1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24286"/>
              </p:ext>
            </p:extLst>
          </p:nvPr>
        </p:nvGraphicFramePr>
        <p:xfrm>
          <a:off x="210730" y="1488764"/>
          <a:ext cx="2713772" cy="3658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772">
                  <a:extLst>
                    <a:ext uri="{9D8B030D-6E8A-4147-A177-3AD203B41FA5}">
                      <a16:colId xmlns:a16="http://schemas.microsoft.com/office/drawing/2014/main" val="905891644"/>
                    </a:ext>
                  </a:extLst>
                </a:gridCol>
              </a:tblGrid>
              <a:tr h="408666">
                <a:tc>
                  <a:txBody>
                    <a:bodyPr/>
                    <a:lstStyle/>
                    <a:p>
                      <a:r>
                        <a:rPr lang="fr-FR" dirty="0"/>
                        <a:t>10 cameras – 6 cameras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226911"/>
                  </a:ext>
                </a:extLst>
              </a:tr>
              <a:tr h="301808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65480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1B306BF4-7AC0-404E-979E-93B547AF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2"/>
          <a:stretch/>
        </p:blipFill>
        <p:spPr>
          <a:xfrm>
            <a:off x="301217" y="1911225"/>
            <a:ext cx="2571388" cy="3318955"/>
          </a:xfrm>
          <a:prstGeom prst="rect">
            <a:avLst/>
          </a:prstGeom>
        </p:spPr>
      </p:pic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E123325F-5ABE-4A25-9AED-4E601F1973F4}"/>
              </a:ext>
            </a:extLst>
          </p:cNvPr>
          <p:cNvSpPr/>
          <p:nvPr/>
        </p:nvSpPr>
        <p:spPr>
          <a:xfrm rot="16200000">
            <a:off x="3057891" y="2095626"/>
            <a:ext cx="199947" cy="270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4DCB60F-5671-4B3D-B698-D74EAA691AFD}"/>
              </a:ext>
            </a:extLst>
          </p:cNvPr>
          <p:cNvSpPr txBox="1"/>
          <p:nvPr/>
        </p:nvSpPr>
        <p:spPr>
          <a:xfrm>
            <a:off x="3343569" y="1420524"/>
            <a:ext cx="1369241" cy="14773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 anchor="ctr">
            <a:spAutoFit/>
          </a:bodyPr>
          <a:lstStyle/>
          <a:p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Black-Box </a:t>
            </a:r>
          </a:p>
          <a:p>
            <a:pPr algn="ct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private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licence)</a:t>
            </a:r>
          </a:p>
          <a:p>
            <a:endParaRPr lang="fr-FR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Flèche : haut 12">
            <a:extLst>
              <a:ext uri="{FF2B5EF4-FFF2-40B4-BE49-F238E27FC236}">
                <a16:creationId xmlns:a16="http://schemas.microsoft.com/office/drawing/2014/main" id="{120B5C7C-7179-4D97-915A-8E3F33C04DCD}"/>
              </a:ext>
            </a:extLst>
          </p:cNvPr>
          <p:cNvSpPr/>
          <p:nvPr/>
        </p:nvSpPr>
        <p:spPr>
          <a:xfrm rot="5400000">
            <a:off x="679648" y="4490555"/>
            <a:ext cx="447675" cy="39308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37AFB6E-98F4-49C8-BBA6-ED7017CD7A19}"/>
              </a:ext>
            </a:extLst>
          </p:cNvPr>
          <p:cNvSpPr txBox="1"/>
          <p:nvPr/>
        </p:nvSpPr>
        <p:spPr>
          <a:xfrm>
            <a:off x="3080143" y="6249902"/>
            <a:ext cx="1333941" cy="369332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 err="1"/>
              <a:t>OpenCap</a:t>
            </a:r>
            <a:endParaRPr lang="fr-FR" dirty="0"/>
          </a:p>
        </p:txBody>
      </p:sp>
      <p:sp>
        <p:nvSpPr>
          <p:cNvPr id="36" name="Flèche : haut 35">
            <a:extLst>
              <a:ext uri="{FF2B5EF4-FFF2-40B4-BE49-F238E27FC236}">
                <a16:creationId xmlns:a16="http://schemas.microsoft.com/office/drawing/2014/main" id="{84F9E2DC-C268-4708-B6D7-982AB8838042}"/>
              </a:ext>
            </a:extLst>
          </p:cNvPr>
          <p:cNvSpPr/>
          <p:nvPr/>
        </p:nvSpPr>
        <p:spPr>
          <a:xfrm rot="5400000">
            <a:off x="4867887" y="2016652"/>
            <a:ext cx="292933" cy="335160"/>
          </a:xfrm>
          <a:prstGeom prst="upArrow">
            <a:avLst>
              <a:gd name="adj1" fmla="val 50000"/>
              <a:gd name="adj2" fmla="val 673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6BEA4C9-7BE8-4C61-97CD-8FA600734975}"/>
              </a:ext>
            </a:extLst>
          </p:cNvPr>
          <p:cNvSpPr txBox="1"/>
          <p:nvPr/>
        </p:nvSpPr>
        <p:spPr>
          <a:xfrm>
            <a:off x="3080142" y="5619348"/>
            <a:ext cx="2082407" cy="369332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WHAM/</a:t>
            </a:r>
            <a:r>
              <a:rPr lang="fr-FR" dirty="0" err="1"/>
              <a:t>bioWHAM</a:t>
            </a: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54865F16-3FF7-4DB3-AA1F-967E9749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934" y="1129686"/>
            <a:ext cx="2679331" cy="2679331"/>
          </a:xfrm>
          <a:prstGeom prst="rect">
            <a:avLst/>
          </a:prstGeom>
          <a:ln>
            <a:noFill/>
          </a:ln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8E617283-A0CE-4205-8E83-54C3A349C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703" y="1106361"/>
            <a:ext cx="3386106" cy="2739023"/>
          </a:xfrm>
          <a:prstGeom prst="rect">
            <a:avLst/>
          </a:prstGeom>
          <a:ln>
            <a:noFill/>
          </a:ln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1BAB65F4-58E0-4215-908E-45CC840E3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169" y="3893269"/>
            <a:ext cx="6618027" cy="2786537"/>
          </a:xfrm>
          <a:prstGeom prst="rect">
            <a:avLst/>
          </a:prstGeom>
          <a:ln>
            <a:noFill/>
          </a:ln>
        </p:spPr>
      </p:pic>
      <p:sp>
        <p:nvSpPr>
          <p:cNvPr id="49" name="Flèche : haut 48">
            <a:extLst>
              <a:ext uri="{FF2B5EF4-FFF2-40B4-BE49-F238E27FC236}">
                <a16:creationId xmlns:a16="http://schemas.microsoft.com/office/drawing/2014/main" id="{55FF74C2-BAEC-4AE4-A8CB-459555A744F6}"/>
              </a:ext>
            </a:extLst>
          </p:cNvPr>
          <p:cNvSpPr/>
          <p:nvPr/>
        </p:nvSpPr>
        <p:spPr>
          <a:xfrm rot="5400000">
            <a:off x="679648" y="3844155"/>
            <a:ext cx="447675" cy="39308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D8B07B04-CCB8-41C6-A256-35F8C0FBCAF2}"/>
              </a:ext>
            </a:extLst>
          </p:cNvPr>
          <p:cNvSpPr/>
          <p:nvPr/>
        </p:nvSpPr>
        <p:spPr>
          <a:xfrm>
            <a:off x="5733380" y="1935727"/>
            <a:ext cx="1093045" cy="986627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D5E007E-F2A8-45DE-B87B-9DBEE68286BD}"/>
              </a:ext>
            </a:extLst>
          </p:cNvPr>
          <p:cNvSpPr/>
          <p:nvPr/>
        </p:nvSpPr>
        <p:spPr>
          <a:xfrm>
            <a:off x="6768220" y="2319520"/>
            <a:ext cx="1093045" cy="986627"/>
          </a:xfrm>
          <a:prstGeom prst="ellipse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51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0C3232-F1EB-40E1-893D-C68EFF7F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fr-FR" dirty="0" err="1"/>
              <a:t>Auxiliary</a:t>
            </a:r>
            <a:r>
              <a:rPr lang="fr-FR" dirty="0"/>
              <a:t> </a:t>
            </a:r>
            <a:r>
              <a:rPr lang="fr-FR" dirty="0" err="1"/>
              <a:t>Finding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2B8D39D-954C-4C11-A7FD-2A81556760C1}"/>
              </a:ext>
            </a:extLst>
          </p:cNvPr>
          <p:cNvSpPr txBox="1"/>
          <p:nvPr/>
        </p:nvSpPr>
        <p:spPr>
          <a:xfrm>
            <a:off x="200024" y="1257300"/>
            <a:ext cx="58007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u="sng" dirty="0" err="1"/>
              <a:t>Correlation</a:t>
            </a:r>
            <a:r>
              <a:rPr lang="fr-FR" sz="2500" u="sng" dirty="0"/>
              <a:t> between </a:t>
            </a:r>
            <a:r>
              <a:rPr lang="fr-FR" sz="2500" b="1" u="sng" dirty="0"/>
              <a:t>RMSD</a:t>
            </a:r>
            <a:r>
              <a:rPr lang="fr-FR" sz="2500" u="sng" dirty="0"/>
              <a:t> and </a:t>
            </a:r>
            <a:r>
              <a:rPr lang="fr-FR" sz="2500" b="1" u="sng" dirty="0"/>
              <a:t>PA-MPJPE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B3C5A5D-73A6-41E1-B36B-82E48C496D3D}"/>
              </a:ext>
            </a:extLst>
          </p:cNvPr>
          <p:cNvCxnSpPr>
            <a:cxnSpLocks/>
          </p:cNvCxnSpPr>
          <p:nvPr/>
        </p:nvCxnSpPr>
        <p:spPr>
          <a:xfrm flipH="1">
            <a:off x="2800350" y="1734354"/>
            <a:ext cx="533404" cy="31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841CA3C-E6B8-44E3-ABFE-C04934343C81}"/>
              </a:ext>
            </a:extLst>
          </p:cNvPr>
          <p:cNvCxnSpPr>
            <a:cxnSpLocks/>
          </p:cNvCxnSpPr>
          <p:nvPr/>
        </p:nvCxnSpPr>
        <p:spPr>
          <a:xfrm>
            <a:off x="4867276" y="1734354"/>
            <a:ext cx="123824" cy="39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42211D9E-AD7D-4D81-9F3A-4D9B75C42ADD}"/>
              </a:ext>
            </a:extLst>
          </p:cNvPr>
          <p:cNvSpPr txBox="1"/>
          <p:nvPr/>
        </p:nvSpPr>
        <p:spPr>
          <a:xfrm>
            <a:off x="4043362" y="2372429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 </a:t>
            </a:r>
            <a:r>
              <a:rPr lang="fr-FR" dirty="0" err="1"/>
              <a:t>metric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in the </a:t>
            </a:r>
            <a:r>
              <a:rPr lang="fr-FR" dirty="0" err="1"/>
              <a:t>field</a:t>
            </a:r>
            <a:r>
              <a:rPr lang="fr-FR" dirty="0"/>
              <a:t> of </a:t>
            </a:r>
            <a:r>
              <a:rPr lang="fr-FR" b="1" dirty="0"/>
              <a:t>computer vision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BFB6E99-BC23-4877-82E9-2804D05D911F}"/>
              </a:ext>
            </a:extLst>
          </p:cNvPr>
          <p:cNvSpPr txBox="1"/>
          <p:nvPr/>
        </p:nvSpPr>
        <p:spPr>
          <a:xfrm>
            <a:off x="519112" y="2058988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 </a:t>
            </a:r>
            <a:r>
              <a:rPr lang="fr-FR" dirty="0" err="1"/>
              <a:t>metric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in the </a:t>
            </a:r>
            <a:r>
              <a:rPr lang="fr-FR" dirty="0" err="1"/>
              <a:t>field</a:t>
            </a:r>
            <a:r>
              <a:rPr lang="fr-FR" dirty="0"/>
              <a:t> of </a:t>
            </a:r>
            <a:r>
              <a:rPr lang="fr-FR" b="1" dirty="0" err="1"/>
              <a:t>biomechanic</a:t>
            </a:r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C6BC7F8-3C88-4264-8296-A6663C13E963}"/>
              </a:ext>
            </a:extLst>
          </p:cNvPr>
          <p:cNvSpPr/>
          <p:nvPr/>
        </p:nvSpPr>
        <p:spPr>
          <a:xfrm>
            <a:off x="200024" y="1857485"/>
            <a:ext cx="2774156" cy="11049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B9DEFE9-18ED-4D14-AF8E-3B7E254021EA}"/>
              </a:ext>
            </a:extLst>
          </p:cNvPr>
          <p:cNvSpPr/>
          <p:nvPr/>
        </p:nvSpPr>
        <p:spPr>
          <a:xfrm>
            <a:off x="3769519" y="2200304"/>
            <a:ext cx="2774156" cy="99058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0" name="Tableau 20">
            <a:extLst>
              <a:ext uri="{FF2B5EF4-FFF2-40B4-BE49-F238E27FC236}">
                <a16:creationId xmlns:a16="http://schemas.microsoft.com/office/drawing/2014/main" id="{DAFD68F9-F62D-4649-8AF3-459CAFF11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629909"/>
              </p:ext>
            </p:extLst>
          </p:nvPr>
        </p:nvGraphicFramePr>
        <p:xfrm>
          <a:off x="7648577" y="322255"/>
          <a:ext cx="4200526" cy="150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263">
                  <a:extLst>
                    <a:ext uri="{9D8B030D-6E8A-4147-A177-3AD203B41FA5}">
                      <a16:colId xmlns:a16="http://schemas.microsoft.com/office/drawing/2014/main" val="3603023128"/>
                    </a:ext>
                  </a:extLst>
                </a:gridCol>
                <a:gridCol w="2100263">
                  <a:extLst>
                    <a:ext uri="{9D8B030D-6E8A-4147-A177-3AD203B41FA5}">
                      <a16:colId xmlns:a16="http://schemas.microsoft.com/office/drawing/2014/main" val="701762523"/>
                    </a:ext>
                  </a:extLst>
                </a:gridCol>
              </a:tblGrid>
              <a:tr h="255695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Datasets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78299"/>
                  </a:ext>
                </a:extLst>
              </a:tr>
              <a:tr h="160873">
                <a:tc>
                  <a:txBody>
                    <a:bodyPr/>
                    <a:lstStyle/>
                    <a:p>
                      <a:r>
                        <a:rPr lang="fr-FR" b="1" dirty="0"/>
                        <a:t>3DPW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I-MOVE-23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569050"/>
                  </a:ext>
                </a:extLst>
              </a:tr>
              <a:tr h="772479">
                <a:tc>
                  <a:txBody>
                    <a:bodyPr/>
                    <a:lstStyle/>
                    <a:p>
                      <a:r>
                        <a:rPr lang="fr-FR" b="0" dirty="0" err="1"/>
                        <a:t>Standart</a:t>
                      </a:r>
                      <a:r>
                        <a:rPr lang="fr-FR" b="0" dirty="0"/>
                        <a:t> </a:t>
                      </a:r>
                      <a:r>
                        <a:rPr lang="fr-FR" b="0" dirty="0" err="1"/>
                        <a:t>reference</a:t>
                      </a:r>
                      <a:r>
                        <a:rPr lang="fr-FR" b="0" dirty="0"/>
                        <a:t> </a:t>
                      </a:r>
                      <a:r>
                        <a:rPr lang="fr-FR" b="0" dirty="0" err="1"/>
                        <a:t>dataset</a:t>
                      </a:r>
                      <a:r>
                        <a:rPr lang="fr-FR" b="0" dirty="0"/>
                        <a:t> in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sym typeface="Wingdings" panose="05000000000000000000" pitchFamily="2" charset="2"/>
                        </a:rPr>
                        <a:t>data </a:t>
                      </a:r>
                      <a:r>
                        <a:rPr lang="fr-FR" b="0" dirty="0" err="1">
                          <a:sym typeface="Wingdings" panose="05000000000000000000" pitchFamily="2" charset="2"/>
                        </a:rPr>
                        <a:t>collected</a:t>
                      </a:r>
                      <a:r>
                        <a:rPr lang="fr-FR" b="0" dirty="0">
                          <a:sym typeface="Wingdings" panose="05000000000000000000" pitchFamily="2" charset="2"/>
                        </a:rPr>
                        <a:t> for </a:t>
                      </a:r>
                      <a:r>
                        <a:rPr lang="fr-FR" b="0" dirty="0" err="1">
                          <a:sym typeface="Wingdings" panose="05000000000000000000" pitchFamily="2" charset="2"/>
                        </a:rPr>
                        <a:t>this</a:t>
                      </a:r>
                      <a:r>
                        <a:rPr lang="fr-FR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FR" b="0" dirty="0" err="1">
                          <a:sym typeface="Wingdings" panose="05000000000000000000" pitchFamily="2" charset="2"/>
                        </a:rPr>
                        <a:t>study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67055"/>
                  </a:ext>
                </a:extLst>
              </a:tr>
            </a:tbl>
          </a:graphicData>
        </a:graphic>
      </p:graphicFrame>
      <p:pic>
        <p:nvPicPr>
          <p:cNvPr id="22" name="Image 21">
            <a:extLst>
              <a:ext uri="{FF2B5EF4-FFF2-40B4-BE49-F238E27FC236}">
                <a16:creationId xmlns:a16="http://schemas.microsoft.com/office/drawing/2014/main" id="{122CD2ED-7142-4749-BD68-62FD359D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1" y="3837126"/>
            <a:ext cx="6744641" cy="26387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92DC2F0-80B1-434E-910E-B63F413ACA52}"/>
              </a:ext>
            </a:extLst>
          </p:cNvPr>
          <p:cNvSpPr/>
          <p:nvPr/>
        </p:nvSpPr>
        <p:spPr>
          <a:xfrm>
            <a:off x="5565775" y="5730875"/>
            <a:ext cx="592138" cy="2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42C89A-1984-43F5-8A35-49D56A0985DF}"/>
              </a:ext>
            </a:extLst>
          </p:cNvPr>
          <p:cNvSpPr/>
          <p:nvPr/>
        </p:nvSpPr>
        <p:spPr>
          <a:xfrm>
            <a:off x="2208212" y="5730875"/>
            <a:ext cx="592138" cy="2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1A483FB-BAF7-4606-AFAE-8C449BB5E7D1}"/>
              </a:ext>
            </a:extLst>
          </p:cNvPr>
          <p:cNvSpPr txBox="1"/>
          <p:nvPr/>
        </p:nvSpPr>
        <p:spPr>
          <a:xfrm>
            <a:off x="7477125" y="3428335"/>
            <a:ext cx="3876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Conclusion</a:t>
            </a:r>
          </a:p>
          <a:p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 are </a:t>
            </a:r>
            <a:r>
              <a:rPr lang="fr-FR" b="1" dirty="0" err="1"/>
              <a:t>highly</a:t>
            </a:r>
            <a:r>
              <a:rPr lang="fr-FR" b="1" dirty="0"/>
              <a:t> </a:t>
            </a:r>
            <a:r>
              <a:rPr lang="fr-FR" b="1" dirty="0" err="1"/>
              <a:t>correlated</a:t>
            </a:r>
            <a:endParaRPr lang="fr-FR" b="1" dirty="0"/>
          </a:p>
        </p:txBody>
      </p:sp>
      <p:sp>
        <p:nvSpPr>
          <p:cNvPr id="27" name="Flèche : angle droit 26">
            <a:extLst>
              <a:ext uri="{FF2B5EF4-FFF2-40B4-BE49-F238E27FC236}">
                <a16:creationId xmlns:a16="http://schemas.microsoft.com/office/drawing/2014/main" id="{39380F3B-8D89-4AFF-A718-6F4ABB2997C3}"/>
              </a:ext>
            </a:extLst>
          </p:cNvPr>
          <p:cNvSpPr/>
          <p:nvPr/>
        </p:nvSpPr>
        <p:spPr>
          <a:xfrm rot="5400000">
            <a:off x="7877174" y="4095752"/>
            <a:ext cx="647700" cy="771525"/>
          </a:xfrm>
          <a:prstGeom prst="bentUpArrow">
            <a:avLst>
              <a:gd name="adj1" fmla="val 17648"/>
              <a:gd name="adj2" fmla="val 17648"/>
              <a:gd name="adj3" fmla="val 279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0BBC73C-A529-4DEC-923F-CB16F35FB9C1}"/>
              </a:ext>
            </a:extLst>
          </p:cNvPr>
          <p:cNvSpPr txBox="1"/>
          <p:nvPr/>
        </p:nvSpPr>
        <p:spPr>
          <a:xfrm>
            <a:off x="8586787" y="4314825"/>
            <a:ext cx="286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Both</a:t>
            </a:r>
            <a:r>
              <a:rPr lang="fr-FR" dirty="0"/>
              <a:t> of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in </a:t>
            </a:r>
            <a:r>
              <a:rPr lang="fr-FR" dirty="0" err="1"/>
              <a:t>MoCapIA’s</a:t>
            </a:r>
            <a:r>
              <a:rPr lang="fr-FR" dirty="0"/>
              <a:t> </a:t>
            </a:r>
            <a:r>
              <a:rPr lang="fr-FR" dirty="0" err="1"/>
              <a:t>project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44358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428</Words>
  <Application>Microsoft Office PowerPoint</Application>
  <PresentationFormat>Grand écran</PresentationFormat>
  <Paragraphs>111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Thème Office</vt:lpstr>
      <vt:lpstr>Impact of Multi-View Fusion and Biomechanical Modeling on Markerless Motion Tracking</vt:lpstr>
      <vt:lpstr>Présentation PowerPoint</vt:lpstr>
      <vt:lpstr>Présentation PowerPoint</vt:lpstr>
      <vt:lpstr>Tools of evaluation</vt:lpstr>
      <vt:lpstr>Process 2/4 – Primary      evaluation</vt:lpstr>
      <vt:lpstr>Results- hypothese 1</vt:lpstr>
      <vt:lpstr>Process 4/4 – Hypothese 2</vt:lpstr>
      <vt:lpstr>Results– Hypothese 2</vt:lpstr>
      <vt:lpstr>Auxiliary Finding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Multi-View Fusion and Biomechanical Modeling on Markerless Motion Tracking</dc:title>
  <dc:creator>Masss -_-</dc:creator>
  <cp:lastModifiedBy>Masss -_-</cp:lastModifiedBy>
  <cp:revision>58</cp:revision>
  <dcterms:created xsi:type="dcterms:W3CDTF">2025-11-17T14:42:42Z</dcterms:created>
  <dcterms:modified xsi:type="dcterms:W3CDTF">2025-11-19T16:12:46Z</dcterms:modified>
</cp:coreProperties>
</file>